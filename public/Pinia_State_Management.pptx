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1" d="100"/>
          <a:sy n="91" d="100"/>
        </p:scale>
        <p:origin x="341" y="-1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6144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two-part Pinia unit (Sessions 10 &amp; 11, 3 hours total). Frame it: students already know components, the Composition API, and Vue Router. The missing piece is sharing state cleanly across the whole app. By the end they can build, consume, compose, persist, and test Pinia stores. Session 10 = fundamentals (defineStore, state/getters/actions); Session 11 = advanced (composition, router integration, plugins, persistence).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these in two halves. The first four (gold) are Session 10 — the mechanics of a store. The last four (green) are Session 11 — using stores across the app, plus persistence and testing. Tell students they will leave having refactored a real SPA's shared state into stores, the same skill production Vue teams use daily.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roadmap. Point out the repeating rhythm each session follows: warm-up, theory blocks, live demo, hands-on practice, common mistakes, quiz. The demo and practice projects carry across both sessions — the cart and auth stores built today are reused and protected tomorrow. The combined homework ties it all into one Job Board SPA.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Set the goal of Session 10: by the end, every student can create a store, read and write its state from unrelated components, and explain why that beats passing props down a tree.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tree on the board. Have pairs count the files (answer: 4 minimum just to reach one UserAvatar — and the second chain duplicates the work). Drive the discussion toward the punchline: what if any component could just ask for the value directly? That is exactly what a Pinia store provides. Keep this fast and energetic — it sets up every slide that follows.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a ladder of escalating power. Each tool is fine in its lane; the problem is using a weak tool past its limit (prop drilling 4 levels). Pinia sits at the top: app-wide, devtools-friendly, and almost always the right answer for truly global data like the current user, cart, or theme.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bash Vuex — it served Vue 2 well. The point is Pinia removed the ceremony: one concept (actions) instead of two (mutations + actions), flat stores instead of nested modules, and first-class TypeScript and Composition API support. The single-line comparison (commit vs direct assignment) usually lands hardest.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stress. First, the install is tiny — createPinia() then app.use(pinia). Second, ORDER MATTERS: register Pinia before the router, because router guards may call stores during the very first navigation. Show the folder convention: one file per domain, each exporting a useXxxStore function.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sections map one-to-one to the Options API. State MUST be a function (so each app instance gets a fresh object — important for SSR). Getters are computed and receive state; use a regular function with this when a getter needs another getter. Actions are just methods and can be async. Note direct this.count++ mutation — no Vuex-style commit needed.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store, Composition style. State is ref(), getters are computed(), actions are plain functions. The one rule students forget: you MUST return everything you want exposed. Unlike &lt;script setup&gt;, the setup store does not auto-expose top-level variables. Anything not returned is private to the store.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compile to the same thing — this is a syntax preference, not a capability difference. We standardise on Setup Stores for the rest of the course because they read like the rest of our Composition API code and play nicely with TypeScript. Flag the one gotcha: $reset() is free in Options Stores but must be written by hand in Setup Stores (next section explains why).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common Pinia bug, so spend time here. Live-demo it: destructure count the wrong way, click increment, watch the template stay frozen. Then wrap with storeToRefs and watch it spring to life. The mental model: storeToRefs for things you READ (state, getters), direct destructure for things you CALL (actions).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$patch is an optimisation and a clarity tool. Object form for simple multi-field sets; function form when new values depend on old ones. The payoff is one reactivity notification instead of N, and one tidy entry in the devtools timeline instead of a noisy burst. Most single-field changes can still just be a direct assignment or an action.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here. $reset(): Options Stores get it free; Setup Stores must define it (we'll see WHY in the Session 10 quiz — Pinia can't replay the setup function). $subscribe: fires on every state change with a mutation descriptor and the new state — great for analytics or naive localStorage saves. Foreshadow that Session 11 replaces this hand-rolled save with a proper persistence plugin.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this live, narrating each decision. Emphasise: state as refs, derived values as computed getters (itemCount, subtotal, discount, total all recompute automatically), and mutations through small named actions. Keep it to one store on this slide; the next slide wires three components to it. Mention this cart is reused in Session 11's order/auth demo.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payoff of the warm-up. Three components, zero props connecting them — they all talk to the same store. Build CartIcon (reads itemCount via storeToRefs), ProductCard (destructures addItem directly), and CartSidebar (reads everything + edits). Then do the wow moment live: add an item, watch the badge tick up across the tree. Finish in the Pinia devtools tab.</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build this individually or in pairs while you circulate. It reinforces every Session 10 concept: state, computed getters, a getter-that-takes-an-argument (byType), actions with side effects (setTimeout auto-remove), and $subscribe. The toast store is genuinely useful — they will reuse it in the homework. Help anyone stuck on storeToRefs in the container component.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account for nearly every beginner Pinia bug. #1 is the big one — show the broken reactivity live if you have a minute. #2 trips people writing utility files; the fix is to call the store inside the function, not at import time. #3 is subtle: direct mutation is allowed in Pinia (unlike Vuex), but actions give you the devtools and testing story, so make them the habit.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reveal-and-discuss, ~45 seconds per question. Reveal answers one at a time. These five map directly to today's blocks (defineStore ID, storeToRefs reactivity, the return rule, $patch batching, manual $reset). Use any wrong answers to decide what to re-touch before the break. Close Session 10 by assigning Homework Part 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advanced half. Today is about stores working together and with the rest of the app: one store calling another, stores driving router guards, and a plugin that persists state across reloads. The auth store built today plus the cart store from yesterday combine into the homework's full architecture.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whiteboard energiser. Students sketch the split on paper for two minutes. There is no single perfect answer, but the three obvious domains are auth, cart, and UI. The lesson: a store should have one reason to change. This sets up the store-composition section, where these focused stores cooperate.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store orchestrates cart and auth. The critical detail, highlighted next slide: call useCartStore() and useAuthStore() INSIDE the action, not at the top of the file. That keeps the dependency runtime-only and avoids circular-import problems. This is exactly how real apps coordinate checkout-style flows.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layers as a one-way street: auth at the bottom depends on nothing; each layer above may import from below. Auth must never import cart. When two stores genuinely need each other, don't import at module top — call the other store inside the function that needs it, deferring resolution to runtime. This single habit prevents the most painful Pinia bug.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$onAction is a subscription to a store's actions, not its state. The callback gives you the action name, its args, and two hooks: after (fires on success with the return value) and onError (fires on throw). It's the backbone of cross-cutting features — logging, analytics, and auto-error-toasts — without touching the action's own code. We'll turn this into a reusable plugin shortly.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ties Session 09 (guards) to Session 11 (stores). The guard reads everything from the auth store: token, user, isLoggedIn, hasRole. Note the await — guards can be async, so we can hydrate the user from a stored token before deciding. Reinforce the rule one more time: useAuthStore() goes INSIDE the beforeEach callback.</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shape: state (user, token), getters (isLoggedIn, isAdmin, hasRole), async actions (login, fetchUser, logout). Point out the hand-rolled localStorage calls — they work, but they're noise sprinkled through the store. That's the motivation for the persistence plugin on the next slides: delete all this manual storage code and add one option.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the plugin once on the Pinia instance, then opt in per store with a persist option. persist: true saves everything; the object form gives you a custom key, a storage target (local vs session), and pick/omit to choose fields. The teaching point that carries into Common Mistakes: be deliberate — pick only what genuinely needs to survive a refresh.</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Pinia plugin is a function that receives a context ({ store, app, pinia }) and runs once per store. The logger here adds timing + error logging to every action across the app — the reusable version of the $onAction code from earlier. Keep SSR light for this audience: the one rule that matters is isolation — a fresh Pinia per request so users never see each other's state.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along through five steps. The story arc: rip out the old useAuth composable and stand up a persisted Pinia store, then let the router and header consume it. Keep narrating the why at each step. The real magic happens on the next slide — the persistence reveal — so build steadily here and save the flourish.</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emotional high point of Session 11. Log in, then hit refresh — normally that would log you out, but persisted state means the user is still there. Then open localStorage to show the saved 'auth' key, and the Pinia devtools to time-travel through actions. Tie it back: the composable approach had none of this tooling.</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practice directly feeds the homework. Students continue from their Session 07–08 Job Board, swapping the auth composable for a Pinia store and adding a watchlist store that composes with auth (toggleSave throws if not logged in). Circulate and watch for the three classics: module-level useStore calls, missing storeToRefs, and circular imports between auth and watchlist.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advanced counterparts to Session 10's traps. Circular deps and plugin-order errors are about wiring; the persistence and composables-in-store mistakes are about security and context. Emphasise the security one — students love persist: true until they realise they just wrote a token to a place any injected script can read.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Reveal-and-discuss, 45 seconds each. These check the Session 11 essentials: where to call stores in guards, the pick option, plugin/router order, the circular-dependency fix, and the actions-don't-need-storeToRefs rule (which connects back to Session 10). Wrong answers tell you what to revisit before assigning the combined homework.</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capstone of the whole Vue Router + Pinia arc. Six stores, real persistence, cross-store composition, and full router integration — the same architecture a production Vue app uses. Walk the table, then the three parts. Stress no prop drilling: every piece of shared state must flow through a store. Due before Session 12; push to GitHub.</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rubric up front so students know where the points are. The biggest single chunk (20 pts) is simply getting all six stores written correctly with proper return statements. The router + fetchUser integration (15 pts) is the trickiest. The bonuses are genuinely advanced — hydration, testing, and an undo stack — worth flagging for the keen students.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whole unit in six beats. The first three (gold) are Session 10 fundamentals; the last three (green) are Session 11 advanced. If students remember just one rule, make it storeToRefs for reads and direct destructure for actions — it's the difference between working and silently-broken reactivity.</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unit. Point students to the official Pinia docs first — they're excellent and short. The persistedstate and testing links cover the homework's plugin and bonus work. Leave them with the one-line philosophy: shared state lives in a store, and any component just asks for it — no more drilling props through the tree.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4.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12.pn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12.png"/><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4.png"/><Relationship Id="rId7" Type="http://schemas.openxmlformats.org/officeDocument/2006/relationships/image" Target="../media/image11.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1.png"/><Relationship Id="rId9" Type="http://schemas.openxmlformats.org/officeDocument/2006/relationships/image" Target="../media/image12.png"/></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B38"/>
        </a:solidFill>
        <a:effectLst/>
      </p:bgPr>
    </p:bg>
    <p:spTree>
      <p:nvGrpSpPr>
        <p:cNvPr id="1" name=""/>
        <p:cNvGrpSpPr/>
        <p:nvPr/>
      </p:nvGrpSpPr>
      <p:grpSpPr>
        <a:xfrm>
          <a:off x="0" y="0"/>
          <a:ext cx="0" cy="0"/>
          <a:chOff x="0" y="0"/>
          <a:chExt cx="0" cy="0"/>
        </a:xfrm>
      </p:grpSpPr>
      <p:sp>
        <p:nvSpPr>
          <p:cNvPr id="2" name="Shape 0"/>
          <p:cNvSpPr/>
          <p:nvPr/>
        </p:nvSpPr>
        <p:spPr>
          <a:xfrm>
            <a:off x="9418320" y="-1463040"/>
            <a:ext cx="4206240" cy="4206240"/>
          </a:xfrm>
          <a:prstGeom prst="ellipse">
            <a:avLst/>
          </a:prstGeom>
          <a:solidFill>
            <a:srgbClr val="E0A21B">
              <a:alpha val="12000"/>
            </a:srgbClr>
          </a:solidFill>
          <a:ln/>
        </p:spPr>
      </p:sp>
      <p:sp>
        <p:nvSpPr>
          <p:cNvPr id="3" name="Shape 1"/>
          <p:cNvSpPr/>
          <p:nvPr/>
        </p:nvSpPr>
        <p:spPr>
          <a:xfrm>
            <a:off x="10424160" y="4480560"/>
            <a:ext cx="3291840" cy="3291840"/>
          </a:xfrm>
          <a:prstGeom prst="ellipse">
            <a:avLst/>
          </a:prstGeom>
          <a:solidFill>
            <a:srgbClr val="42B883">
              <a:alpha val="22000"/>
            </a:srgbClr>
          </a:solidFill>
          <a:ln/>
        </p:spPr>
      </p:sp>
      <p:sp>
        <p:nvSpPr>
          <p:cNvPr id="4" name="Shape 2"/>
          <p:cNvSpPr/>
          <p:nvPr/>
        </p:nvSpPr>
        <p:spPr>
          <a:xfrm>
            <a:off x="777240" y="868680"/>
            <a:ext cx="1051560" cy="1051560"/>
          </a:xfrm>
          <a:prstGeom prst="ellipse">
            <a:avLst/>
          </a:prstGeom>
          <a:solidFill>
            <a:srgbClr val="E0A21B"/>
          </a:solidFill>
          <a:ln/>
          <a:effectLst>
            <a:outerShdw blurRad="114300" dist="38100" dir="5400000" algn="bl" rotWithShape="0">
              <a:srgbClr val="1E2B38">
                <a:alpha val="16000"/>
              </a:srgbClr>
            </a:outerShdw>
          </a:effectLst>
        </p:spPr>
      </p:sp>
      <p:pic>
        <p:nvPicPr>
          <p:cNvPr id="5" name="Image 0" descr="preencoded.png"/>
          <p:cNvPicPr>
            <a:picLocks noChangeAspect="1"/>
          </p:cNvPicPr>
          <p:nvPr/>
        </p:nvPicPr>
        <p:blipFill>
          <a:blip r:embed="rId3"/>
          <a:stretch>
            <a:fillRect/>
          </a:stretch>
        </p:blipFill>
        <p:spPr>
          <a:xfrm>
            <a:off x="1033272" y="1124712"/>
            <a:ext cx="539496" cy="539496"/>
          </a:xfrm>
          <a:prstGeom prst="rect">
            <a:avLst/>
          </a:prstGeom>
        </p:spPr>
      </p:pic>
      <p:sp>
        <p:nvSpPr>
          <p:cNvPr id="6" name="Text 3"/>
          <p:cNvSpPr/>
          <p:nvPr/>
        </p:nvSpPr>
        <p:spPr>
          <a:xfrm>
            <a:off x="822960" y="2240280"/>
            <a:ext cx="10058400" cy="365760"/>
          </a:xfrm>
          <a:prstGeom prst="rect">
            <a:avLst/>
          </a:prstGeom>
          <a:noFill/>
          <a:ln/>
        </p:spPr>
        <p:txBody>
          <a:bodyPr wrap="square" lIns="0" tIns="0" rIns="0" bIns="0" rtlCol="0" anchor="ctr"/>
          <a:lstStyle/>
          <a:p>
            <a:pPr marL="0" indent="0">
              <a:buNone/>
            </a:pPr>
            <a:r>
              <a:rPr lang="en-US" sz="1500" b="1" kern="0" spc="300" dirty="0">
                <a:solidFill>
                  <a:srgbClr val="E0A21B"/>
                </a:solidFill>
                <a:latin typeface="Calibri" pitchFamily="34" charset="0"/>
                <a:ea typeface="Calibri" pitchFamily="34" charset="-122"/>
                <a:cs typeface="Calibri" pitchFamily="34" charset="-120"/>
              </a:rPr>
              <a:t>VUE.JS BOOTCAMP  ·  SESSIONS 10 &amp; 11</a:t>
            </a:r>
            <a:endParaRPr lang="en-US" sz="1500" dirty="0"/>
          </a:p>
        </p:txBody>
      </p:sp>
      <p:sp>
        <p:nvSpPr>
          <p:cNvPr id="7" name="Text 4"/>
          <p:cNvSpPr/>
          <p:nvPr/>
        </p:nvSpPr>
        <p:spPr>
          <a:xfrm>
            <a:off x="777240" y="2606040"/>
            <a:ext cx="10607040" cy="914400"/>
          </a:xfrm>
          <a:prstGeom prst="rect">
            <a:avLst/>
          </a:prstGeom>
          <a:noFill/>
          <a:ln/>
        </p:spPr>
        <p:txBody>
          <a:bodyPr wrap="square" lIns="0" tIns="0" rIns="0" bIns="0" rtlCol="0" anchor="ctr"/>
          <a:lstStyle/>
          <a:p>
            <a:pPr marL="0" indent="0">
              <a:buNone/>
            </a:pPr>
            <a:r>
              <a:rPr lang="en-US" sz="6200" b="1" dirty="0">
                <a:solidFill>
                  <a:srgbClr val="FFFFFF"/>
                </a:solidFill>
                <a:latin typeface="Cambria" pitchFamily="34" charset="0"/>
                <a:ea typeface="Cambria" pitchFamily="34" charset="-122"/>
                <a:cs typeface="Cambria" pitchFamily="34" charset="-120"/>
              </a:rPr>
              <a:t>Pinia</a:t>
            </a:r>
            <a:endParaRPr lang="en-US" sz="6200" dirty="0"/>
          </a:p>
        </p:txBody>
      </p:sp>
      <p:sp>
        <p:nvSpPr>
          <p:cNvPr id="8" name="Text 5"/>
          <p:cNvSpPr/>
          <p:nvPr/>
        </p:nvSpPr>
        <p:spPr>
          <a:xfrm>
            <a:off x="804672" y="3611880"/>
            <a:ext cx="10607040" cy="640080"/>
          </a:xfrm>
          <a:prstGeom prst="rect">
            <a:avLst/>
          </a:prstGeom>
          <a:noFill/>
          <a:ln/>
        </p:spPr>
        <p:txBody>
          <a:bodyPr wrap="square" lIns="0" tIns="0" rIns="0" bIns="0" rtlCol="0" anchor="ctr"/>
          <a:lstStyle/>
          <a:p>
            <a:pPr marL="0" indent="0">
              <a:buNone/>
            </a:pPr>
            <a:r>
              <a:rPr lang="en-US" sz="2600" dirty="0">
                <a:solidFill>
                  <a:srgbClr val="C7D4DE"/>
                </a:solidFill>
                <a:latin typeface="Calibri" pitchFamily="34" charset="0"/>
                <a:ea typeface="Calibri" pitchFamily="34" charset="-122"/>
                <a:cs typeface="Calibri" pitchFamily="34" charset="-120"/>
              </a:rPr>
              <a:t>State Management for Vue 3</a:t>
            </a:r>
            <a:endParaRPr lang="en-US" sz="2600" dirty="0"/>
          </a:p>
        </p:txBody>
      </p:sp>
      <p:sp>
        <p:nvSpPr>
          <p:cNvPr id="9" name="Shape 6"/>
          <p:cNvSpPr/>
          <p:nvPr/>
        </p:nvSpPr>
        <p:spPr>
          <a:xfrm>
            <a:off x="822960" y="4800600"/>
            <a:ext cx="3026664" cy="566928"/>
          </a:xfrm>
          <a:prstGeom prst="roundRect">
            <a:avLst>
              <a:gd name="adj" fmla="val 19355"/>
            </a:avLst>
          </a:prstGeom>
          <a:solidFill>
            <a:srgbClr val="243748"/>
          </a:solidFill>
          <a:ln w="12700">
            <a:solidFill>
              <a:srgbClr val="3A4F60"/>
            </a:solidFill>
            <a:prstDash val="solid"/>
          </a:ln>
        </p:spPr>
      </p:sp>
      <p:sp>
        <p:nvSpPr>
          <p:cNvPr id="10" name="Shape 7"/>
          <p:cNvSpPr/>
          <p:nvPr/>
        </p:nvSpPr>
        <p:spPr>
          <a:xfrm>
            <a:off x="969264" y="4910328"/>
            <a:ext cx="347472" cy="347472"/>
          </a:xfrm>
          <a:prstGeom prst="ellipse">
            <a:avLst/>
          </a:prstGeom>
          <a:solidFill>
            <a:srgbClr val="E0A21B"/>
          </a:solidFill>
          <a:ln/>
        </p:spPr>
      </p:sp>
      <p:pic>
        <p:nvPicPr>
          <p:cNvPr id="11" name="Image 1" descr="preencoded.png"/>
          <p:cNvPicPr>
            <a:picLocks noChangeAspect="1"/>
          </p:cNvPicPr>
          <p:nvPr/>
        </p:nvPicPr>
        <p:blipFill>
          <a:blip r:embed="rId4"/>
          <a:stretch>
            <a:fillRect/>
          </a:stretch>
        </p:blipFill>
        <p:spPr>
          <a:xfrm>
            <a:off x="1060704" y="5001768"/>
            <a:ext cx="164592" cy="164592"/>
          </a:xfrm>
          <a:prstGeom prst="rect">
            <a:avLst/>
          </a:prstGeom>
        </p:spPr>
      </p:pic>
      <p:sp>
        <p:nvSpPr>
          <p:cNvPr id="12" name="Text 8"/>
          <p:cNvSpPr/>
          <p:nvPr/>
        </p:nvSpPr>
        <p:spPr>
          <a:xfrm>
            <a:off x="1389888" y="4800600"/>
            <a:ext cx="2386584" cy="566928"/>
          </a:xfrm>
          <a:prstGeom prst="rect">
            <a:avLst/>
          </a:prstGeom>
          <a:noFill/>
          <a:ln/>
        </p:spPr>
        <p:txBody>
          <a:bodyPr wrap="square" lIns="0" tIns="0" rIns="0" bIns="0" rtlCol="0" anchor="ctr"/>
          <a:lstStyle/>
          <a:p>
            <a:pPr marL="0" indent="0" algn="l">
              <a:buNone/>
            </a:pPr>
            <a:r>
              <a:rPr lang="en-US" sz="1250" dirty="0">
                <a:solidFill>
                  <a:srgbClr val="D6E0E8"/>
                </a:solidFill>
                <a:latin typeface="Calibri" pitchFamily="34" charset="0"/>
                <a:ea typeface="Calibri" pitchFamily="34" charset="-122"/>
                <a:cs typeface="Calibri" pitchFamily="34" charset="-120"/>
              </a:rPr>
              <a:t>3 hours · two sessions</a:t>
            </a:r>
            <a:endParaRPr lang="en-US" sz="1250" dirty="0"/>
          </a:p>
        </p:txBody>
      </p:sp>
      <p:sp>
        <p:nvSpPr>
          <p:cNvPr id="13" name="Shape 9"/>
          <p:cNvSpPr/>
          <p:nvPr/>
        </p:nvSpPr>
        <p:spPr>
          <a:xfrm>
            <a:off x="4078224" y="4800600"/>
            <a:ext cx="3218688" cy="566928"/>
          </a:xfrm>
          <a:prstGeom prst="roundRect">
            <a:avLst>
              <a:gd name="adj" fmla="val 19355"/>
            </a:avLst>
          </a:prstGeom>
          <a:solidFill>
            <a:srgbClr val="243748"/>
          </a:solidFill>
          <a:ln w="12700">
            <a:solidFill>
              <a:srgbClr val="3A4F60"/>
            </a:solidFill>
            <a:prstDash val="solid"/>
          </a:ln>
        </p:spPr>
      </p:sp>
      <p:sp>
        <p:nvSpPr>
          <p:cNvPr id="14" name="Shape 10"/>
          <p:cNvSpPr/>
          <p:nvPr/>
        </p:nvSpPr>
        <p:spPr>
          <a:xfrm>
            <a:off x="4224528" y="4910328"/>
            <a:ext cx="347472" cy="347472"/>
          </a:xfrm>
          <a:prstGeom prst="ellipse">
            <a:avLst/>
          </a:prstGeom>
          <a:solidFill>
            <a:srgbClr val="E0A21B"/>
          </a:solidFill>
          <a:ln/>
        </p:spPr>
      </p:sp>
      <p:pic>
        <p:nvPicPr>
          <p:cNvPr id="15" name="Image 2" descr="preencoded.png"/>
          <p:cNvPicPr>
            <a:picLocks noChangeAspect="1"/>
          </p:cNvPicPr>
          <p:nvPr/>
        </p:nvPicPr>
        <p:blipFill>
          <a:blip r:embed="rId5"/>
          <a:stretch>
            <a:fillRect/>
          </a:stretch>
        </p:blipFill>
        <p:spPr>
          <a:xfrm>
            <a:off x="4315968" y="5001768"/>
            <a:ext cx="164592" cy="164592"/>
          </a:xfrm>
          <a:prstGeom prst="rect">
            <a:avLst/>
          </a:prstGeom>
        </p:spPr>
      </p:pic>
      <p:sp>
        <p:nvSpPr>
          <p:cNvPr id="16" name="Text 11"/>
          <p:cNvSpPr/>
          <p:nvPr/>
        </p:nvSpPr>
        <p:spPr>
          <a:xfrm>
            <a:off x="4645152" y="4800600"/>
            <a:ext cx="2578608" cy="566928"/>
          </a:xfrm>
          <a:prstGeom prst="rect">
            <a:avLst/>
          </a:prstGeom>
          <a:noFill/>
          <a:ln/>
        </p:spPr>
        <p:txBody>
          <a:bodyPr wrap="square" lIns="0" tIns="0" rIns="0" bIns="0" rtlCol="0" anchor="ctr"/>
          <a:lstStyle/>
          <a:p>
            <a:pPr marL="0" indent="0" algn="l">
              <a:buNone/>
            </a:pPr>
            <a:r>
              <a:rPr lang="en-US" sz="1250" dirty="0">
                <a:solidFill>
                  <a:srgbClr val="D6E0E8"/>
                </a:solidFill>
                <a:latin typeface="Calibri" pitchFamily="34" charset="0"/>
                <a:ea typeface="Calibri" pitchFamily="34" charset="-122"/>
                <a:cs typeface="Calibri" pitchFamily="34" charset="-120"/>
              </a:rPr>
              <a:t>Builds on Sessions 01–09</a:t>
            </a:r>
            <a:endParaRPr lang="en-US" sz="1250" dirty="0"/>
          </a:p>
        </p:txBody>
      </p:sp>
      <p:sp>
        <p:nvSpPr>
          <p:cNvPr id="17" name="Shape 12"/>
          <p:cNvSpPr/>
          <p:nvPr/>
        </p:nvSpPr>
        <p:spPr>
          <a:xfrm>
            <a:off x="7525512" y="4800600"/>
            <a:ext cx="3506724" cy="566928"/>
          </a:xfrm>
          <a:prstGeom prst="roundRect">
            <a:avLst>
              <a:gd name="adj" fmla="val 19355"/>
            </a:avLst>
          </a:prstGeom>
          <a:solidFill>
            <a:srgbClr val="243748"/>
          </a:solidFill>
          <a:ln w="12700">
            <a:solidFill>
              <a:srgbClr val="3A4F60"/>
            </a:solidFill>
            <a:prstDash val="solid"/>
          </a:ln>
        </p:spPr>
      </p:sp>
      <p:sp>
        <p:nvSpPr>
          <p:cNvPr id="18" name="Shape 13"/>
          <p:cNvSpPr/>
          <p:nvPr/>
        </p:nvSpPr>
        <p:spPr>
          <a:xfrm>
            <a:off x="7671816" y="4910328"/>
            <a:ext cx="347472" cy="347472"/>
          </a:xfrm>
          <a:prstGeom prst="ellipse">
            <a:avLst/>
          </a:prstGeom>
          <a:solidFill>
            <a:srgbClr val="E0A21B"/>
          </a:solidFill>
          <a:ln/>
        </p:spPr>
      </p:sp>
      <p:pic>
        <p:nvPicPr>
          <p:cNvPr id="19" name="Image 3" descr="preencoded.png"/>
          <p:cNvPicPr>
            <a:picLocks noChangeAspect="1"/>
          </p:cNvPicPr>
          <p:nvPr/>
        </p:nvPicPr>
        <p:blipFill>
          <a:blip r:embed="rId3"/>
          <a:stretch>
            <a:fillRect/>
          </a:stretch>
        </p:blipFill>
        <p:spPr>
          <a:xfrm>
            <a:off x="7763256" y="5001768"/>
            <a:ext cx="164592" cy="164592"/>
          </a:xfrm>
          <a:prstGeom prst="rect">
            <a:avLst/>
          </a:prstGeom>
        </p:spPr>
      </p:pic>
      <p:sp>
        <p:nvSpPr>
          <p:cNvPr id="20" name="Text 14"/>
          <p:cNvSpPr/>
          <p:nvPr/>
        </p:nvSpPr>
        <p:spPr>
          <a:xfrm>
            <a:off x="8092440" y="4800600"/>
            <a:ext cx="2866644" cy="566928"/>
          </a:xfrm>
          <a:prstGeom prst="rect">
            <a:avLst/>
          </a:prstGeom>
          <a:noFill/>
          <a:ln/>
        </p:spPr>
        <p:txBody>
          <a:bodyPr wrap="square" lIns="0" tIns="0" rIns="0" bIns="0" rtlCol="0" anchor="ctr"/>
          <a:lstStyle/>
          <a:p>
            <a:pPr marL="0" indent="0" algn="l">
              <a:buNone/>
            </a:pPr>
            <a:r>
              <a:rPr lang="en-US" sz="1250" dirty="0">
                <a:solidFill>
                  <a:srgbClr val="D6E0E8"/>
                </a:solidFill>
                <a:latin typeface="Calibri" pitchFamily="34" charset="0"/>
                <a:ea typeface="Calibri" pitchFamily="34" charset="-122"/>
                <a:cs typeface="Calibri" pitchFamily="34" charset="-120"/>
              </a:rPr>
              <a:t>Setup Stores · Vue Router 4</a:t>
            </a:r>
            <a:endParaRPr lang="en-US" sz="1250" dirty="0"/>
          </a:p>
        </p:txBody>
      </p:sp>
      <p:sp>
        <p:nvSpPr>
          <p:cNvPr id="21" name="Text 15"/>
          <p:cNvSpPr/>
          <p:nvPr/>
        </p:nvSpPr>
        <p:spPr>
          <a:xfrm>
            <a:off x="822960" y="6126480"/>
            <a:ext cx="7315200" cy="274320"/>
          </a:xfrm>
          <a:prstGeom prst="rect">
            <a:avLst/>
          </a:prstGeom>
          <a:noFill/>
          <a:ln/>
        </p:spPr>
        <p:txBody>
          <a:bodyPr wrap="square" lIns="0" tIns="0" rIns="0" bIns="0" rtlCol="0" anchor="ctr"/>
          <a:lstStyle/>
          <a:p>
            <a:pPr marL="0" indent="0">
              <a:buNone/>
            </a:pPr>
            <a:r>
              <a:rPr lang="en-US" sz="1100" dirty="0">
                <a:solidFill>
                  <a:srgbClr val="9AAAB6"/>
                </a:solidFill>
                <a:latin typeface="Calibri" pitchFamily="34" charset="0"/>
                <a:ea typeface="Calibri" pitchFamily="34" charset="-122"/>
                <a:cs typeface="Calibri" pitchFamily="34" charset="-120"/>
              </a:rPr>
              <a:t>Vue.js Bootcamp  ·  Teaching Deck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A6760C"/>
                </a:solidFill>
                <a:latin typeface="Calibri" pitchFamily="34" charset="0"/>
                <a:ea typeface="Calibri" pitchFamily="34" charset="-122"/>
                <a:cs typeface="Calibri" pitchFamily="34" charset="-120"/>
              </a:rPr>
              <a:t>WHAT YOU'LL BE ABLE TO DO</a:t>
            </a:r>
            <a:endParaRPr lang="en-US" sz="1200" dirty="0"/>
          </a:p>
        </p:txBody>
      </p:sp>
      <p:sp>
        <p:nvSpPr>
          <p:cNvPr id="5" name="Text 2"/>
          <p:cNvSpPr/>
          <p:nvPr/>
        </p:nvSpPr>
        <p:spPr>
          <a:xfrm>
            <a:off x="1298448" y="713232"/>
            <a:ext cx="10332720" cy="566928"/>
          </a:xfrm>
          <a:prstGeom prst="rect">
            <a:avLst/>
          </a:prstGeom>
          <a:noFill/>
          <a:ln/>
        </p:spPr>
        <p:txBody>
          <a:bodyPr wrap="square" lIns="0" tIns="0" rIns="0" bIns="0" rtlCol="0" anchor="ctr"/>
          <a:lstStyle/>
          <a:p>
            <a:pPr marL="0" indent="0" algn="l">
              <a:buNone/>
            </a:pPr>
            <a:r>
              <a:rPr lang="en-US" sz="2800" b="1" dirty="0">
                <a:solidFill>
                  <a:srgbClr val="2C3E50"/>
                </a:solidFill>
                <a:latin typeface="Cambria" pitchFamily="34" charset="0"/>
                <a:ea typeface="Cambria" pitchFamily="34" charset="-122"/>
                <a:cs typeface="Cambria" pitchFamily="34" charset="-120"/>
              </a:rPr>
              <a:t>Learning Objectives</a:t>
            </a:r>
            <a:endParaRPr lang="en-US" sz="2800" dirty="0"/>
          </a:p>
        </p:txBody>
      </p:sp>
      <p:sp>
        <p:nvSpPr>
          <p:cNvPr id="6" name="Shape 3"/>
          <p:cNvSpPr/>
          <p:nvPr/>
        </p:nvSpPr>
        <p:spPr>
          <a:xfrm>
            <a:off x="548640" y="1481328"/>
            <a:ext cx="5486400" cy="1078992"/>
          </a:xfrm>
          <a:prstGeom prst="roundRect">
            <a:avLst>
              <a:gd name="adj" fmla="val 6780"/>
            </a:avLst>
          </a:prstGeom>
          <a:solidFill>
            <a:srgbClr val="FFFFFF"/>
          </a:solidFill>
          <a:ln w="12700">
            <a:solidFill>
              <a:srgbClr val="DCE5EB"/>
            </a:solidFill>
            <a:prstDash val="solid"/>
          </a:ln>
          <a:effectLst>
            <a:outerShdw blurRad="88900" dist="25400" dir="5400000" algn="bl" rotWithShape="0">
              <a:srgbClr val="35495E">
                <a:alpha val="13000"/>
              </a:srgbClr>
            </a:outerShdw>
          </a:effectLst>
        </p:spPr>
      </p:sp>
      <p:sp>
        <p:nvSpPr>
          <p:cNvPr id="7" name="Shape 4"/>
          <p:cNvSpPr/>
          <p:nvPr/>
        </p:nvSpPr>
        <p:spPr>
          <a:xfrm>
            <a:off x="768096" y="1700784"/>
            <a:ext cx="457200" cy="457200"/>
          </a:xfrm>
          <a:prstGeom prst="ellipse">
            <a:avLst/>
          </a:prstGeom>
          <a:solidFill>
            <a:srgbClr val="E0A21B"/>
          </a:solidFill>
          <a:ln/>
          <a:effectLst>
            <a:outerShdw blurRad="88900" dist="25400" dir="5400000" algn="bl" rotWithShape="0">
              <a:srgbClr val="35495E">
                <a:alpha val="13000"/>
              </a:srgbClr>
            </a:outerShdw>
          </a:effectLst>
        </p:spPr>
      </p:sp>
      <p:pic>
        <p:nvPicPr>
          <p:cNvPr id="8" name="Image 1" descr="preencoded.png"/>
          <p:cNvPicPr>
            <a:picLocks noChangeAspect="1"/>
          </p:cNvPicPr>
          <p:nvPr/>
        </p:nvPicPr>
        <p:blipFill>
          <a:blip r:embed="rId4"/>
          <a:stretch>
            <a:fillRect/>
          </a:stretch>
        </p:blipFill>
        <p:spPr>
          <a:xfrm>
            <a:off x="891540" y="1824228"/>
            <a:ext cx="210312" cy="210312"/>
          </a:xfrm>
          <a:prstGeom prst="rect">
            <a:avLst/>
          </a:prstGeom>
        </p:spPr>
      </p:pic>
      <p:sp>
        <p:nvSpPr>
          <p:cNvPr id="9" name="Text 5"/>
          <p:cNvSpPr/>
          <p:nvPr/>
        </p:nvSpPr>
        <p:spPr>
          <a:xfrm>
            <a:off x="1335024" y="1664208"/>
            <a:ext cx="4526280" cy="329184"/>
          </a:xfrm>
          <a:prstGeom prst="rect">
            <a:avLst/>
          </a:prstGeom>
          <a:noFill/>
          <a:ln/>
        </p:spPr>
        <p:txBody>
          <a:bodyPr wrap="square" lIns="0" tIns="0" rIns="0" bIns="0" rtlCol="0" anchor="ctr"/>
          <a:lstStyle/>
          <a:p>
            <a:pPr marL="0" indent="0" algn="l">
              <a:buNone/>
            </a:pPr>
            <a:r>
              <a:rPr lang="en-US" sz="1350" b="1" dirty="0">
                <a:solidFill>
                  <a:srgbClr val="2C3E50"/>
                </a:solidFill>
                <a:latin typeface="Calibri" pitchFamily="34" charset="0"/>
                <a:ea typeface="Calibri" pitchFamily="34" charset="-122"/>
                <a:cs typeface="Calibri" pitchFamily="34" charset="-120"/>
              </a:rPr>
              <a:t>Know when to reach for it</a:t>
            </a:r>
            <a:endParaRPr lang="en-US" sz="1350" dirty="0"/>
          </a:p>
        </p:txBody>
      </p:sp>
      <p:sp>
        <p:nvSpPr>
          <p:cNvPr id="10" name="Text 6"/>
          <p:cNvSpPr/>
          <p:nvPr/>
        </p:nvSpPr>
        <p:spPr>
          <a:xfrm>
            <a:off x="1298448" y="1965960"/>
            <a:ext cx="5047488" cy="329184"/>
          </a:xfrm>
          <a:prstGeom prst="rect">
            <a:avLst/>
          </a:prstGeom>
          <a:noFill/>
          <a:ln/>
        </p:spPr>
        <p:txBody>
          <a:bodyPr wrap="square" lIns="0" tIns="0" rIns="0" bIns="0" rtlCol="0" anchor="t"/>
          <a:lstStyle/>
          <a:p>
            <a:pPr marL="0" indent="0" algn="l">
              <a:lnSpc>
                <a:spcPts val="1400"/>
              </a:lnSpc>
              <a:buNone/>
            </a:pPr>
            <a:r>
              <a:rPr lang="en-US" sz="1150" dirty="0">
                <a:solidFill>
                  <a:srgbClr val="6B7C8C"/>
                </a:solidFill>
                <a:latin typeface="Calibri" pitchFamily="34" charset="0"/>
                <a:ea typeface="Calibri" pitchFamily="34" charset="-122"/>
                <a:cs typeface="Calibri" pitchFamily="34" charset="-120"/>
              </a:rPr>
              <a:t>Recognise the global-state problem and choose Pinia over props/inject.</a:t>
            </a:r>
            <a:endParaRPr lang="en-US" sz="1150" dirty="0"/>
          </a:p>
        </p:txBody>
      </p:sp>
      <p:sp>
        <p:nvSpPr>
          <p:cNvPr id="11" name="Shape 7"/>
          <p:cNvSpPr/>
          <p:nvPr/>
        </p:nvSpPr>
        <p:spPr>
          <a:xfrm>
            <a:off x="6126480" y="1481328"/>
            <a:ext cx="5486400" cy="1078992"/>
          </a:xfrm>
          <a:prstGeom prst="roundRect">
            <a:avLst>
              <a:gd name="adj" fmla="val 6780"/>
            </a:avLst>
          </a:prstGeom>
          <a:solidFill>
            <a:srgbClr val="FFFFFF"/>
          </a:solidFill>
          <a:ln w="12700">
            <a:solidFill>
              <a:srgbClr val="DCE5EB"/>
            </a:solidFill>
            <a:prstDash val="solid"/>
          </a:ln>
          <a:effectLst>
            <a:outerShdw blurRad="88900" dist="25400" dir="5400000" algn="bl" rotWithShape="0">
              <a:srgbClr val="35495E">
                <a:alpha val="13000"/>
              </a:srgbClr>
            </a:outerShdw>
          </a:effectLst>
        </p:spPr>
      </p:sp>
      <p:sp>
        <p:nvSpPr>
          <p:cNvPr id="12" name="Shape 8"/>
          <p:cNvSpPr/>
          <p:nvPr/>
        </p:nvSpPr>
        <p:spPr>
          <a:xfrm>
            <a:off x="6345936" y="1700784"/>
            <a:ext cx="457200" cy="457200"/>
          </a:xfrm>
          <a:prstGeom prst="ellipse">
            <a:avLst/>
          </a:prstGeom>
          <a:solidFill>
            <a:srgbClr val="E0A21B"/>
          </a:solidFill>
          <a:ln/>
          <a:effectLst>
            <a:outerShdw blurRad="88900" dist="25400" dir="5400000" algn="bl" rotWithShape="0">
              <a:srgbClr val="35495E">
                <a:alpha val="13000"/>
              </a:srgbClr>
            </a:outerShdw>
          </a:effectLst>
        </p:spPr>
      </p:sp>
      <p:pic>
        <p:nvPicPr>
          <p:cNvPr id="13" name="Image 2" descr="preencoded.png"/>
          <p:cNvPicPr>
            <a:picLocks noChangeAspect="1"/>
          </p:cNvPicPr>
          <p:nvPr/>
        </p:nvPicPr>
        <p:blipFill>
          <a:blip r:embed="rId5"/>
          <a:stretch>
            <a:fillRect/>
          </a:stretch>
        </p:blipFill>
        <p:spPr>
          <a:xfrm>
            <a:off x="6469380" y="1824228"/>
            <a:ext cx="210312" cy="210312"/>
          </a:xfrm>
          <a:prstGeom prst="rect">
            <a:avLst/>
          </a:prstGeom>
        </p:spPr>
      </p:pic>
      <p:sp>
        <p:nvSpPr>
          <p:cNvPr id="14" name="Text 9"/>
          <p:cNvSpPr/>
          <p:nvPr/>
        </p:nvSpPr>
        <p:spPr>
          <a:xfrm>
            <a:off x="6912864" y="1664208"/>
            <a:ext cx="4526280" cy="329184"/>
          </a:xfrm>
          <a:prstGeom prst="rect">
            <a:avLst/>
          </a:prstGeom>
          <a:noFill/>
          <a:ln/>
        </p:spPr>
        <p:txBody>
          <a:bodyPr wrap="square" lIns="0" tIns="0" rIns="0" bIns="0" rtlCol="0" anchor="ctr"/>
          <a:lstStyle/>
          <a:p>
            <a:pPr marL="0" indent="0" algn="l">
              <a:buNone/>
            </a:pPr>
            <a:r>
              <a:rPr lang="en-US" sz="1350" b="1" dirty="0">
                <a:solidFill>
                  <a:srgbClr val="2C3E50"/>
                </a:solidFill>
                <a:latin typeface="Calibri" pitchFamily="34" charset="0"/>
                <a:ea typeface="Calibri" pitchFamily="34" charset="-122"/>
                <a:cs typeface="Calibri" pitchFamily="34" charset="-120"/>
              </a:rPr>
              <a:t>Install &amp; register</a:t>
            </a:r>
            <a:endParaRPr lang="en-US" sz="1350" dirty="0"/>
          </a:p>
        </p:txBody>
      </p:sp>
      <p:sp>
        <p:nvSpPr>
          <p:cNvPr id="15" name="Text 10"/>
          <p:cNvSpPr/>
          <p:nvPr/>
        </p:nvSpPr>
        <p:spPr>
          <a:xfrm>
            <a:off x="6912864" y="1975104"/>
            <a:ext cx="5047488" cy="329184"/>
          </a:xfrm>
          <a:prstGeom prst="rect">
            <a:avLst/>
          </a:prstGeom>
          <a:noFill/>
          <a:ln/>
        </p:spPr>
        <p:txBody>
          <a:bodyPr wrap="square" lIns="0" tIns="0" rIns="0" bIns="0" rtlCol="0" anchor="t"/>
          <a:lstStyle/>
          <a:p>
            <a:pPr marL="0" indent="0" algn="l">
              <a:lnSpc>
                <a:spcPts val="1400"/>
              </a:lnSpc>
              <a:buNone/>
            </a:pPr>
            <a:r>
              <a:rPr lang="en-US" sz="1150" dirty="0">
                <a:solidFill>
                  <a:srgbClr val="6B7C8C"/>
                </a:solidFill>
                <a:latin typeface="Calibri" pitchFamily="34" charset="0"/>
                <a:ea typeface="Calibri" pitchFamily="34" charset="-122"/>
                <a:cs typeface="Calibri" pitchFamily="34" charset="-120"/>
              </a:rPr>
              <a:t>Add Pinia to a Vue 3 app and wire it before the router.</a:t>
            </a:r>
            <a:endParaRPr lang="en-US" sz="1150" dirty="0"/>
          </a:p>
        </p:txBody>
      </p:sp>
      <p:sp>
        <p:nvSpPr>
          <p:cNvPr id="16" name="Shape 11"/>
          <p:cNvSpPr/>
          <p:nvPr/>
        </p:nvSpPr>
        <p:spPr>
          <a:xfrm>
            <a:off x="548640" y="2688336"/>
            <a:ext cx="5486400" cy="1078992"/>
          </a:xfrm>
          <a:prstGeom prst="roundRect">
            <a:avLst>
              <a:gd name="adj" fmla="val 6780"/>
            </a:avLst>
          </a:prstGeom>
          <a:solidFill>
            <a:srgbClr val="FFFFFF"/>
          </a:solidFill>
          <a:ln w="12700">
            <a:solidFill>
              <a:srgbClr val="DCE5EB"/>
            </a:solidFill>
            <a:prstDash val="solid"/>
          </a:ln>
          <a:effectLst>
            <a:outerShdw blurRad="88900" dist="25400" dir="5400000" algn="bl" rotWithShape="0">
              <a:srgbClr val="35495E">
                <a:alpha val="13000"/>
              </a:srgbClr>
            </a:outerShdw>
          </a:effectLst>
        </p:spPr>
      </p:sp>
      <p:sp>
        <p:nvSpPr>
          <p:cNvPr id="17" name="Shape 12"/>
          <p:cNvSpPr/>
          <p:nvPr/>
        </p:nvSpPr>
        <p:spPr>
          <a:xfrm>
            <a:off x="768096" y="2907792"/>
            <a:ext cx="457200" cy="457200"/>
          </a:xfrm>
          <a:prstGeom prst="ellipse">
            <a:avLst/>
          </a:prstGeom>
          <a:solidFill>
            <a:srgbClr val="E0A21B"/>
          </a:solidFill>
          <a:ln/>
          <a:effectLst>
            <a:outerShdw blurRad="88900" dist="25400" dir="5400000" algn="bl" rotWithShape="0">
              <a:srgbClr val="35495E">
                <a:alpha val="13000"/>
              </a:srgbClr>
            </a:outerShdw>
          </a:effectLst>
        </p:spPr>
      </p:sp>
      <p:pic>
        <p:nvPicPr>
          <p:cNvPr id="18" name="Image 3" descr="preencoded.png"/>
          <p:cNvPicPr>
            <a:picLocks noChangeAspect="1"/>
          </p:cNvPicPr>
          <p:nvPr/>
        </p:nvPicPr>
        <p:blipFill>
          <a:blip r:embed="rId6"/>
          <a:stretch>
            <a:fillRect/>
          </a:stretch>
        </p:blipFill>
        <p:spPr>
          <a:xfrm>
            <a:off x="891540" y="3031236"/>
            <a:ext cx="210312" cy="210312"/>
          </a:xfrm>
          <a:prstGeom prst="rect">
            <a:avLst/>
          </a:prstGeom>
        </p:spPr>
      </p:pic>
      <p:sp>
        <p:nvSpPr>
          <p:cNvPr id="19" name="Text 13"/>
          <p:cNvSpPr/>
          <p:nvPr/>
        </p:nvSpPr>
        <p:spPr>
          <a:xfrm>
            <a:off x="1335024" y="2871216"/>
            <a:ext cx="4526280" cy="329184"/>
          </a:xfrm>
          <a:prstGeom prst="rect">
            <a:avLst/>
          </a:prstGeom>
          <a:noFill/>
          <a:ln/>
        </p:spPr>
        <p:txBody>
          <a:bodyPr wrap="square" lIns="0" tIns="0" rIns="0" bIns="0" rtlCol="0" anchor="ctr"/>
          <a:lstStyle/>
          <a:p>
            <a:pPr marL="0" indent="0" algn="l">
              <a:buNone/>
            </a:pPr>
            <a:r>
              <a:rPr lang="en-US" sz="1350" b="1" dirty="0">
                <a:solidFill>
                  <a:srgbClr val="2C3E50"/>
                </a:solidFill>
                <a:latin typeface="Calibri" pitchFamily="34" charset="0"/>
                <a:ea typeface="Calibri" pitchFamily="34" charset="-122"/>
                <a:cs typeface="Calibri" pitchFamily="34" charset="-120"/>
              </a:rPr>
              <a:t>Define stores two ways</a:t>
            </a:r>
            <a:endParaRPr lang="en-US" sz="1350" dirty="0"/>
          </a:p>
        </p:txBody>
      </p:sp>
      <p:sp>
        <p:nvSpPr>
          <p:cNvPr id="20" name="Text 14"/>
          <p:cNvSpPr/>
          <p:nvPr/>
        </p:nvSpPr>
        <p:spPr>
          <a:xfrm>
            <a:off x="1331291" y="3208328"/>
            <a:ext cx="5047488" cy="329184"/>
          </a:xfrm>
          <a:prstGeom prst="rect">
            <a:avLst/>
          </a:prstGeom>
          <a:noFill/>
          <a:ln/>
        </p:spPr>
        <p:txBody>
          <a:bodyPr wrap="square" lIns="0" tIns="0" rIns="0" bIns="0" rtlCol="0" anchor="t"/>
          <a:lstStyle/>
          <a:p>
            <a:pPr marL="0" indent="0" algn="l">
              <a:lnSpc>
                <a:spcPts val="1400"/>
              </a:lnSpc>
              <a:buNone/>
            </a:pPr>
            <a:r>
              <a:rPr lang="en-US" sz="1150" dirty="0">
                <a:solidFill>
                  <a:srgbClr val="6B7C8C"/>
                </a:solidFill>
                <a:latin typeface="Calibri" pitchFamily="34" charset="0"/>
                <a:ea typeface="Calibri" pitchFamily="34" charset="-122"/>
                <a:cs typeface="Calibri" pitchFamily="34" charset="-120"/>
              </a:rPr>
              <a:t>Write both Options Stores and Setup Stores with defineStore().</a:t>
            </a:r>
            <a:endParaRPr lang="en-US" sz="1150" dirty="0"/>
          </a:p>
        </p:txBody>
      </p:sp>
      <p:sp>
        <p:nvSpPr>
          <p:cNvPr id="21" name="Shape 15"/>
          <p:cNvSpPr/>
          <p:nvPr/>
        </p:nvSpPr>
        <p:spPr>
          <a:xfrm>
            <a:off x="6126480" y="2688336"/>
            <a:ext cx="5486400" cy="1078992"/>
          </a:xfrm>
          <a:prstGeom prst="roundRect">
            <a:avLst>
              <a:gd name="adj" fmla="val 6780"/>
            </a:avLst>
          </a:prstGeom>
          <a:solidFill>
            <a:srgbClr val="FFFFFF"/>
          </a:solidFill>
          <a:ln w="12700">
            <a:solidFill>
              <a:srgbClr val="DCE5EB"/>
            </a:solidFill>
            <a:prstDash val="solid"/>
          </a:ln>
          <a:effectLst>
            <a:outerShdw blurRad="88900" dist="25400" dir="5400000" algn="bl" rotWithShape="0">
              <a:srgbClr val="35495E">
                <a:alpha val="13000"/>
              </a:srgbClr>
            </a:outerShdw>
          </a:effectLst>
        </p:spPr>
      </p:sp>
      <p:sp>
        <p:nvSpPr>
          <p:cNvPr id="22" name="Shape 16"/>
          <p:cNvSpPr/>
          <p:nvPr/>
        </p:nvSpPr>
        <p:spPr>
          <a:xfrm>
            <a:off x="6345936" y="2907792"/>
            <a:ext cx="457200" cy="457200"/>
          </a:xfrm>
          <a:prstGeom prst="ellipse">
            <a:avLst/>
          </a:prstGeom>
          <a:solidFill>
            <a:srgbClr val="E0A21B"/>
          </a:solidFill>
          <a:ln/>
          <a:effectLst>
            <a:outerShdw blurRad="88900" dist="25400" dir="5400000" algn="bl" rotWithShape="0">
              <a:srgbClr val="35495E">
                <a:alpha val="13000"/>
              </a:srgbClr>
            </a:outerShdw>
          </a:effectLst>
        </p:spPr>
      </p:sp>
      <p:pic>
        <p:nvPicPr>
          <p:cNvPr id="23" name="Image 4" descr="preencoded.png"/>
          <p:cNvPicPr>
            <a:picLocks noChangeAspect="1"/>
          </p:cNvPicPr>
          <p:nvPr/>
        </p:nvPicPr>
        <p:blipFill>
          <a:blip r:embed="rId7"/>
          <a:stretch>
            <a:fillRect/>
          </a:stretch>
        </p:blipFill>
        <p:spPr>
          <a:xfrm>
            <a:off x="6469380" y="3031236"/>
            <a:ext cx="210312" cy="210312"/>
          </a:xfrm>
          <a:prstGeom prst="rect">
            <a:avLst/>
          </a:prstGeom>
        </p:spPr>
      </p:pic>
      <p:sp>
        <p:nvSpPr>
          <p:cNvPr id="24" name="Text 17"/>
          <p:cNvSpPr/>
          <p:nvPr/>
        </p:nvSpPr>
        <p:spPr>
          <a:xfrm>
            <a:off x="6912864" y="2871216"/>
            <a:ext cx="4526280" cy="329184"/>
          </a:xfrm>
          <a:prstGeom prst="rect">
            <a:avLst/>
          </a:prstGeom>
          <a:noFill/>
          <a:ln/>
        </p:spPr>
        <p:txBody>
          <a:bodyPr wrap="square" lIns="0" tIns="0" rIns="0" bIns="0" rtlCol="0" anchor="ctr"/>
          <a:lstStyle/>
          <a:p>
            <a:pPr marL="0" indent="0" algn="l">
              <a:buNone/>
            </a:pPr>
            <a:r>
              <a:rPr lang="en-US" sz="1350" b="1" dirty="0">
                <a:solidFill>
                  <a:srgbClr val="2C3E50"/>
                </a:solidFill>
                <a:latin typeface="Calibri" pitchFamily="34" charset="0"/>
                <a:ea typeface="Calibri" pitchFamily="34" charset="-122"/>
                <a:cs typeface="Calibri" pitchFamily="34" charset="-120"/>
              </a:rPr>
              <a:t>State, getters &amp; actions</a:t>
            </a:r>
            <a:endParaRPr lang="en-US" sz="1350" dirty="0"/>
          </a:p>
        </p:txBody>
      </p:sp>
      <p:sp>
        <p:nvSpPr>
          <p:cNvPr id="25" name="Text 18"/>
          <p:cNvSpPr/>
          <p:nvPr/>
        </p:nvSpPr>
        <p:spPr>
          <a:xfrm>
            <a:off x="6893737" y="3208328"/>
            <a:ext cx="5047488" cy="329184"/>
          </a:xfrm>
          <a:prstGeom prst="rect">
            <a:avLst/>
          </a:prstGeom>
          <a:noFill/>
          <a:ln/>
        </p:spPr>
        <p:txBody>
          <a:bodyPr wrap="square" lIns="0" tIns="0" rIns="0" bIns="0" rtlCol="0" anchor="t"/>
          <a:lstStyle/>
          <a:p>
            <a:pPr marL="0" indent="0" algn="l">
              <a:lnSpc>
                <a:spcPts val="1400"/>
              </a:lnSpc>
              <a:buNone/>
            </a:pPr>
            <a:r>
              <a:rPr lang="en-US" sz="1150" dirty="0">
                <a:solidFill>
                  <a:srgbClr val="6B7C8C"/>
                </a:solidFill>
                <a:latin typeface="Calibri" pitchFamily="34" charset="0"/>
                <a:ea typeface="Calibri" pitchFamily="34" charset="-122"/>
                <a:cs typeface="Calibri" pitchFamily="34" charset="-120"/>
              </a:rPr>
              <a:t>Declare reactive state, computed getters, and sync/async actions.</a:t>
            </a:r>
            <a:endParaRPr lang="en-US" sz="1150" dirty="0"/>
          </a:p>
        </p:txBody>
      </p:sp>
      <p:sp>
        <p:nvSpPr>
          <p:cNvPr id="26" name="Shape 19"/>
          <p:cNvSpPr/>
          <p:nvPr/>
        </p:nvSpPr>
        <p:spPr>
          <a:xfrm>
            <a:off x="548640" y="3895344"/>
            <a:ext cx="5486400" cy="1078992"/>
          </a:xfrm>
          <a:prstGeom prst="roundRect">
            <a:avLst>
              <a:gd name="adj" fmla="val 6780"/>
            </a:avLst>
          </a:prstGeom>
          <a:solidFill>
            <a:srgbClr val="FFFFFF"/>
          </a:solidFill>
          <a:ln w="12700">
            <a:solidFill>
              <a:srgbClr val="DCE5EB"/>
            </a:solidFill>
            <a:prstDash val="solid"/>
          </a:ln>
          <a:effectLst>
            <a:outerShdw blurRad="88900" dist="25400" dir="5400000" algn="bl" rotWithShape="0">
              <a:srgbClr val="35495E">
                <a:alpha val="13000"/>
              </a:srgbClr>
            </a:outerShdw>
          </a:effectLst>
        </p:spPr>
      </p:sp>
      <p:sp>
        <p:nvSpPr>
          <p:cNvPr id="27" name="Shape 20"/>
          <p:cNvSpPr/>
          <p:nvPr/>
        </p:nvSpPr>
        <p:spPr>
          <a:xfrm>
            <a:off x="768096" y="4114800"/>
            <a:ext cx="457200" cy="457200"/>
          </a:xfrm>
          <a:prstGeom prst="ellipse">
            <a:avLst/>
          </a:prstGeom>
          <a:solidFill>
            <a:srgbClr val="42B883"/>
          </a:solidFill>
          <a:ln/>
          <a:effectLst>
            <a:outerShdw blurRad="88900" dist="25400" dir="5400000" algn="bl" rotWithShape="0">
              <a:srgbClr val="35495E">
                <a:alpha val="13000"/>
              </a:srgbClr>
            </a:outerShdw>
          </a:effectLst>
        </p:spPr>
      </p:sp>
      <p:pic>
        <p:nvPicPr>
          <p:cNvPr id="28" name="Image 5" descr="preencoded.png"/>
          <p:cNvPicPr>
            <a:picLocks noChangeAspect="1"/>
          </p:cNvPicPr>
          <p:nvPr/>
        </p:nvPicPr>
        <p:blipFill>
          <a:blip r:embed="rId8"/>
          <a:stretch>
            <a:fillRect/>
          </a:stretch>
        </p:blipFill>
        <p:spPr>
          <a:xfrm>
            <a:off x="891540" y="4238244"/>
            <a:ext cx="210312" cy="210312"/>
          </a:xfrm>
          <a:prstGeom prst="rect">
            <a:avLst/>
          </a:prstGeom>
        </p:spPr>
      </p:pic>
      <p:sp>
        <p:nvSpPr>
          <p:cNvPr id="29" name="Text 21"/>
          <p:cNvSpPr/>
          <p:nvPr/>
        </p:nvSpPr>
        <p:spPr>
          <a:xfrm>
            <a:off x="1335024" y="4078224"/>
            <a:ext cx="4526280" cy="329184"/>
          </a:xfrm>
          <a:prstGeom prst="rect">
            <a:avLst/>
          </a:prstGeom>
          <a:noFill/>
          <a:ln/>
        </p:spPr>
        <p:txBody>
          <a:bodyPr wrap="square" lIns="0" tIns="0" rIns="0" bIns="0" rtlCol="0" anchor="ctr"/>
          <a:lstStyle/>
          <a:p>
            <a:pPr marL="0" indent="0" algn="l">
              <a:buNone/>
            </a:pPr>
            <a:r>
              <a:rPr lang="en-US" sz="1350" b="1" dirty="0">
                <a:solidFill>
                  <a:srgbClr val="2C3E50"/>
                </a:solidFill>
                <a:latin typeface="Calibri" pitchFamily="34" charset="0"/>
                <a:ea typeface="Calibri" pitchFamily="34" charset="-122"/>
                <a:cs typeface="Calibri" pitchFamily="34" charset="-120"/>
              </a:rPr>
              <a:t>Consume anywhere</a:t>
            </a:r>
            <a:endParaRPr lang="en-US" sz="1350" dirty="0"/>
          </a:p>
        </p:txBody>
      </p:sp>
      <p:sp>
        <p:nvSpPr>
          <p:cNvPr id="30" name="Text 22"/>
          <p:cNvSpPr/>
          <p:nvPr/>
        </p:nvSpPr>
        <p:spPr>
          <a:xfrm>
            <a:off x="1335024" y="4415336"/>
            <a:ext cx="5047488" cy="329184"/>
          </a:xfrm>
          <a:prstGeom prst="rect">
            <a:avLst/>
          </a:prstGeom>
          <a:noFill/>
          <a:ln/>
        </p:spPr>
        <p:txBody>
          <a:bodyPr wrap="square" lIns="0" tIns="0" rIns="0" bIns="0" rtlCol="0" anchor="t"/>
          <a:lstStyle/>
          <a:p>
            <a:pPr marL="0" indent="0" algn="l">
              <a:lnSpc>
                <a:spcPts val="1400"/>
              </a:lnSpc>
              <a:buNone/>
            </a:pPr>
            <a:r>
              <a:rPr lang="en-US" sz="1150" dirty="0">
                <a:solidFill>
                  <a:srgbClr val="6B7C8C"/>
                </a:solidFill>
                <a:latin typeface="Calibri" pitchFamily="34" charset="0"/>
                <a:ea typeface="Calibri" pitchFamily="34" charset="-122"/>
                <a:cs typeface="Calibri" pitchFamily="34" charset="-120"/>
              </a:rPr>
              <a:t>Use useXxxStore() + storeToRefs() in any component without prop drilling.</a:t>
            </a:r>
            <a:endParaRPr lang="en-US" sz="1150" dirty="0"/>
          </a:p>
        </p:txBody>
      </p:sp>
      <p:sp>
        <p:nvSpPr>
          <p:cNvPr id="31" name="Shape 23"/>
          <p:cNvSpPr/>
          <p:nvPr/>
        </p:nvSpPr>
        <p:spPr>
          <a:xfrm>
            <a:off x="6126480" y="3895344"/>
            <a:ext cx="5486400" cy="1078992"/>
          </a:xfrm>
          <a:prstGeom prst="roundRect">
            <a:avLst>
              <a:gd name="adj" fmla="val 6780"/>
            </a:avLst>
          </a:prstGeom>
          <a:solidFill>
            <a:srgbClr val="FFFFFF"/>
          </a:solidFill>
          <a:ln w="12700">
            <a:solidFill>
              <a:srgbClr val="DCE5EB"/>
            </a:solidFill>
            <a:prstDash val="solid"/>
          </a:ln>
          <a:effectLst>
            <a:outerShdw blurRad="88900" dist="25400" dir="5400000" algn="bl" rotWithShape="0">
              <a:srgbClr val="35495E">
                <a:alpha val="13000"/>
              </a:srgbClr>
            </a:outerShdw>
          </a:effectLst>
        </p:spPr>
      </p:sp>
      <p:sp>
        <p:nvSpPr>
          <p:cNvPr id="32" name="Shape 24"/>
          <p:cNvSpPr/>
          <p:nvPr/>
        </p:nvSpPr>
        <p:spPr>
          <a:xfrm>
            <a:off x="6345936" y="4114800"/>
            <a:ext cx="457200" cy="457200"/>
          </a:xfrm>
          <a:prstGeom prst="ellipse">
            <a:avLst/>
          </a:prstGeom>
          <a:solidFill>
            <a:srgbClr val="42B883"/>
          </a:solidFill>
          <a:ln/>
          <a:effectLst>
            <a:outerShdw blurRad="88900" dist="25400" dir="5400000" algn="bl" rotWithShape="0">
              <a:srgbClr val="35495E">
                <a:alpha val="13000"/>
              </a:srgbClr>
            </a:outerShdw>
          </a:effectLst>
        </p:spPr>
      </p:sp>
      <p:pic>
        <p:nvPicPr>
          <p:cNvPr id="33" name="Image 6" descr="preencoded.png"/>
          <p:cNvPicPr>
            <a:picLocks noChangeAspect="1"/>
          </p:cNvPicPr>
          <p:nvPr/>
        </p:nvPicPr>
        <p:blipFill>
          <a:blip r:embed="rId9"/>
          <a:stretch>
            <a:fillRect/>
          </a:stretch>
        </p:blipFill>
        <p:spPr>
          <a:xfrm>
            <a:off x="6469380" y="4238244"/>
            <a:ext cx="210312" cy="210312"/>
          </a:xfrm>
          <a:prstGeom prst="rect">
            <a:avLst/>
          </a:prstGeom>
        </p:spPr>
      </p:pic>
      <p:sp>
        <p:nvSpPr>
          <p:cNvPr id="34" name="Text 25"/>
          <p:cNvSpPr/>
          <p:nvPr/>
        </p:nvSpPr>
        <p:spPr>
          <a:xfrm>
            <a:off x="6912864" y="4078224"/>
            <a:ext cx="4526280" cy="329184"/>
          </a:xfrm>
          <a:prstGeom prst="rect">
            <a:avLst/>
          </a:prstGeom>
          <a:noFill/>
          <a:ln/>
        </p:spPr>
        <p:txBody>
          <a:bodyPr wrap="square" lIns="0" tIns="0" rIns="0" bIns="0" rtlCol="0" anchor="ctr"/>
          <a:lstStyle/>
          <a:p>
            <a:pPr marL="0" indent="0" algn="l">
              <a:buNone/>
            </a:pPr>
            <a:r>
              <a:rPr lang="en-US" sz="1350" b="1" dirty="0">
                <a:solidFill>
                  <a:srgbClr val="2C3E50"/>
                </a:solidFill>
                <a:latin typeface="Calibri" pitchFamily="34" charset="0"/>
                <a:ea typeface="Calibri" pitchFamily="34" charset="-122"/>
                <a:cs typeface="Calibri" pitchFamily="34" charset="-120"/>
              </a:rPr>
              <a:t>React to changes</a:t>
            </a:r>
            <a:endParaRPr lang="en-US" sz="1350" dirty="0"/>
          </a:p>
        </p:txBody>
      </p:sp>
      <p:sp>
        <p:nvSpPr>
          <p:cNvPr id="35" name="Text 26"/>
          <p:cNvSpPr/>
          <p:nvPr/>
        </p:nvSpPr>
        <p:spPr>
          <a:xfrm>
            <a:off x="6893737" y="4370832"/>
            <a:ext cx="5047488" cy="329184"/>
          </a:xfrm>
          <a:prstGeom prst="rect">
            <a:avLst/>
          </a:prstGeom>
          <a:noFill/>
          <a:ln/>
        </p:spPr>
        <p:txBody>
          <a:bodyPr wrap="square" lIns="0" tIns="0" rIns="0" bIns="0" rtlCol="0" anchor="t"/>
          <a:lstStyle/>
          <a:p>
            <a:pPr marL="0" indent="0" algn="l">
              <a:lnSpc>
                <a:spcPts val="1400"/>
              </a:lnSpc>
              <a:buNone/>
            </a:pPr>
            <a:r>
              <a:rPr lang="en-US" sz="1150" dirty="0">
                <a:solidFill>
                  <a:srgbClr val="6B7C8C"/>
                </a:solidFill>
                <a:latin typeface="Calibri" pitchFamily="34" charset="0"/>
                <a:ea typeface="Calibri" pitchFamily="34" charset="-122"/>
                <a:cs typeface="Calibri" pitchFamily="34" charset="-120"/>
              </a:rPr>
              <a:t>Subscribe to state and actions with $subscribe and $onAction.</a:t>
            </a:r>
            <a:endParaRPr lang="en-US" sz="1150" dirty="0"/>
          </a:p>
        </p:txBody>
      </p:sp>
      <p:sp>
        <p:nvSpPr>
          <p:cNvPr id="36" name="Shape 27"/>
          <p:cNvSpPr/>
          <p:nvPr/>
        </p:nvSpPr>
        <p:spPr>
          <a:xfrm>
            <a:off x="548640" y="5102352"/>
            <a:ext cx="5486400" cy="1078992"/>
          </a:xfrm>
          <a:prstGeom prst="roundRect">
            <a:avLst>
              <a:gd name="adj" fmla="val 6780"/>
            </a:avLst>
          </a:prstGeom>
          <a:solidFill>
            <a:srgbClr val="FFFFFF"/>
          </a:solidFill>
          <a:ln w="12700">
            <a:solidFill>
              <a:srgbClr val="DCE5EB"/>
            </a:solidFill>
            <a:prstDash val="solid"/>
          </a:ln>
          <a:effectLst>
            <a:outerShdw blurRad="88900" dist="25400" dir="5400000" algn="bl" rotWithShape="0">
              <a:srgbClr val="35495E">
                <a:alpha val="13000"/>
              </a:srgbClr>
            </a:outerShdw>
          </a:effectLst>
        </p:spPr>
      </p:sp>
      <p:sp>
        <p:nvSpPr>
          <p:cNvPr id="37" name="Shape 28"/>
          <p:cNvSpPr/>
          <p:nvPr/>
        </p:nvSpPr>
        <p:spPr>
          <a:xfrm>
            <a:off x="768096" y="5321808"/>
            <a:ext cx="457200" cy="457200"/>
          </a:xfrm>
          <a:prstGeom prst="ellipse">
            <a:avLst/>
          </a:prstGeom>
          <a:solidFill>
            <a:srgbClr val="42B883"/>
          </a:solidFill>
          <a:ln/>
          <a:effectLst>
            <a:outerShdw blurRad="88900" dist="25400" dir="5400000" algn="bl" rotWithShape="0">
              <a:srgbClr val="35495E">
                <a:alpha val="13000"/>
              </a:srgbClr>
            </a:outerShdw>
          </a:effectLst>
        </p:spPr>
      </p:sp>
      <p:pic>
        <p:nvPicPr>
          <p:cNvPr id="38" name="Image 7" descr="preencoded.png"/>
          <p:cNvPicPr>
            <a:picLocks noChangeAspect="1"/>
          </p:cNvPicPr>
          <p:nvPr/>
        </p:nvPicPr>
        <p:blipFill>
          <a:blip r:embed="rId10"/>
          <a:stretch>
            <a:fillRect/>
          </a:stretch>
        </p:blipFill>
        <p:spPr>
          <a:xfrm>
            <a:off x="891540" y="5445252"/>
            <a:ext cx="210312" cy="210312"/>
          </a:xfrm>
          <a:prstGeom prst="rect">
            <a:avLst/>
          </a:prstGeom>
        </p:spPr>
      </p:pic>
      <p:sp>
        <p:nvSpPr>
          <p:cNvPr id="39" name="Text 29"/>
          <p:cNvSpPr/>
          <p:nvPr/>
        </p:nvSpPr>
        <p:spPr>
          <a:xfrm>
            <a:off x="1335024" y="5285232"/>
            <a:ext cx="4526280" cy="329184"/>
          </a:xfrm>
          <a:prstGeom prst="rect">
            <a:avLst/>
          </a:prstGeom>
          <a:noFill/>
          <a:ln/>
        </p:spPr>
        <p:txBody>
          <a:bodyPr wrap="square" lIns="0" tIns="0" rIns="0" bIns="0" rtlCol="0" anchor="ctr"/>
          <a:lstStyle/>
          <a:p>
            <a:pPr marL="0" indent="0" algn="l">
              <a:buNone/>
            </a:pPr>
            <a:r>
              <a:rPr lang="en-US" sz="1350" b="1" dirty="0">
                <a:solidFill>
                  <a:srgbClr val="2C3E50"/>
                </a:solidFill>
                <a:latin typeface="Calibri" pitchFamily="34" charset="0"/>
                <a:ea typeface="Calibri" pitchFamily="34" charset="-122"/>
                <a:cs typeface="Calibri" pitchFamily="34" charset="-120"/>
              </a:rPr>
              <a:t>Compose &amp; protect</a:t>
            </a:r>
            <a:endParaRPr lang="en-US" sz="1350" dirty="0"/>
          </a:p>
        </p:txBody>
      </p:sp>
      <p:sp>
        <p:nvSpPr>
          <p:cNvPr id="40" name="Text 30"/>
          <p:cNvSpPr/>
          <p:nvPr/>
        </p:nvSpPr>
        <p:spPr>
          <a:xfrm>
            <a:off x="1312164" y="5595960"/>
            <a:ext cx="5047488" cy="329184"/>
          </a:xfrm>
          <a:prstGeom prst="rect">
            <a:avLst/>
          </a:prstGeom>
          <a:noFill/>
          <a:ln/>
        </p:spPr>
        <p:txBody>
          <a:bodyPr wrap="square" lIns="0" tIns="0" rIns="0" bIns="0" rtlCol="0" anchor="t"/>
          <a:lstStyle/>
          <a:p>
            <a:pPr marL="0" indent="0" algn="l">
              <a:lnSpc>
                <a:spcPts val="1400"/>
              </a:lnSpc>
              <a:buNone/>
            </a:pPr>
            <a:r>
              <a:rPr lang="en-US" sz="1150" dirty="0">
                <a:solidFill>
                  <a:srgbClr val="6B7C8C"/>
                </a:solidFill>
                <a:latin typeface="Calibri" pitchFamily="34" charset="0"/>
                <a:ea typeface="Calibri" pitchFamily="34" charset="-122"/>
                <a:cs typeface="Calibri" pitchFamily="34" charset="-120"/>
              </a:rPr>
              <a:t>Call stores from stores, and use stores inside Router guards.</a:t>
            </a:r>
            <a:endParaRPr lang="en-US" sz="1150" dirty="0"/>
          </a:p>
        </p:txBody>
      </p:sp>
      <p:sp>
        <p:nvSpPr>
          <p:cNvPr id="41" name="Shape 31"/>
          <p:cNvSpPr/>
          <p:nvPr/>
        </p:nvSpPr>
        <p:spPr>
          <a:xfrm>
            <a:off x="6126480" y="5102352"/>
            <a:ext cx="5486400" cy="1078992"/>
          </a:xfrm>
          <a:prstGeom prst="roundRect">
            <a:avLst>
              <a:gd name="adj" fmla="val 6780"/>
            </a:avLst>
          </a:prstGeom>
          <a:solidFill>
            <a:srgbClr val="FFFFFF"/>
          </a:solidFill>
          <a:ln w="12700">
            <a:solidFill>
              <a:srgbClr val="DCE5EB"/>
            </a:solidFill>
            <a:prstDash val="solid"/>
          </a:ln>
          <a:effectLst>
            <a:outerShdw blurRad="88900" dist="25400" dir="5400000" algn="bl" rotWithShape="0">
              <a:srgbClr val="35495E">
                <a:alpha val="13000"/>
              </a:srgbClr>
            </a:outerShdw>
          </a:effectLst>
        </p:spPr>
      </p:sp>
      <p:sp>
        <p:nvSpPr>
          <p:cNvPr id="42" name="Shape 32"/>
          <p:cNvSpPr/>
          <p:nvPr/>
        </p:nvSpPr>
        <p:spPr>
          <a:xfrm>
            <a:off x="6345936" y="5321808"/>
            <a:ext cx="457200" cy="457200"/>
          </a:xfrm>
          <a:prstGeom prst="ellipse">
            <a:avLst/>
          </a:prstGeom>
          <a:solidFill>
            <a:srgbClr val="42B883"/>
          </a:solidFill>
          <a:ln/>
          <a:effectLst>
            <a:outerShdw blurRad="88900" dist="25400" dir="5400000" algn="bl" rotWithShape="0">
              <a:srgbClr val="35495E">
                <a:alpha val="13000"/>
              </a:srgbClr>
            </a:outerShdw>
          </a:effectLst>
        </p:spPr>
      </p:sp>
      <p:pic>
        <p:nvPicPr>
          <p:cNvPr id="43" name="Image 8" descr="preencoded.png"/>
          <p:cNvPicPr>
            <a:picLocks noChangeAspect="1"/>
          </p:cNvPicPr>
          <p:nvPr/>
        </p:nvPicPr>
        <p:blipFill>
          <a:blip r:embed="rId11"/>
          <a:stretch>
            <a:fillRect/>
          </a:stretch>
        </p:blipFill>
        <p:spPr>
          <a:xfrm>
            <a:off x="6469380" y="5445252"/>
            <a:ext cx="210312" cy="210312"/>
          </a:xfrm>
          <a:prstGeom prst="rect">
            <a:avLst/>
          </a:prstGeom>
        </p:spPr>
      </p:pic>
      <p:sp>
        <p:nvSpPr>
          <p:cNvPr id="44" name="Text 33"/>
          <p:cNvSpPr/>
          <p:nvPr/>
        </p:nvSpPr>
        <p:spPr>
          <a:xfrm>
            <a:off x="6912864" y="5285232"/>
            <a:ext cx="4526280" cy="329184"/>
          </a:xfrm>
          <a:prstGeom prst="rect">
            <a:avLst/>
          </a:prstGeom>
          <a:noFill/>
          <a:ln/>
        </p:spPr>
        <p:txBody>
          <a:bodyPr wrap="square" lIns="0" tIns="0" rIns="0" bIns="0" rtlCol="0" anchor="ctr"/>
          <a:lstStyle/>
          <a:p>
            <a:pPr marL="0" indent="0" algn="l">
              <a:buNone/>
            </a:pPr>
            <a:r>
              <a:rPr lang="en-US" sz="1350" b="1" dirty="0">
                <a:solidFill>
                  <a:srgbClr val="2C3E50"/>
                </a:solidFill>
                <a:latin typeface="Calibri" pitchFamily="34" charset="0"/>
                <a:ea typeface="Calibri" pitchFamily="34" charset="-122"/>
                <a:cs typeface="Calibri" pitchFamily="34" charset="-120"/>
              </a:rPr>
              <a:t>Persist &amp; test</a:t>
            </a:r>
            <a:endParaRPr lang="en-US" sz="1350" dirty="0"/>
          </a:p>
        </p:txBody>
      </p:sp>
      <p:sp>
        <p:nvSpPr>
          <p:cNvPr id="45" name="Text 34"/>
          <p:cNvSpPr/>
          <p:nvPr/>
        </p:nvSpPr>
        <p:spPr>
          <a:xfrm>
            <a:off x="6893737" y="5595960"/>
            <a:ext cx="5047488" cy="329184"/>
          </a:xfrm>
          <a:prstGeom prst="rect">
            <a:avLst/>
          </a:prstGeom>
          <a:noFill/>
          <a:ln/>
        </p:spPr>
        <p:txBody>
          <a:bodyPr wrap="square" lIns="0" tIns="0" rIns="0" bIns="0" rtlCol="0" anchor="t"/>
          <a:lstStyle/>
          <a:p>
            <a:pPr marL="0" indent="0" algn="l">
              <a:lnSpc>
                <a:spcPts val="1400"/>
              </a:lnSpc>
              <a:buNone/>
            </a:pPr>
            <a:r>
              <a:rPr lang="en-US" sz="1150" dirty="0">
                <a:solidFill>
                  <a:srgbClr val="6B7C8C"/>
                </a:solidFill>
                <a:latin typeface="Calibri" pitchFamily="34" charset="0"/>
                <a:ea typeface="Calibri" pitchFamily="34" charset="-122"/>
                <a:cs typeface="Calibri" pitchFamily="34" charset="-120"/>
              </a:rPr>
              <a:t>Persist state to storage with plugins, and unit-test stores with Vitest.</a:t>
            </a:r>
            <a:endParaRPr lang="en-US" sz="1150" dirty="0"/>
          </a:p>
        </p:txBody>
      </p:sp>
      <p:sp>
        <p:nvSpPr>
          <p:cNvPr id="46" name="Text 35"/>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47" name="Text 36"/>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Objectives</a:t>
            </a:r>
            <a:endParaRPr lang="en-US" sz="900" dirty="0"/>
          </a:p>
        </p:txBody>
      </p:sp>
      <p:sp>
        <p:nvSpPr>
          <p:cNvPr id="48" name="Text 37"/>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A6760C"/>
                </a:solidFill>
                <a:latin typeface="Calibri" pitchFamily="34" charset="0"/>
                <a:ea typeface="Calibri" pitchFamily="34" charset="-122"/>
                <a:cs typeface="Calibri" pitchFamily="34" charset="-120"/>
              </a:rPr>
              <a:t>HOW THE 3 HOURS BREAK DOWN</a:t>
            </a:r>
            <a:endParaRPr lang="en-US" sz="1200" dirty="0"/>
          </a:p>
        </p:txBody>
      </p:sp>
      <p:sp>
        <p:nvSpPr>
          <p:cNvPr id="5" name="Text 2"/>
          <p:cNvSpPr/>
          <p:nvPr/>
        </p:nvSpPr>
        <p:spPr>
          <a:xfrm>
            <a:off x="1298448" y="713232"/>
            <a:ext cx="10332720" cy="566928"/>
          </a:xfrm>
          <a:prstGeom prst="rect">
            <a:avLst/>
          </a:prstGeom>
          <a:noFill/>
          <a:ln/>
        </p:spPr>
        <p:txBody>
          <a:bodyPr wrap="square" lIns="0" tIns="0" rIns="0" bIns="0" rtlCol="0" anchor="ctr"/>
          <a:lstStyle/>
          <a:p>
            <a:pPr marL="0" indent="0" algn="l">
              <a:buNone/>
            </a:pPr>
            <a:r>
              <a:rPr lang="en-US" sz="2800" b="1" dirty="0">
                <a:solidFill>
                  <a:srgbClr val="2C3E50"/>
                </a:solidFill>
                <a:latin typeface="Cambria" pitchFamily="34" charset="0"/>
                <a:ea typeface="Cambria" pitchFamily="34" charset="-122"/>
                <a:cs typeface="Cambria" pitchFamily="34" charset="-120"/>
              </a:rPr>
              <a:t>Combined Session Timeline</a:t>
            </a:r>
            <a:endParaRPr lang="en-US" sz="2800" dirty="0"/>
          </a:p>
        </p:txBody>
      </p:sp>
      <p:sp>
        <p:nvSpPr>
          <p:cNvPr id="6" name="Shape 3"/>
          <p:cNvSpPr/>
          <p:nvPr/>
        </p:nvSpPr>
        <p:spPr>
          <a:xfrm>
            <a:off x="548640" y="1508760"/>
            <a:ext cx="5349240" cy="4617720"/>
          </a:xfrm>
          <a:prstGeom prst="roundRect">
            <a:avLst>
              <a:gd name="adj" fmla="val 1782"/>
            </a:avLst>
          </a:prstGeom>
          <a:solidFill>
            <a:srgbClr val="F4F7F9"/>
          </a:solidFill>
          <a:ln w="12700">
            <a:solidFill>
              <a:srgbClr val="DCE5EB"/>
            </a:solidFill>
            <a:prstDash val="solid"/>
          </a:ln>
          <a:effectLst>
            <a:outerShdw blurRad="88900" dist="25400" dir="5400000" algn="bl" rotWithShape="0">
              <a:srgbClr val="35495E">
                <a:alpha val="13000"/>
              </a:srgbClr>
            </a:outerShdw>
          </a:effectLst>
        </p:spPr>
      </p:sp>
      <p:sp>
        <p:nvSpPr>
          <p:cNvPr id="7" name="Shape 4"/>
          <p:cNvSpPr/>
          <p:nvPr/>
        </p:nvSpPr>
        <p:spPr>
          <a:xfrm>
            <a:off x="804672" y="1737360"/>
            <a:ext cx="4837176" cy="566928"/>
          </a:xfrm>
          <a:prstGeom prst="roundRect">
            <a:avLst>
              <a:gd name="adj" fmla="val 12903"/>
            </a:avLst>
          </a:prstGeom>
          <a:solidFill>
            <a:srgbClr val="E0A21B"/>
          </a:solidFill>
          <a:ln/>
        </p:spPr>
      </p:sp>
      <p:sp>
        <p:nvSpPr>
          <p:cNvPr id="8" name="Text 5"/>
          <p:cNvSpPr/>
          <p:nvPr/>
        </p:nvSpPr>
        <p:spPr>
          <a:xfrm>
            <a:off x="1005840" y="1737360"/>
            <a:ext cx="4434840" cy="566928"/>
          </a:xfrm>
          <a:prstGeom prst="rect">
            <a:avLst/>
          </a:prstGeom>
          <a:noFill/>
          <a:ln/>
        </p:spPr>
        <p:txBody>
          <a:bodyPr wrap="square" lIns="0" tIns="0" rIns="0" bIns="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Session 10 — Fundamentals</a:t>
            </a:r>
            <a:endParaRPr lang="en-US" sz="1600" dirty="0"/>
          </a:p>
        </p:txBody>
      </p:sp>
      <p:sp>
        <p:nvSpPr>
          <p:cNvPr id="9" name="Text 6"/>
          <p:cNvSpPr/>
          <p:nvPr/>
        </p:nvSpPr>
        <p:spPr>
          <a:xfrm>
            <a:off x="804672" y="1737360"/>
            <a:ext cx="4581144" cy="566928"/>
          </a:xfrm>
          <a:prstGeom prst="rect">
            <a:avLst/>
          </a:prstGeom>
          <a:noFill/>
          <a:ln/>
        </p:spPr>
        <p:txBody>
          <a:bodyPr wrap="square" lIns="0" tIns="0" rIns="0" bIns="0" rtlCol="0" anchor="ctr"/>
          <a:lstStyle/>
          <a:p>
            <a:pPr marL="0" indent="0" algn="r">
              <a:buNone/>
            </a:pPr>
            <a:r>
              <a:rPr lang="en-US" sz="1150" dirty="0">
                <a:solidFill>
                  <a:srgbClr val="FBF3DD"/>
                </a:solidFill>
                <a:latin typeface="Calibri" pitchFamily="34" charset="0"/>
                <a:ea typeface="Calibri" pitchFamily="34" charset="-122"/>
                <a:cs typeface="Calibri" pitchFamily="34" charset="-120"/>
              </a:rPr>
              <a:t>90 min</a:t>
            </a:r>
            <a:endParaRPr lang="en-US" sz="1150" dirty="0"/>
          </a:p>
        </p:txBody>
      </p:sp>
      <p:sp>
        <p:nvSpPr>
          <p:cNvPr id="10" name="Text 7"/>
          <p:cNvSpPr/>
          <p:nvPr/>
        </p:nvSpPr>
        <p:spPr>
          <a:xfrm>
            <a:off x="822960" y="2487168"/>
            <a:ext cx="1024128" cy="365760"/>
          </a:xfrm>
          <a:prstGeom prst="rect">
            <a:avLst/>
          </a:prstGeom>
          <a:noFill/>
          <a:ln/>
        </p:spPr>
        <p:txBody>
          <a:bodyPr wrap="square" lIns="0" tIns="0" rIns="0" bIns="0" rtlCol="0" anchor="ctr"/>
          <a:lstStyle/>
          <a:p>
            <a:pPr marL="0" indent="0" algn="l">
              <a:buNone/>
            </a:pPr>
            <a:r>
              <a:rPr lang="en-US" sz="1050" b="1" dirty="0">
                <a:solidFill>
                  <a:srgbClr val="A6760C"/>
                </a:solidFill>
                <a:latin typeface="Courier New" pitchFamily="34" charset="0"/>
                <a:ea typeface="Courier New" pitchFamily="34" charset="-122"/>
                <a:cs typeface="Courier New" pitchFamily="34" charset="-120"/>
              </a:rPr>
              <a:t>00–08</a:t>
            </a:r>
            <a:endParaRPr lang="en-US" sz="1050" dirty="0"/>
          </a:p>
        </p:txBody>
      </p:sp>
      <p:sp>
        <p:nvSpPr>
          <p:cNvPr id="11" name="Text 8"/>
          <p:cNvSpPr/>
          <p:nvPr/>
        </p:nvSpPr>
        <p:spPr>
          <a:xfrm>
            <a:off x="1883664" y="2487168"/>
            <a:ext cx="3758184" cy="365760"/>
          </a:xfrm>
          <a:prstGeom prst="rect">
            <a:avLst/>
          </a:prstGeom>
          <a:noFill/>
          <a:ln/>
        </p:spPr>
        <p:txBody>
          <a:bodyPr wrap="square" lIns="0" tIns="0" rIns="0" bIns="0" rtlCol="0" anchor="ctr"/>
          <a:lstStyle/>
          <a:p>
            <a:pPr marL="0" indent="0" algn="l">
              <a:buNone/>
            </a:pPr>
            <a:r>
              <a:rPr lang="en-US" sz="1150" b="1" dirty="0">
                <a:solidFill>
                  <a:srgbClr val="2C3E50"/>
                </a:solidFill>
                <a:latin typeface="Calibri" pitchFamily="34" charset="0"/>
                <a:ea typeface="Calibri" pitchFamily="34" charset="-122"/>
                <a:cs typeface="Calibri" pitchFamily="34" charset="-120"/>
              </a:rPr>
              <a:t>Warm-Up  </a:t>
            </a:r>
            <a:r>
              <a:rPr lang="en-US" sz="1150" dirty="0">
                <a:solidFill>
                  <a:srgbClr val="6B7C8C"/>
                </a:solidFill>
                <a:latin typeface="Calibri" pitchFamily="34" charset="0"/>
                <a:ea typeface="Calibri" pitchFamily="34" charset="-122"/>
                <a:cs typeface="Calibri" pitchFamily="34" charset="-120"/>
              </a:rPr>
              <a:t>“Prop Drilling Pain”</a:t>
            </a:r>
            <a:endParaRPr lang="en-US" sz="1150" dirty="0"/>
          </a:p>
        </p:txBody>
      </p:sp>
      <p:sp>
        <p:nvSpPr>
          <p:cNvPr id="12" name="Text 9"/>
          <p:cNvSpPr/>
          <p:nvPr/>
        </p:nvSpPr>
        <p:spPr>
          <a:xfrm>
            <a:off x="822960" y="2935224"/>
            <a:ext cx="1024128" cy="365760"/>
          </a:xfrm>
          <a:prstGeom prst="rect">
            <a:avLst/>
          </a:prstGeom>
          <a:noFill/>
          <a:ln/>
        </p:spPr>
        <p:txBody>
          <a:bodyPr wrap="square" lIns="0" tIns="0" rIns="0" bIns="0" rtlCol="0" anchor="ctr"/>
          <a:lstStyle/>
          <a:p>
            <a:pPr marL="0" indent="0" algn="l">
              <a:buNone/>
            </a:pPr>
            <a:r>
              <a:rPr lang="en-US" sz="1050" b="1" dirty="0">
                <a:solidFill>
                  <a:srgbClr val="A6760C"/>
                </a:solidFill>
                <a:latin typeface="Courier New" pitchFamily="34" charset="0"/>
                <a:ea typeface="Courier New" pitchFamily="34" charset="-122"/>
                <a:cs typeface="Courier New" pitchFamily="34" charset="-120"/>
              </a:rPr>
              <a:t>08–22</a:t>
            </a:r>
            <a:endParaRPr lang="en-US" sz="1050" dirty="0"/>
          </a:p>
        </p:txBody>
      </p:sp>
      <p:sp>
        <p:nvSpPr>
          <p:cNvPr id="13" name="Text 10"/>
          <p:cNvSpPr/>
          <p:nvPr/>
        </p:nvSpPr>
        <p:spPr>
          <a:xfrm>
            <a:off x="1883664" y="2935224"/>
            <a:ext cx="3758184" cy="365760"/>
          </a:xfrm>
          <a:prstGeom prst="rect">
            <a:avLst/>
          </a:prstGeom>
          <a:noFill/>
          <a:ln/>
        </p:spPr>
        <p:txBody>
          <a:bodyPr wrap="square" lIns="0" tIns="0" rIns="0" bIns="0" rtlCol="0" anchor="ctr"/>
          <a:lstStyle/>
          <a:p>
            <a:pPr marL="0" indent="0" algn="l">
              <a:buNone/>
            </a:pPr>
            <a:r>
              <a:rPr lang="en-US" sz="1150" b="1" dirty="0">
                <a:solidFill>
                  <a:srgbClr val="2C3E50"/>
                </a:solidFill>
                <a:latin typeface="Calibri" pitchFamily="34" charset="0"/>
                <a:ea typeface="Calibri" pitchFamily="34" charset="-122"/>
                <a:cs typeface="Calibri" pitchFamily="34" charset="-120"/>
              </a:rPr>
              <a:t>Why Pinia  </a:t>
            </a:r>
            <a:r>
              <a:rPr lang="en-US" sz="1150" dirty="0">
                <a:solidFill>
                  <a:srgbClr val="6B7C8C"/>
                </a:solidFill>
                <a:latin typeface="Calibri" pitchFamily="34" charset="0"/>
                <a:ea typeface="Calibri" pitchFamily="34" charset="-122"/>
                <a:cs typeface="Calibri" pitchFamily="34" charset="-120"/>
              </a:rPr>
              <a:t>state problem · vs Vuex · install</a:t>
            </a:r>
            <a:endParaRPr lang="en-US" sz="1150" dirty="0"/>
          </a:p>
        </p:txBody>
      </p:sp>
      <p:sp>
        <p:nvSpPr>
          <p:cNvPr id="14" name="Text 11"/>
          <p:cNvSpPr/>
          <p:nvPr/>
        </p:nvSpPr>
        <p:spPr>
          <a:xfrm>
            <a:off x="822960" y="3383280"/>
            <a:ext cx="1024128" cy="365760"/>
          </a:xfrm>
          <a:prstGeom prst="rect">
            <a:avLst/>
          </a:prstGeom>
          <a:noFill/>
          <a:ln/>
        </p:spPr>
        <p:txBody>
          <a:bodyPr wrap="square" lIns="0" tIns="0" rIns="0" bIns="0" rtlCol="0" anchor="ctr"/>
          <a:lstStyle/>
          <a:p>
            <a:pPr marL="0" indent="0" algn="l">
              <a:buNone/>
            </a:pPr>
            <a:r>
              <a:rPr lang="en-US" sz="1050" b="1" dirty="0">
                <a:solidFill>
                  <a:srgbClr val="A6760C"/>
                </a:solidFill>
                <a:latin typeface="Courier New" pitchFamily="34" charset="0"/>
                <a:ea typeface="Courier New" pitchFamily="34" charset="-122"/>
                <a:cs typeface="Courier New" pitchFamily="34" charset="-120"/>
              </a:rPr>
              <a:t>22–42</a:t>
            </a:r>
            <a:endParaRPr lang="en-US" sz="1050" dirty="0"/>
          </a:p>
        </p:txBody>
      </p:sp>
      <p:sp>
        <p:nvSpPr>
          <p:cNvPr id="15" name="Text 12"/>
          <p:cNvSpPr/>
          <p:nvPr/>
        </p:nvSpPr>
        <p:spPr>
          <a:xfrm>
            <a:off x="1883664" y="3383280"/>
            <a:ext cx="3758184" cy="365760"/>
          </a:xfrm>
          <a:prstGeom prst="rect">
            <a:avLst/>
          </a:prstGeom>
          <a:noFill/>
          <a:ln/>
        </p:spPr>
        <p:txBody>
          <a:bodyPr wrap="square" lIns="0" tIns="0" rIns="0" bIns="0" rtlCol="0" anchor="ctr"/>
          <a:lstStyle/>
          <a:p>
            <a:pPr marL="0" indent="0" algn="l">
              <a:buNone/>
            </a:pPr>
            <a:r>
              <a:rPr lang="en-US" sz="1150" b="1" dirty="0">
                <a:solidFill>
                  <a:srgbClr val="2C3E50"/>
                </a:solidFill>
                <a:latin typeface="Calibri" pitchFamily="34" charset="0"/>
                <a:ea typeface="Calibri" pitchFamily="34" charset="-122"/>
                <a:cs typeface="Calibri" pitchFamily="34" charset="-120"/>
              </a:rPr>
              <a:t>defineStore  </a:t>
            </a:r>
            <a:r>
              <a:rPr lang="en-US" sz="1150" dirty="0">
                <a:solidFill>
                  <a:srgbClr val="6B7C8C"/>
                </a:solidFill>
                <a:latin typeface="Calibri" pitchFamily="34" charset="0"/>
                <a:ea typeface="Calibri" pitchFamily="34" charset="-122"/>
                <a:cs typeface="Calibri" pitchFamily="34" charset="-120"/>
              </a:rPr>
              <a:t>Options vs Setup · state · getters</a:t>
            </a:r>
            <a:endParaRPr lang="en-US" sz="1150" dirty="0"/>
          </a:p>
        </p:txBody>
      </p:sp>
      <p:sp>
        <p:nvSpPr>
          <p:cNvPr id="16" name="Text 13"/>
          <p:cNvSpPr/>
          <p:nvPr/>
        </p:nvSpPr>
        <p:spPr>
          <a:xfrm>
            <a:off x="822960" y="3831336"/>
            <a:ext cx="1024128" cy="365760"/>
          </a:xfrm>
          <a:prstGeom prst="rect">
            <a:avLst/>
          </a:prstGeom>
          <a:noFill/>
          <a:ln/>
        </p:spPr>
        <p:txBody>
          <a:bodyPr wrap="square" lIns="0" tIns="0" rIns="0" bIns="0" rtlCol="0" anchor="ctr"/>
          <a:lstStyle/>
          <a:p>
            <a:pPr marL="0" indent="0" algn="l">
              <a:buNone/>
            </a:pPr>
            <a:r>
              <a:rPr lang="en-US" sz="1050" b="1" dirty="0">
                <a:solidFill>
                  <a:srgbClr val="A6760C"/>
                </a:solidFill>
                <a:latin typeface="Courier New" pitchFamily="34" charset="0"/>
                <a:ea typeface="Courier New" pitchFamily="34" charset="-122"/>
                <a:cs typeface="Courier New" pitchFamily="34" charset="-120"/>
              </a:rPr>
              <a:t>42–55</a:t>
            </a:r>
            <a:endParaRPr lang="en-US" sz="1050" dirty="0"/>
          </a:p>
        </p:txBody>
      </p:sp>
      <p:sp>
        <p:nvSpPr>
          <p:cNvPr id="17" name="Text 14"/>
          <p:cNvSpPr/>
          <p:nvPr/>
        </p:nvSpPr>
        <p:spPr>
          <a:xfrm>
            <a:off x="1883664" y="3831336"/>
            <a:ext cx="3758184" cy="365760"/>
          </a:xfrm>
          <a:prstGeom prst="rect">
            <a:avLst/>
          </a:prstGeom>
          <a:noFill/>
          <a:ln/>
        </p:spPr>
        <p:txBody>
          <a:bodyPr wrap="square" lIns="0" tIns="0" rIns="0" bIns="0" rtlCol="0" anchor="ctr"/>
          <a:lstStyle/>
          <a:p>
            <a:pPr marL="0" indent="0" algn="l">
              <a:buNone/>
            </a:pPr>
            <a:r>
              <a:rPr lang="en-US" sz="1150" b="1" dirty="0">
                <a:solidFill>
                  <a:srgbClr val="2C3E50"/>
                </a:solidFill>
                <a:latin typeface="Calibri" pitchFamily="34" charset="0"/>
                <a:ea typeface="Calibri" pitchFamily="34" charset="-122"/>
                <a:cs typeface="Calibri" pitchFamily="34" charset="-120"/>
              </a:rPr>
              <a:t>Actions  </a:t>
            </a:r>
            <a:r>
              <a:rPr lang="en-US" sz="1150" dirty="0">
                <a:solidFill>
                  <a:srgbClr val="6B7C8C"/>
                </a:solidFill>
                <a:latin typeface="Calibri" pitchFamily="34" charset="0"/>
                <a:ea typeface="Calibri" pitchFamily="34" charset="-122"/>
                <a:cs typeface="Calibri" pitchFamily="34" charset="-120"/>
              </a:rPr>
              <a:t>sync/async · $patch · $reset</a:t>
            </a:r>
            <a:endParaRPr lang="en-US" sz="1150" dirty="0"/>
          </a:p>
        </p:txBody>
      </p:sp>
      <p:sp>
        <p:nvSpPr>
          <p:cNvPr id="18" name="Text 15"/>
          <p:cNvSpPr/>
          <p:nvPr/>
        </p:nvSpPr>
        <p:spPr>
          <a:xfrm>
            <a:off x="822960" y="4279392"/>
            <a:ext cx="1024128" cy="365760"/>
          </a:xfrm>
          <a:prstGeom prst="rect">
            <a:avLst/>
          </a:prstGeom>
          <a:noFill/>
          <a:ln/>
        </p:spPr>
        <p:txBody>
          <a:bodyPr wrap="square" lIns="0" tIns="0" rIns="0" bIns="0" rtlCol="0" anchor="ctr"/>
          <a:lstStyle/>
          <a:p>
            <a:pPr marL="0" indent="0" algn="l">
              <a:buNone/>
            </a:pPr>
            <a:r>
              <a:rPr lang="en-US" sz="1050" b="1" dirty="0">
                <a:solidFill>
                  <a:srgbClr val="A6760C"/>
                </a:solidFill>
                <a:latin typeface="Courier New" pitchFamily="34" charset="0"/>
                <a:ea typeface="Courier New" pitchFamily="34" charset="-122"/>
                <a:cs typeface="Courier New" pitchFamily="34" charset="-120"/>
              </a:rPr>
              <a:t>55–70</a:t>
            </a:r>
            <a:endParaRPr lang="en-US" sz="1050" dirty="0"/>
          </a:p>
        </p:txBody>
      </p:sp>
      <p:sp>
        <p:nvSpPr>
          <p:cNvPr id="19" name="Text 16"/>
          <p:cNvSpPr/>
          <p:nvPr/>
        </p:nvSpPr>
        <p:spPr>
          <a:xfrm>
            <a:off x="1883664" y="4279392"/>
            <a:ext cx="3758184" cy="365760"/>
          </a:xfrm>
          <a:prstGeom prst="rect">
            <a:avLst/>
          </a:prstGeom>
          <a:noFill/>
          <a:ln/>
        </p:spPr>
        <p:txBody>
          <a:bodyPr wrap="square" lIns="0" tIns="0" rIns="0" bIns="0" rtlCol="0" anchor="ctr"/>
          <a:lstStyle/>
          <a:p>
            <a:pPr marL="0" indent="0" algn="l">
              <a:buNone/>
            </a:pPr>
            <a:r>
              <a:rPr lang="en-US" sz="1150" b="1" dirty="0">
                <a:solidFill>
                  <a:srgbClr val="2C3E50"/>
                </a:solidFill>
                <a:latin typeface="Calibri" pitchFamily="34" charset="0"/>
                <a:ea typeface="Calibri" pitchFamily="34" charset="-122"/>
                <a:cs typeface="Calibri" pitchFamily="34" charset="-120"/>
              </a:rPr>
              <a:t>Live Demo  </a:t>
            </a:r>
            <a:r>
              <a:rPr lang="en-US" sz="1150" dirty="0">
                <a:solidFill>
                  <a:srgbClr val="6B7C8C"/>
                </a:solidFill>
                <a:latin typeface="Calibri" pitchFamily="34" charset="0"/>
                <a:ea typeface="Calibri" pitchFamily="34" charset="-122"/>
                <a:cs typeface="Calibri" pitchFamily="34" charset="-120"/>
              </a:rPr>
              <a:t>build useCartStore</a:t>
            </a:r>
            <a:endParaRPr lang="en-US" sz="1150" dirty="0"/>
          </a:p>
        </p:txBody>
      </p:sp>
      <p:sp>
        <p:nvSpPr>
          <p:cNvPr id="20" name="Text 17"/>
          <p:cNvSpPr/>
          <p:nvPr/>
        </p:nvSpPr>
        <p:spPr>
          <a:xfrm>
            <a:off x="822960" y="4727448"/>
            <a:ext cx="1024128" cy="365760"/>
          </a:xfrm>
          <a:prstGeom prst="rect">
            <a:avLst/>
          </a:prstGeom>
          <a:noFill/>
          <a:ln/>
        </p:spPr>
        <p:txBody>
          <a:bodyPr wrap="square" lIns="0" tIns="0" rIns="0" bIns="0" rtlCol="0" anchor="ctr"/>
          <a:lstStyle/>
          <a:p>
            <a:pPr marL="0" indent="0" algn="l">
              <a:buNone/>
            </a:pPr>
            <a:r>
              <a:rPr lang="en-US" sz="1050" b="1" dirty="0">
                <a:solidFill>
                  <a:srgbClr val="A6760C"/>
                </a:solidFill>
                <a:latin typeface="Courier New" pitchFamily="34" charset="0"/>
                <a:ea typeface="Courier New" pitchFamily="34" charset="-122"/>
                <a:cs typeface="Courier New" pitchFamily="34" charset="-120"/>
              </a:rPr>
              <a:t>70–82</a:t>
            </a:r>
            <a:endParaRPr lang="en-US" sz="1050" dirty="0"/>
          </a:p>
        </p:txBody>
      </p:sp>
      <p:sp>
        <p:nvSpPr>
          <p:cNvPr id="21" name="Text 18"/>
          <p:cNvSpPr/>
          <p:nvPr/>
        </p:nvSpPr>
        <p:spPr>
          <a:xfrm>
            <a:off x="1883664" y="4727448"/>
            <a:ext cx="3758184" cy="365760"/>
          </a:xfrm>
          <a:prstGeom prst="rect">
            <a:avLst/>
          </a:prstGeom>
          <a:noFill/>
          <a:ln/>
        </p:spPr>
        <p:txBody>
          <a:bodyPr wrap="square" lIns="0" tIns="0" rIns="0" bIns="0" rtlCol="0" anchor="ctr"/>
          <a:lstStyle/>
          <a:p>
            <a:pPr marL="0" indent="0" algn="l">
              <a:buNone/>
            </a:pPr>
            <a:r>
              <a:rPr lang="en-US" sz="1150" b="1" dirty="0">
                <a:solidFill>
                  <a:srgbClr val="2C3E50"/>
                </a:solidFill>
                <a:latin typeface="Calibri" pitchFamily="34" charset="0"/>
                <a:ea typeface="Calibri" pitchFamily="34" charset="-122"/>
                <a:cs typeface="Calibri" pitchFamily="34" charset="-120"/>
              </a:rPr>
              <a:t>Practice  </a:t>
            </a:r>
            <a:r>
              <a:rPr lang="en-US" sz="1150" dirty="0">
                <a:solidFill>
                  <a:srgbClr val="6B7C8C"/>
                </a:solidFill>
                <a:latin typeface="Calibri" pitchFamily="34" charset="0"/>
                <a:ea typeface="Calibri" pitchFamily="34" charset="-122"/>
                <a:cs typeface="Calibri" pitchFamily="34" charset="-120"/>
              </a:rPr>
              <a:t>useNotificationStore</a:t>
            </a:r>
            <a:endParaRPr lang="en-US" sz="1150" dirty="0"/>
          </a:p>
        </p:txBody>
      </p:sp>
      <p:sp>
        <p:nvSpPr>
          <p:cNvPr id="22" name="Text 19"/>
          <p:cNvSpPr/>
          <p:nvPr/>
        </p:nvSpPr>
        <p:spPr>
          <a:xfrm>
            <a:off x="822960" y="5175504"/>
            <a:ext cx="1024128" cy="365760"/>
          </a:xfrm>
          <a:prstGeom prst="rect">
            <a:avLst/>
          </a:prstGeom>
          <a:noFill/>
          <a:ln/>
        </p:spPr>
        <p:txBody>
          <a:bodyPr wrap="square" lIns="0" tIns="0" rIns="0" bIns="0" rtlCol="0" anchor="ctr"/>
          <a:lstStyle/>
          <a:p>
            <a:pPr marL="0" indent="0" algn="l">
              <a:buNone/>
            </a:pPr>
            <a:r>
              <a:rPr lang="en-US" sz="1050" b="1" dirty="0">
                <a:solidFill>
                  <a:srgbClr val="A6760C"/>
                </a:solidFill>
                <a:latin typeface="Courier New" pitchFamily="34" charset="0"/>
                <a:ea typeface="Courier New" pitchFamily="34" charset="-122"/>
                <a:cs typeface="Courier New" pitchFamily="34" charset="-120"/>
              </a:rPr>
              <a:t>82–87</a:t>
            </a:r>
            <a:endParaRPr lang="en-US" sz="1050" dirty="0"/>
          </a:p>
        </p:txBody>
      </p:sp>
      <p:sp>
        <p:nvSpPr>
          <p:cNvPr id="23" name="Text 20"/>
          <p:cNvSpPr/>
          <p:nvPr/>
        </p:nvSpPr>
        <p:spPr>
          <a:xfrm>
            <a:off x="1883664" y="5175504"/>
            <a:ext cx="3758184" cy="365760"/>
          </a:xfrm>
          <a:prstGeom prst="rect">
            <a:avLst/>
          </a:prstGeom>
          <a:noFill/>
          <a:ln/>
        </p:spPr>
        <p:txBody>
          <a:bodyPr wrap="square" lIns="0" tIns="0" rIns="0" bIns="0" rtlCol="0" anchor="ctr"/>
          <a:lstStyle/>
          <a:p>
            <a:pPr marL="0" indent="0" algn="l">
              <a:buNone/>
            </a:pPr>
            <a:r>
              <a:rPr lang="en-US" sz="1150" b="1" dirty="0">
                <a:solidFill>
                  <a:srgbClr val="2C3E50"/>
                </a:solidFill>
                <a:latin typeface="Calibri" pitchFamily="34" charset="0"/>
                <a:ea typeface="Calibri" pitchFamily="34" charset="-122"/>
                <a:cs typeface="Calibri" pitchFamily="34" charset="-120"/>
              </a:rPr>
              <a:t>Common Mistakes  </a:t>
            </a:r>
            <a:r>
              <a:rPr lang="en-US" sz="1150" dirty="0">
                <a:solidFill>
                  <a:srgbClr val="6B7C8C"/>
                </a:solidFill>
                <a:latin typeface="Calibri" pitchFamily="34" charset="0"/>
                <a:ea typeface="Calibri" pitchFamily="34" charset="-122"/>
                <a:cs typeface="Calibri" pitchFamily="34" charset="-120"/>
              </a:rPr>
              <a:t>storeToRefs · reactivity</a:t>
            </a:r>
            <a:endParaRPr lang="en-US" sz="1150" dirty="0"/>
          </a:p>
        </p:txBody>
      </p:sp>
      <p:sp>
        <p:nvSpPr>
          <p:cNvPr id="24" name="Text 21"/>
          <p:cNvSpPr/>
          <p:nvPr/>
        </p:nvSpPr>
        <p:spPr>
          <a:xfrm>
            <a:off x="822960" y="5623560"/>
            <a:ext cx="1024128" cy="365760"/>
          </a:xfrm>
          <a:prstGeom prst="rect">
            <a:avLst/>
          </a:prstGeom>
          <a:noFill/>
          <a:ln/>
        </p:spPr>
        <p:txBody>
          <a:bodyPr wrap="square" lIns="0" tIns="0" rIns="0" bIns="0" rtlCol="0" anchor="ctr"/>
          <a:lstStyle/>
          <a:p>
            <a:pPr marL="0" indent="0" algn="l">
              <a:buNone/>
            </a:pPr>
            <a:r>
              <a:rPr lang="en-US" sz="1050" b="1" dirty="0">
                <a:solidFill>
                  <a:srgbClr val="A6760C"/>
                </a:solidFill>
                <a:latin typeface="Courier New" pitchFamily="34" charset="0"/>
                <a:ea typeface="Courier New" pitchFamily="34" charset="-122"/>
                <a:cs typeface="Courier New" pitchFamily="34" charset="-120"/>
              </a:rPr>
              <a:t>87–90</a:t>
            </a:r>
            <a:endParaRPr lang="en-US" sz="1050" dirty="0"/>
          </a:p>
        </p:txBody>
      </p:sp>
      <p:sp>
        <p:nvSpPr>
          <p:cNvPr id="25" name="Text 22"/>
          <p:cNvSpPr/>
          <p:nvPr/>
        </p:nvSpPr>
        <p:spPr>
          <a:xfrm>
            <a:off x="1883664" y="5623560"/>
            <a:ext cx="3758184" cy="365760"/>
          </a:xfrm>
          <a:prstGeom prst="rect">
            <a:avLst/>
          </a:prstGeom>
          <a:noFill/>
          <a:ln/>
        </p:spPr>
        <p:txBody>
          <a:bodyPr wrap="square" lIns="0" tIns="0" rIns="0" bIns="0" rtlCol="0" anchor="ctr"/>
          <a:lstStyle/>
          <a:p>
            <a:pPr marL="0" indent="0" algn="l">
              <a:buNone/>
            </a:pPr>
            <a:r>
              <a:rPr lang="en-US" sz="1150" b="1" dirty="0">
                <a:solidFill>
                  <a:srgbClr val="2C3E50"/>
                </a:solidFill>
                <a:latin typeface="Calibri" pitchFamily="34" charset="0"/>
                <a:ea typeface="Calibri" pitchFamily="34" charset="-122"/>
                <a:cs typeface="Calibri" pitchFamily="34" charset="-120"/>
              </a:rPr>
              <a:t>Quiz + Wrap  </a:t>
            </a:r>
            <a:r>
              <a:rPr lang="en-US" sz="1150" dirty="0">
                <a:solidFill>
                  <a:srgbClr val="6B7C8C"/>
                </a:solidFill>
                <a:latin typeface="Calibri" pitchFamily="34" charset="0"/>
                <a:ea typeface="Calibri" pitchFamily="34" charset="-122"/>
                <a:cs typeface="Calibri" pitchFamily="34" charset="-120"/>
              </a:rPr>
              <a:t>5 Qs · HW part A</a:t>
            </a:r>
            <a:endParaRPr lang="en-US" sz="1150" dirty="0"/>
          </a:p>
        </p:txBody>
      </p:sp>
      <p:sp>
        <p:nvSpPr>
          <p:cNvPr id="26" name="Shape 23"/>
          <p:cNvSpPr/>
          <p:nvPr/>
        </p:nvSpPr>
        <p:spPr>
          <a:xfrm>
            <a:off x="6309360" y="1508760"/>
            <a:ext cx="5349240" cy="4617720"/>
          </a:xfrm>
          <a:prstGeom prst="roundRect">
            <a:avLst>
              <a:gd name="adj" fmla="val 1782"/>
            </a:avLst>
          </a:prstGeom>
          <a:solidFill>
            <a:srgbClr val="F4F7F9"/>
          </a:solidFill>
          <a:ln w="12700">
            <a:solidFill>
              <a:srgbClr val="DCE5EB"/>
            </a:solidFill>
            <a:prstDash val="solid"/>
          </a:ln>
          <a:effectLst>
            <a:outerShdw blurRad="88900" dist="25400" dir="5400000" algn="bl" rotWithShape="0">
              <a:srgbClr val="35495E">
                <a:alpha val="13000"/>
              </a:srgbClr>
            </a:outerShdw>
          </a:effectLst>
        </p:spPr>
      </p:sp>
      <p:sp>
        <p:nvSpPr>
          <p:cNvPr id="27" name="Shape 24"/>
          <p:cNvSpPr/>
          <p:nvPr/>
        </p:nvSpPr>
        <p:spPr>
          <a:xfrm>
            <a:off x="6565392" y="1737360"/>
            <a:ext cx="4837176" cy="566928"/>
          </a:xfrm>
          <a:prstGeom prst="roundRect">
            <a:avLst>
              <a:gd name="adj" fmla="val 12903"/>
            </a:avLst>
          </a:prstGeom>
          <a:solidFill>
            <a:srgbClr val="35495E"/>
          </a:solidFill>
          <a:ln/>
        </p:spPr>
      </p:sp>
      <p:sp>
        <p:nvSpPr>
          <p:cNvPr id="28" name="Text 25"/>
          <p:cNvSpPr/>
          <p:nvPr/>
        </p:nvSpPr>
        <p:spPr>
          <a:xfrm>
            <a:off x="6766560" y="1737360"/>
            <a:ext cx="4434840" cy="566928"/>
          </a:xfrm>
          <a:prstGeom prst="rect">
            <a:avLst/>
          </a:prstGeom>
          <a:noFill/>
          <a:ln/>
        </p:spPr>
        <p:txBody>
          <a:bodyPr wrap="square" lIns="0" tIns="0" rIns="0" bIns="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Session 11 — Advanced</a:t>
            </a:r>
            <a:endParaRPr lang="en-US" sz="1600" dirty="0"/>
          </a:p>
        </p:txBody>
      </p:sp>
      <p:sp>
        <p:nvSpPr>
          <p:cNvPr id="29" name="Text 26"/>
          <p:cNvSpPr/>
          <p:nvPr/>
        </p:nvSpPr>
        <p:spPr>
          <a:xfrm>
            <a:off x="6565392" y="1737360"/>
            <a:ext cx="4581144" cy="566928"/>
          </a:xfrm>
          <a:prstGeom prst="rect">
            <a:avLst/>
          </a:prstGeom>
          <a:noFill/>
          <a:ln/>
        </p:spPr>
        <p:txBody>
          <a:bodyPr wrap="square" lIns="0" tIns="0" rIns="0" bIns="0" rtlCol="0" anchor="ctr"/>
          <a:lstStyle/>
          <a:p>
            <a:pPr marL="0" indent="0" algn="r">
              <a:buNone/>
            </a:pPr>
            <a:r>
              <a:rPr lang="en-US" sz="1150" dirty="0">
                <a:solidFill>
                  <a:srgbClr val="FBF3DD"/>
                </a:solidFill>
                <a:latin typeface="Calibri" pitchFamily="34" charset="0"/>
                <a:ea typeface="Calibri" pitchFamily="34" charset="-122"/>
                <a:cs typeface="Calibri" pitchFamily="34" charset="-120"/>
              </a:rPr>
              <a:t>90 min</a:t>
            </a:r>
            <a:endParaRPr lang="en-US" sz="1150" dirty="0"/>
          </a:p>
        </p:txBody>
      </p:sp>
      <p:sp>
        <p:nvSpPr>
          <p:cNvPr id="30" name="Text 27"/>
          <p:cNvSpPr/>
          <p:nvPr/>
        </p:nvSpPr>
        <p:spPr>
          <a:xfrm>
            <a:off x="6583680" y="2487168"/>
            <a:ext cx="1024128" cy="365760"/>
          </a:xfrm>
          <a:prstGeom prst="rect">
            <a:avLst/>
          </a:prstGeom>
          <a:noFill/>
          <a:ln/>
        </p:spPr>
        <p:txBody>
          <a:bodyPr wrap="square" lIns="0" tIns="0" rIns="0" bIns="0" rtlCol="0" anchor="ctr"/>
          <a:lstStyle/>
          <a:p>
            <a:pPr marL="0" indent="0" algn="l">
              <a:buNone/>
            </a:pPr>
            <a:r>
              <a:rPr lang="en-US" sz="1050" b="1" dirty="0">
                <a:solidFill>
                  <a:srgbClr val="35495E"/>
                </a:solidFill>
                <a:latin typeface="Courier New" pitchFamily="34" charset="0"/>
                <a:ea typeface="Courier New" pitchFamily="34" charset="-122"/>
                <a:cs typeface="Courier New" pitchFamily="34" charset="-120"/>
              </a:rPr>
              <a:t>00–06</a:t>
            </a:r>
            <a:endParaRPr lang="en-US" sz="1050" dirty="0"/>
          </a:p>
        </p:txBody>
      </p:sp>
      <p:sp>
        <p:nvSpPr>
          <p:cNvPr id="31" name="Text 28"/>
          <p:cNvSpPr/>
          <p:nvPr/>
        </p:nvSpPr>
        <p:spPr>
          <a:xfrm>
            <a:off x="7644384" y="2487168"/>
            <a:ext cx="3758184" cy="365760"/>
          </a:xfrm>
          <a:prstGeom prst="rect">
            <a:avLst/>
          </a:prstGeom>
          <a:noFill/>
          <a:ln/>
        </p:spPr>
        <p:txBody>
          <a:bodyPr wrap="square" lIns="0" tIns="0" rIns="0" bIns="0" rtlCol="0" anchor="ctr"/>
          <a:lstStyle/>
          <a:p>
            <a:pPr marL="0" indent="0" algn="l">
              <a:buNone/>
            </a:pPr>
            <a:r>
              <a:rPr lang="en-US" sz="1150" b="1" dirty="0">
                <a:solidFill>
                  <a:srgbClr val="2C3E50"/>
                </a:solidFill>
                <a:latin typeface="Calibri" pitchFamily="34" charset="0"/>
                <a:ea typeface="Calibri" pitchFamily="34" charset="-122"/>
                <a:cs typeface="Calibri" pitchFamily="34" charset="-120"/>
              </a:rPr>
              <a:t>Warm-Up  </a:t>
            </a:r>
            <a:r>
              <a:rPr lang="en-US" sz="1150" dirty="0">
                <a:solidFill>
                  <a:srgbClr val="6B7C8C"/>
                </a:solidFill>
                <a:latin typeface="Calibri" pitchFamily="34" charset="0"/>
                <a:ea typeface="Calibri" pitchFamily="34" charset="-122"/>
                <a:cs typeface="Calibri" pitchFamily="34" charset="-120"/>
              </a:rPr>
              <a:t>“Split the God Store”</a:t>
            </a:r>
            <a:endParaRPr lang="en-US" sz="1150" dirty="0"/>
          </a:p>
        </p:txBody>
      </p:sp>
      <p:sp>
        <p:nvSpPr>
          <p:cNvPr id="32" name="Text 29"/>
          <p:cNvSpPr/>
          <p:nvPr/>
        </p:nvSpPr>
        <p:spPr>
          <a:xfrm>
            <a:off x="6583680" y="2935224"/>
            <a:ext cx="1024128" cy="365760"/>
          </a:xfrm>
          <a:prstGeom prst="rect">
            <a:avLst/>
          </a:prstGeom>
          <a:noFill/>
          <a:ln/>
        </p:spPr>
        <p:txBody>
          <a:bodyPr wrap="square" lIns="0" tIns="0" rIns="0" bIns="0" rtlCol="0" anchor="ctr"/>
          <a:lstStyle/>
          <a:p>
            <a:pPr marL="0" indent="0" algn="l">
              <a:buNone/>
            </a:pPr>
            <a:r>
              <a:rPr lang="en-US" sz="1050" b="1" dirty="0">
                <a:solidFill>
                  <a:srgbClr val="35495E"/>
                </a:solidFill>
                <a:latin typeface="Courier New" pitchFamily="34" charset="0"/>
                <a:ea typeface="Courier New" pitchFamily="34" charset="-122"/>
                <a:cs typeface="Courier New" pitchFamily="34" charset="-120"/>
              </a:rPr>
              <a:t>06–22</a:t>
            </a:r>
            <a:endParaRPr lang="en-US" sz="1050" dirty="0"/>
          </a:p>
        </p:txBody>
      </p:sp>
      <p:sp>
        <p:nvSpPr>
          <p:cNvPr id="33" name="Text 30"/>
          <p:cNvSpPr/>
          <p:nvPr/>
        </p:nvSpPr>
        <p:spPr>
          <a:xfrm>
            <a:off x="7644384" y="2935224"/>
            <a:ext cx="3758184" cy="365760"/>
          </a:xfrm>
          <a:prstGeom prst="rect">
            <a:avLst/>
          </a:prstGeom>
          <a:noFill/>
          <a:ln/>
        </p:spPr>
        <p:txBody>
          <a:bodyPr wrap="square" lIns="0" tIns="0" rIns="0" bIns="0" rtlCol="0" anchor="ctr"/>
          <a:lstStyle/>
          <a:p>
            <a:pPr marL="0" indent="0" algn="l">
              <a:buNone/>
            </a:pPr>
            <a:r>
              <a:rPr lang="en-US" sz="1150" b="1" dirty="0">
                <a:solidFill>
                  <a:srgbClr val="2C3E50"/>
                </a:solidFill>
                <a:latin typeface="Calibri" pitchFamily="34" charset="0"/>
                <a:ea typeface="Calibri" pitchFamily="34" charset="-122"/>
                <a:cs typeface="Calibri" pitchFamily="34" charset="-120"/>
              </a:rPr>
              <a:t>Composition  </a:t>
            </a:r>
            <a:r>
              <a:rPr lang="en-US" sz="1150" dirty="0">
                <a:solidFill>
                  <a:srgbClr val="6B7C8C"/>
                </a:solidFill>
                <a:latin typeface="Calibri" pitchFamily="34" charset="0"/>
                <a:ea typeface="Calibri" pitchFamily="34" charset="-122"/>
                <a:cs typeface="Calibri" pitchFamily="34" charset="-120"/>
              </a:rPr>
              <a:t>cross-store calls · layers</a:t>
            </a:r>
            <a:endParaRPr lang="en-US" sz="1150" dirty="0"/>
          </a:p>
        </p:txBody>
      </p:sp>
      <p:sp>
        <p:nvSpPr>
          <p:cNvPr id="34" name="Text 31"/>
          <p:cNvSpPr/>
          <p:nvPr/>
        </p:nvSpPr>
        <p:spPr>
          <a:xfrm>
            <a:off x="6583680" y="3383280"/>
            <a:ext cx="1024128" cy="365760"/>
          </a:xfrm>
          <a:prstGeom prst="rect">
            <a:avLst/>
          </a:prstGeom>
          <a:noFill/>
          <a:ln/>
        </p:spPr>
        <p:txBody>
          <a:bodyPr wrap="square" lIns="0" tIns="0" rIns="0" bIns="0" rtlCol="0" anchor="ctr"/>
          <a:lstStyle/>
          <a:p>
            <a:pPr marL="0" indent="0" algn="l">
              <a:buNone/>
            </a:pPr>
            <a:r>
              <a:rPr lang="en-US" sz="1050" b="1" dirty="0">
                <a:solidFill>
                  <a:srgbClr val="35495E"/>
                </a:solidFill>
                <a:latin typeface="Courier New" pitchFamily="34" charset="0"/>
                <a:ea typeface="Courier New" pitchFamily="34" charset="-122"/>
                <a:cs typeface="Courier New" pitchFamily="34" charset="-120"/>
              </a:rPr>
              <a:t>22–38</a:t>
            </a:r>
            <a:endParaRPr lang="en-US" sz="1050" dirty="0"/>
          </a:p>
        </p:txBody>
      </p:sp>
      <p:sp>
        <p:nvSpPr>
          <p:cNvPr id="35" name="Text 32"/>
          <p:cNvSpPr/>
          <p:nvPr/>
        </p:nvSpPr>
        <p:spPr>
          <a:xfrm>
            <a:off x="7644384" y="3383280"/>
            <a:ext cx="3758184" cy="365760"/>
          </a:xfrm>
          <a:prstGeom prst="rect">
            <a:avLst/>
          </a:prstGeom>
          <a:noFill/>
          <a:ln/>
        </p:spPr>
        <p:txBody>
          <a:bodyPr wrap="square" lIns="0" tIns="0" rIns="0" bIns="0" rtlCol="0" anchor="ctr"/>
          <a:lstStyle/>
          <a:p>
            <a:pPr marL="0" indent="0" algn="l">
              <a:buNone/>
            </a:pPr>
            <a:r>
              <a:rPr lang="en-US" sz="1150" b="1" dirty="0">
                <a:solidFill>
                  <a:srgbClr val="2C3E50"/>
                </a:solidFill>
                <a:latin typeface="Calibri" pitchFamily="34" charset="0"/>
                <a:ea typeface="Calibri" pitchFamily="34" charset="-122"/>
                <a:cs typeface="Calibri" pitchFamily="34" charset="-120"/>
              </a:rPr>
              <a:t>Router + Pinia  </a:t>
            </a:r>
            <a:r>
              <a:rPr lang="en-US" sz="1150" dirty="0">
                <a:solidFill>
                  <a:srgbClr val="6B7C8C"/>
                </a:solidFill>
                <a:latin typeface="Calibri" pitchFamily="34" charset="0"/>
                <a:ea typeface="Calibri" pitchFamily="34" charset="-122"/>
                <a:cs typeface="Calibri" pitchFamily="34" charset="-120"/>
              </a:rPr>
              <a:t>guards · auth flow</a:t>
            </a:r>
            <a:endParaRPr lang="en-US" sz="1150" dirty="0"/>
          </a:p>
        </p:txBody>
      </p:sp>
      <p:sp>
        <p:nvSpPr>
          <p:cNvPr id="36" name="Text 33"/>
          <p:cNvSpPr/>
          <p:nvPr/>
        </p:nvSpPr>
        <p:spPr>
          <a:xfrm>
            <a:off x="6583680" y="3831336"/>
            <a:ext cx="1024128" cy="365760"/>
          </a:xfrm>
          <a:prstGeom prst="rect">
            <a:avLst/>
          </a:prstGeom>
          <a:noFill/>
          <a:ln/>
        </p:spPr>
        <p:txBody>
          <a:bodyPr wrap="square" lIns="0" tIns="0" rIns="0" bIns="0" rtlCol="0" anchor="ctr"/>
          <a:lstStyle/>
          <a:p>
            <a:pPr marL="0" indent="0" algn="l">
              <a:buNone/>
            </a:pPr>
            <a:r>
              <a:rPr lang="en-US" sz="1050" b="1" dirty="0">
                <a:solidFill>
                  <a:srgbClr val="35495E"/>
                </a:solidFill>
                <a:latin typeface="Courier New" pitchFamily="34" charset="0"/>
                <a:ea typeface="Courier New" pitchFamily="34" charset="-122"/>
                <a:cs typeface="Courier New" pitchFamily="34" charset="-120"/>
              </a:rPr>
              <a:t>38–52</a:t>
            </a:r>
            <a:endParaRPr lang="en-US" sz="1050" dirty="0"/>
          </a:p>
        </p:txBody>
      </p:sp>
      <p:sp>
        <p:nvSpPr>
          <p:cNvPr id="37" name="Text 34"/>
          <p:cNvSpPr/>
          <p:nvPr/>
        </p:nvSpPr>
        <p:spPr>
          <a:xfrm>
            <a:off x="7644384" y="3831336"/>
            <a:ext cx="3758184" cy="365760"/>
          </a:xfrm>
          <a:prstGeom prst="rect">
            <a:avLst/>
          </a:prstGeom>
          <a:noFill/>
          <a:ln/>
        </p:spPr>
        <p:txBody>
          <a:bodyPr wrap="square" lIns="0" tIns="0" rIns="0" bIns="0" rtlCol="0" anchor="ctr"/>
          <a:lstStyle/>
          <a:p>
            <a:pPr marL="0" indent="0" algn="l">
              <a:buNone/>
            </a:pPr>
            <a:r>
              <a:rPr lang="en-US" sz="1150" b="1" dirty="0">
                <a:solidFill>
                  <a:srgbClr val="2C3E50"/>
                </a:solidFill>
                <a:latin typeface="Calibri" pitchFamily="34" charset="0"/>
                <a:ea typeface="Calibri" pitchFamily="34" charset="-122"/>
                <a:cs typeface="Calibri" pitchFamily="34" charset="-120"/>
              </a:rPr>
              <a:t>Plugins &amp; Persist  </a:t>
            </a:r>
            <a:r>
              <a:rPr lang="en-US" sz="1150" dirty="0">
                <a:solidFill>
                  <a:srgbClr val="6B7C8C"/>
                </a:solidFill>
                <a:latin typeface="Calibri" pitchFamily="34" charset="0"/>
                <a:ea typeface="Calibri" pitchFamily="34" charset="-122"/>
                <a:cs typeface="Calibri" pitchFamily="34" charset="-120"/>
              </a:rPr>
              <a:t>persistedstate · $onAction</a:t>
            </a:r>
            <a:endParaRPr lang="en-US" sz="1150" dirty="0"/>
          </a:p>
        </p:txBody>
      </p:sp>
      <p:sp>
        <p:nvSpPr>
          <p:cNvPr id="38" name="Text 35"/>
          <p:cNvSpPr/>
          <p:nvPr/>
        </p:nvSpPr>
        <p:spPr>
          <a:xfrm>
            <a:off x="6583680" y="4279392"/>
            <a:ext cx="1024128" cy="365760"/>
          </a:xfrm>
          <a:prstGeom prst="rect">
            <a:avLst/>
          </a:prstGeom>
          <a:noFill/>
          <a:ln/>
        </p:spPr>
        <p:txBody>
          <a:bodyPr wrap="square" lIns="0" tIns="0" rIns="0" bIns="0" rtlCol="0" anchor="ctr"/>
          <a:lstStyle/>
          <a:p>
            <a:pPr marL="0" indent="0" algn="l">
              <a:buNone/>
            </a:pPr>
            <a:r>
              <a:rPr lang="en-US" sz="1050" b="1" dirty="0">
                <a:solidFill>
                  <a:srgbClr val="35495E"/>
                </a:solidFill>
                <a:latin typeface="Courier New" pitchFamily="34" charset="0"/>
                <a:ea typeface="Courier New" pitchFamily="34" charset="-122"/>
                <a:cs typeface="Courier New" pitchFamily="34" charset="-120"/>
              </a:rPr>
              <a:t>52–67</a:t>
            </a:r>
            <a:endParaRPr lang="en-US" sz="1050" dirty="0"/>
          </a:p>
        </p:txBody>
      </p:sp>
      <p:sp>
        <p:nvSpPr>
          <p:cNvPr id="39" name="Text 36"/>
          <p:cNvSpPr/>
          <p:nvPr/>
        </p:nvSpPr>
        <p:spPr>
          <a:xfrm>
            <a:off x="7644384" y="4279392"/>
            <a:ext cx="3758184" cy="365760"/>
          </a:xfrm>
          <a:prstGeom prst="rect">
            <a:avLst/>
          </a:prstGeom>
          <a:noFill/>
          <a:ln/>
        </p:spPr>
        <p:txBody>
          <a:bodyPr wrap="square" lIns="0" tIns="0" rIns="0" bIns="0" rtlCol="0" anchor="ctr"/>
          <a:lstStyle/>
          <a:p>
            <a:pPr marL="0" indent="0" algn="l">
              <a:buNone/>
            </a:pPr>
            <a:r>
              <a:rPr lang="en-US" sz="1150" b="1" dirty="0">
                <a:solidFill>
                  <a:srgbClr val="2C3E50"/>
                </a:solidFill>
                <a:latin typeface="Calibri" pitchFamily="34" charset="0"/>
                <a:ea typeface="Calibri" pitchFamily="34" charset="-122"/>
                <a:cs typeface="Calibri" pitchFamily="34" charset="-120"/>
              </a:rPr>
              <a:t>Live Demo  </a:t>
            </a:r>
            <a:r>
              <a:rPr lang="en-US" sz="1150" dirty="0">
                <a:solidFill>
                  <a:srgbClr val="6B7C8C"/>
                </a:solidFill>
                <a:latin typeface="Calibri" pitchFamily="34" charset="0"/>
                <a:ea typeface="Calibri" pitchFamily="34" charset="-122"/>
                <a:cs typeface="Calibri" pitchFamily="34" charset="-120"/>
              </a:rPr>
              <a:t>auth store + guard + persist</a:t>
            </a:r>
            <a:endParaRPr lang="en-US" sz="1150" dirty="0"/>
          </a:p>
        </p:txBody>
      </p:sp>
      <p:sp>
        <p:nvSpPr>
          <p:cNvPr id="40" name="Text 37"/>
          <p:cNvSpPr/>
          <p:nvPr/>
        </p:nvSpPr>
        <p:spPr>
          <a:xfrm>
            <a:off x="6583680" y="4727448"/>
            <a:ext cx="1024128" cy="365760"/>
          </a:xfrm>
          <a:prstGeom prst="rect">
            <a:avLst/>
          </a:prstGeom>
          <a:noFill/>
          <a:ln/>
        </p:spPr>
        <p:txBody>
          <a:bodyPr wrap="square" lIns="0" tIns="0" rIns="0" bIns="0" rtlCol="0" anchor="ctr"/>
          <a:lstStyle/>
          <a:p>
            <a:pPr marL="0" indent="0" algn="l">
              <a:buNone/>
            </a:pPr>
            <a:r>
              <a:rPr lang="en-US" sz="1050" b="1" dirty="0">
                <a:solidFill>
                  <a:srgbClr val="35495E"/>
                </a:solidFill>
                <a:latin typeface="Courier New" pitchFamily="34" charset="0"/>
                <a:ea typeface="Courier New" pitchFamily="34" charset="-122"/>
                <a:cs typeface="Courier New" pitchFamily="34" charset="-120"/>
              </a:rPr>
              <a:t>67–80</a:t>
            </a:r>
            <a:endParaRPr lang="en-US" sz="1050" dirty="0"/>
          </a:p>
        </p:txBody>
      </p:sp>
      <p:sp>
        <p:nvSpPr>
          <p:cNvPr id="41" name="Text 38"/>
          <p:cNvSpPr/>
          <p:nvPr/>
        </p:nvSpPr>
        <p:spPr>
          <a:xfrm>
            <a:off x="7644384" y="4727448"/>
            <a:ext cx="3758184" cy="365760"/>
          </a:xfrm>
          <a:prstGeom prst="rect">
            <a:avLst/>
          </a:prstGeom>
          <a:noFill/>
          <a:ln/>
        </p:spPr>
        <p:txBody>
          <a:bodyPr wrap="square" lIns="0" tIns="0" rIns="0" bIns="0" rtlCol="0" anchor="ctr"/>
          <a:lstStyle/>
          <a:p>
            <a:pPr marL="0" indent="0" algn="l">
              <a:buNone/>
            </a:pPr>
            <a:r>
              <a:rPr lang="en-US" sz="1150" b="1" dirty="0">
                <a:solidFill>
                  <a:srgbClr val="2C3E50"/>
                </a:solidFill>
                <a:latin typeface="Calibri" pitchFamily="34" charset="0"/>
                <a:ea typeface="Calibri" pitchFamily="34" charset="-122"/>
                <a:cs typeface="Calibri" pitchFamily="34" charset="-120"/>
              </a:rPr>
              <a:t>Practice  </a:t>
            </a:r>
            <a:r>
              <a:rPr lang="en-US" sz="1150" dirty="0">
                <a:solidFill>
                  <a:srgbClr val="6B7C8C"/>
                </a:solidFill>
                <a:latin typeface="Calibri" pitchFamily="34" charset="0"/>
                <a:ea typeface="Calibri" pitchFamily="34" charset="-122"/>
                <a:cs typeface="Calibri" pitchFamily="34" charset="-120"/>
              </a:rPr>
              <a:t>wire auth into Job Board</a:t>
            </a:r>
            <a:endParaRPr lang="en-US" sz="1150" dirty="0"/>
          </a:p>
        </p:txBody>
      </p:sp>
      <p:sp>
        <p:nvSpPr>
          <p:cNvPr id="42" name="Text 39"/>
          <p:cNvSpPr/>
          <p:nvPr/>
        </p:nvSpPr>
        <p:spPr>
          <a:xfrm>
            <a:off x="6583680" y="5175504"/>
            <a:ext cx="1024128" cy="365760"/>
          </a:xfrm>
          <a:prstGeom prst="rect">
            <a:avLst/>
          </a:prstGeom>
          <a:noFill/>
          <a:ln/>
        </p:spPr>
        <p:txBody>
          <a:bodyPr wrap="square" lIns="0" tIns="0" rIns="0" bIns="0" rtlCol="0" anchor="ctr"/>
          <a:lstStyle/>
          <a:p>
            <a:pPr marL="0" indent="0" algn="l">
              <a:buNone/>
            </a:pPr>
            <a:r>
              <a:rPr lang="en-US" sz="1050" b="1" dirty="0">
                <a:solidFill>
                  <a:srgbClr val="35495E"/>
                </a:solidFill>
                <a:latin typeface="Courier New" pitchFamily="34" charset="0"/>
                <a:ea typeface="Courier New" pitchFamily="34" charset="-122"/>
                <a:cs typeface="Courier New" pitchFamily="34" charset="-120"/>
              </a:rPr>
              <a:t>80–85</a:t>
            </a:r>
            <a:endParaRPr lang="en-US" sz="1050" dirty="0"/>
          </a:p>
        </p:txBody>
      </p:sp>
      <p:sp>
        <p:nvSpPr>
          <p:cNvPr id="43" name="Text 40"/>
          <p:cNvSpPr/>
          <p:nvPr/>
        </p:nvSpPr>
        <p:spPr>
          <a:xfrm>
            <a:off x="7644384" y="5175504"/>
            <a:ext cx="3758184" cy="365760"/>
          </a:xfrm>
          <a:prstGeom prst="rect">
            <a:avLst/>
          </a:prstGeom>
          <a:noFill/>
          <a:ln/>
        </p:spPr>
        <p:txBody>
          <a:bodyPr wrap="square" lIns="0" tIns="0" rIns="0" bIns="0" rtlCol="0" anchor="ctr"/>
          <a:lstStyle/>
          <a:p>
            <a:pPr marL="0" indent="0" algn="l">
              <a:buNone/>
            </a:pPr>
            <a:r>
              <a:rPr lang="en-US" sz="1150" b="1" dirty="0">
                <a:solidFill>
                  <a:srgbClr val="2C3E50"/>
                </a:solidFill>
                <a:latin typeface="Calibri" pitchFamily="34" charset="0"/>
                <a:ea typeface="Calibri" pitchFamily="34" charset="-122"/>
                <a:cs typeface="Calibri" pitchFamily="34" charset="-120"/>
              </a:rPr>
              <a:t>Common Mistakes  </a:t>
            </a:r>
            <a:r>
              <a:rPr lang="en-US" sz="1150" dirty="0">
                <a:solidFill>
                  <a:srgbClr val="6B7C8C"/>
                </a:solidFill>
                <a:latin typeface="Calibri" pitchFamily="34" charset="0"/>
                <a:ea typeface="Calibri" pitchFamily="34" charset="-122"/>
                <a:cs typeface="Calibri" pitchFamily="34" charset="-120"/>
              </a:rPr>
              <a:t>circular deps · plugin order</a:t>
            </a:r>
            <a:endParaRPr lang="en-US" sz="1150" dirty="0"/>
          </a:p>
        </p:txBody>
      </p:sp>
      <p:sp>
        <p:nvSpPr>
          <p:cNvPr id="44" name="Text 41"/>
          <p:cNvSpPr/>
          <p:nvPr/>
        </p:nvSpPr>
        <p:spPr>
          <a:xfrm>
            <a:off x="6583680" y="5623560"/>
            <a:ext cx="1024128" cy="365760"/>
          </a:xfrm>
          <a:prstGeom prst="rect">
            <a:avLst/>
          </a:prstGeom>
          <a:noFill/>
          <a:ln/>
        </p:spPr>
        <p:txBody>
          <a:bodyPr wrap="square" lIns="0" tIns="0" rIns="0" bIns="0" rtlCol="0" anchor="ctr"/>
          <a:lstStyle/>
          <a:p>
            <a:pPr marL="0" indent="0" algn="l">
              <a:buNone/>
            </a:pPr>
            <a:r>
              <a:rPr lang="en-US" sz="1050" b="1" dirty="0">
                <a:solidFill>
                  <a:srgbClr val="35495E"/>
                </a:solidFill>
                <a:latin typeface="Courier New" pitchFamily="34" charset="0"/>
                <a:ea typeface="Courier New" pitchFamily="34" charset="-122"/>
                <a:cs typeface="Courier New" pitchFamily="34" charset="-120"/>
              </a:rPr>
              <a:t>85–90</a:t>
            </a:r>
            <a:endParaRPr lang="en-US" sz="1050" dirty="0"/>
          </a:p>
        </p:txBody>
      </p:sp>
      <p:sp>
        <p:nvSpPr>
          <p:cNvPr id="45" name="Text 42"/>
          <p:cNvSpPr/>
          <p:nvPr/>
        </p:nvSpPr>
        <p:spPr>
          <a:xfrm>
            <a:off x="7644384" y="5623560"/>
            <a:ext cx="3758184" cy="365760"/>
          </a:xfrm>
          <a:prstGeom prst="rect">
            <a:avLst/>
          </a:prstGeom>
          <a:noFill/>
          <a:ln/>
        </p:spPr>
        <p:txBody>
          <a:bodyPr wrap="square" lIns="0" tIns="0" rIns="0" bIns="0" rtlCol="0" anchor="ctr"/>
          <a:lstStyle/>
          <a:p>
            <a:pPr marL="0" indent="0" algn="l">
              <a:buNone/>
            </a:pPr>
            <a:r>
              <a:rPr lang="en-US" sz="1150" b="1" dirty="0">
                <a:solidFill>
                  <a:srgbClr val="2C3E50"/>
                </a:solidFill>
                <a:latin typeface="Calibri" pitchFamily="34" charset="0"/>
                <a:ea typeface="Calibri" pitchFamily="34" charset="-122"/>
                <a:cs typeface="Calibri" pitchFamily="34" charset="-120"/>
              </a:rPr>
              <a:t>Quiz + Wrap  </a:t>
            </a:r>
            <a:r>
              <a:rPr lang="en-US" sz="1150" dirty="0">
                <a:solidFill>
                  <a:srgbClr val="6B7C8C"/>
                </a:solidFill>
                <a:latin typeface="Calibri" pitchFamily="34" charset="0"/>
                <a:ea typeface="Calibri" pitchFamily="34" charset="-122"/>
                <a:cs typeface="Calibri" pitchFamily="34" charset="-120"/>
              </a:rPr>
              <a:t>5 Qs · combined HW</a:t>
            </a:r>
            <a:endParaRPr lang="en-US" sz="1150" dirty="0"/>
          </a:p>
        </p:txBody>
      </p:sp>
      <p:sp>
        <p:nvSpPr>
          <p:cNvPr id="46" name="Text 43"/>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47" name="Text 44"/>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Agenda</a:t>
            </a:r>
            <a:endParaRPr lang="en-US" sz="900" dirty="0"/>
          </a:p>
        </p:txBody>
      </p:sp>
      <p:sp>
        <p:nvSpPr>
          <p:cNvPr id="48" name="Text 45"/>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B38"/>
        </a:solidFill>
        <a:effectLst/>
      </p:bgPr>
    </p:bg>
    <p:spTree>
      <p:nvGrpSpPr>
        <p:cNvPr id="1" name=""/>
        <p:cNvGrpSpPr/>
        <p:nvPr/>
      </p:nvGrpSpPr>
      <p:grpSpPr>
        <a:xfrm>
          <a:off x="0" y="0"/>
          <a:ext cx="0" cy="0"/>
          <a:chOff x="0" y="0"/>
          <a:chExt cx="0" cy="0"/>
        </a:xfrm>
      </p:grpSpPr>
      <p:sp>
        <p:nvSpPr>
          <p:cNvPr id="2" name="Shape 0"/>
          <p:cNvSpPr/>
          <p:nvPr/>
        </p:nvSpPr>
        <p:spPr>
          <a:xfrm>
            <a:off x="9418320" y="-1463040"/>
            <a:ext cx="4206240" cy="4206240"/>
          </a:xfrm>
          <a:prstGeom prst="ellipse">
            <a:avLst/>
          </a:prstGeom>
          <a:solidFill>
            <a:srgbClr val="E0A21B">
              <a:alpha val="12000"/>
            </a:srgbClr>
          </a:solidFill>
          <a:ln/>
        </p:spPr>
      </p:sp>
      <p:sp>
        <p:nvSpPr>
          <p:cNvPr id="3" name="Shape 1"/>
          <p:cNvSpPr/>
          <p:nvPr/>
        </p:nvSpPr>
        <p:spPr>
          <a:xfrm>
            <a:off x="10424160" y="4480560"/>
            <a:ext cx="3291840" cy="3291840"/>
          </a:xfrm>
          <a:prstGeom prst="ellipse">
            <a:avLst/>
          </a:prstGeom>
          <a:solidFill>
            <a:srgbClr val="42B883">
              <a:alpha val="22000"/>
            </a:srgbClr>
          </a:solidFill>
          <a:ln/>
        </p:spPr>
      </p:sp>
      <p:sp>
        <p:nvSpPr>
          <p:cNvPr id="4" name="Text 2"/>
          <p:cNvSpPr/>
          <p:nvPr/>
        </p:nvSpPr>
        <p:spPr>
          <a:xfrm>
            <a:off x="822960" y="2331720"/>
            <a:ext cx="7315200" cy="457200"/>
          </a:xfrm>
          <a:prstGeom prst="rect">
            <a:avLst/>
          </a:prstGeom>
          <a:noFill/>
          <a:ln/>
        </p:spPr>
        <p:txBody>
          <a:bodyPr wrap="square" lIns="0" tIns="0" rIns="0" bIns="0" rtlCol="0" anchor="ctr"/>
          <a:lstStyle/>
          <a:p>
            <a:pPr marL="0" indent="0">
              <a:buNone/>
            </a:pPr>
            <a:r>
              <a:rPr lang="en-US" sz="2000" b="1" kern="0" spc="600" dirty="0">
                <a:solidFill>
                  <a:srgbClr val="E0A21B"/>
                </a:solidFill>
                <a:latin typeface="Calibri" pitchFamily="34" charset="0"/>
                <a:ea typeface="Calibri" pitchFamily="34" charset="-122"/>
                <a:cs typeface="Calibri" pitchFamily="34" charset="-120"/>
              </a:rPr>
              <a:t>SESSION 10</a:t>
            </a:r>
            <a:endParaRPr lang="en-US" sz="2000" dirty="0"/>
          </a:p>
        </p:txBody>
      </p:sp>
      <p:sp>
        <p:nvSpPr>
          <p:cNvPr id="5" name="Text 3"/>
          <p:cNvSpPr/>
          <p:nvPr/>
        </p:nvSpPr>
        <p:spPr>
          <a:xfrm>
            <a:off x="777240" y="2743200"/>
            <a:ext cx="8686800" cy="914400"/>
          </a:xfrm>
          <a:prstGeom prst="rect">
            <a:avLst/>
          </a:prstGeom>
          <a:noFill/>
          <a:ln/>
        </p:spPr>
        <p:txBody>
          <a:bodyPr wrap="square" lIns="0" tIns="0" rIns="0" bIns="0"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Pinia Fundamentals</a:t>
            </a:r>
            <a:endParaRPr lang="en-US" sz="5000" dirty="0"/>
          </a:p>
        </p:txBody>
      </p:sp>
      <p:sp>
        <p:nvSpPr>
          <p:cNvPr id="6" name="Text 4"/>
          <p:cNvSpPr/>
          <p:nvPr/>
        </p:nvSpPr>
        <p:spPr>
          <a:xfrm>
            <a:off x="822960" y="3794760"/>
            <a:ext cx="7772400" cy="457200"/>
          </a:xfrm>
          <a:prstGeom prst="rect">
            <a:avLst/>
          </a:prstGeom>
          <a:noFill/>
          <a:ln/>
        </p:spPr>
        <p:txBody>
          <a:bodyPr wrap="square" lIns="0" tIns="0" rIns="0" bIns="0" rtlCol="0" anchor="ctr"/>
          <a:lstStyle/>
          <a:p>
            <a:pPr marL="0" indent="0">
              <a:buNone/>
            </a:pPr>
            <a:r>
              <a:rPr lang="en-US" sz="1800" dirty="0">
                <a:solidFill>
                  <a:srgbClr val="C7D4DE"/>
                </a:solidFill>
                <a:latin typeface="Calibri" pitchFamily="34" charset="0"/>
                <a:ea typeface="Calibri" pitchFamily="34" charset="-122"/>
                <a:cs typeface="Calibri" pitchFamily="34" charset="-120"/>
              </a:rPr>
              <a:t>Why global state, defineStore, state · getters · actions.</a:t>
            </a:r>
            <a:endParaRPr lang="en-US" sz="1800" dirty="0"/>
          </a:p>
        </p:txBody>
      </p:sp>
      <p:sp>
        <p:nvSpPr>
          <p:cNvPr id="7" name="Shape 5"/>
          <p:cNvSpPr/>
          <p:nvPr/>
        </p:nvSpPr>
        <p:spPr>
          <a:xfrm>
            <a:off x="868680" y="4608576"/>
            <a:ext cx="237744" cy="237744"/>
          </a:xfrm>
          <a:prstGeom prst="ellipse">
            <a:avLst/>
          </a:prstGeom>
          <a:solidFill>
            <a:srgbClr val="E0A21B"/>
          </a:solidFill>
          <a:ln/>
        </p:spPr>
      </p:sp>
      <p:pic>
        <p:nvPicPr>
          <p:cNvPr id="8" name="Image 0" descr="preencoded.png"/>
          <p:cNvPicPr>
            <a:picLocks noChangeAspect="1"/>
          </p:cNvPicPr>
          <p:nvPr/>
        </p:nvPicPr>
        <p:blipFill>
          <a:blip r:embed="rId3"/>
          <a:stretch>
            <a:fillRect/>
          </a:stretch>
        </p:blipFill>
        <p:spPr>
          <a:xfrm>
            <a:off x="914400" y="4654296"/>
            <a:ext cx="146304" cy="146304"/>
          </a:xfrm>
          <a:prstGeom prst="rect">
            <a:avLst/>
          </a:prstGeom>
        </p:spPr>
      </p:pic>
      <p:sp>
        <p:nvSpPr>
          <p:cNvPr id="9" name="Text 6"/>
          <p:cNvSpPr/>
          <p:nvPr/>
        </p:nvSpPr>
        <p:spPr>
          <a:xfrm>
            <a:off x="1280160" y="4526280"/>
            <a:ext cx="8229600" cy="384048"/>
          </a:xfrm>
          <a:prstGeom prst="rect">
            <a:avLst/>
          </a:prstGeom>
          <a:noFill/>
          <a:ln/>
        </p:spPr>
        <p:txBody>
          <a:bodyPr wrap="square" lIns="0" tIns="0" rIns="0" bIns="0" rtlCol="0" anchor="ctr"/>
          <a:lstStyle/>
          <a:p>
            <a:pPr marL="0" indent="0" algn="l">
              <a:buNone/>
            </a:pPr>
            <a:r>
              <a:rPr lang="en-US" sz="1450" dirty="0">
                <a:solidFill>
                  <a:srgbClr val="DCE6EC"/>
                </a:solidFill>
                <a:latin typeface="Calibri" pitchFamily="34" charset="0"/>
                <a:ea typeface="Calibri" pitchFamily="34" charset="-122"/>
                <a:cs typeface="Calibri" pitchFamily="34" charset="-120"/>
              </a:rPr>
              <a:t>Feel the pain of prop drilling — then the cure</a:t>
            </a:r>
            <a:endParaRPr lang="en-US" sz="1450" dirty="0"/>
          </a:p>
        </p:txBody>
      </p:sp>
      <p:sp>
        <p:nvSpPr>
          <p:cNvPr id="10" name="Shape 7"/>
          <p:cNvSpPr/>
          <p:nvPr/>
        </p:nvSpPr>
        <p:spPr>
          <a:xfrm>
            <a:off x="868680" y="5065776"/>
            <a:ext cx="237744" cy="237744"/>
          </a:xfrm>
          <a:prstGeom prst="ellipse">
            <a:avLst/>
          </a:prstGeom>
          <a:solidFill>
            <a:srgbClr val="E0A21B"/>
          </a:solidFill>
          <a:ln/>
        </p:spPr>
      </p:sp>
      <p:pic>
        <p:nvPicPr>
          <p:cNvPr id="11" name="Image 1" descr="preencoded.png"/>
          <p:cNvPicPr>
            <a:picLocks noChangeAspect="1"/>
          </p:cNvPicPr>
          <p:nvPr/>
        </p:nvPicPr>
        <p:blipFill>
          <a:blip r:embed="rId3"/>
          <a:stretch>
            <a:fillRect/>
          </a:stretch>
        </p:blipFill>
        <p:spPr>
          <a:xfrm>
            <a:off x="914400" y="5111496"/>
            <a:ext cx="146304" cy="146304"/>
          </a:xfrm>
          <a:prstGeom prst="rect">
            <a:avLst/>
          </a:prstGeom>
        </p:spPr>
      </p:pic>
      <p:sp>
        <p:nvSpPr>
          <p:cNvPr id="12" name="Text 8"/>
          <p:cNvSpPr/>
          <p:nvPr/>
        </p:nvSpPr>
        <p:spPr>
          <a:xfrm>
            <a:off x="1280160" y="4983480"/>
            <a:ext cx="8229600" cy="384048"/>
          </a:xfrm>
          <a:prstGeom prst="rect">
            <a:avLst/>
          </a:prstGeom>
          <a:noFill/>
          <a:ln/>
        </p:spPr>
        <p:txBody>
          <a:bodyPr wrap="square" lIns="0" tIns="0" rIns="0" bIns="0" rtlCol="0" anchor="ctr"/>
          <a:lstStyle/>
          <a:p>
            <a:pPr marL="0" indent="0" algn="l">
              <a:buNone/>
            </a:pPr>
            <a:r>
              <a:rPr lang="en-US" sz="1450" dirty="0">
                <a:solidFill>
                  <a:srgbClr val="DCE6EC"/>
                </a:solidFill>
                <a:latin typeface="Calibri" pitchFamily="34" charset="0"/>
                <a:ea typeface="Calibri" pitchFamily="34" charset="-122"/>
                <a:cs typeface="Calibri" pitchFamily="34" charset="-120"/>
              </a:rPr>
              <a:t>Define a store and consume it anywhere</a:t>
            </a:r>
            <a:endParaRPr lang="en-US" sz="1450" dirty="0"/>
          </a:p>
        </p:txBody>
      </p:sp>
      <p:sp>
        <p:nvSpPr>
          <p:cNvPr id="13" name="Shape 9"/>
          <p:cNvSpPr/>
          <p:nvPr/>
        </p:nvSpPr>
        <p:spPr>
          <a:xfrm>
            <a:off x="868680" y="5522976"/>
            <a:ext cx="237744" cy="237744"/>
          </a:xfrm>
          <a:prstGeom prst="ellipse">
            <a:avLst/>
          </a:prstGeom>
          <a:solidFill>
            <a:srgbClr val="E0A21B"/>
          </a:solidFill>
          <a:ln/>
        </p:spPr>
      </p:sp>
      <p:pic>
        <p:nvPicPr>
          <p:cNvPr id="14" name="Image 2" descr="preencoded.png"/>
          <p:cNvPicPr>
            <a:picLocks noChangeAspect="1"/>
          </p:cNvPicPr>
          <p:nvPr/>
        </p:nvPicPr>
        <p:blipFill>
          <a:blip r:embed="rId3"/>
          <a:stretch>
            <a:fillRect/>
          </a:stretch>
        </p:blipFill>
        <p:spPr>
          <a:xfrm>
            <a:off x="914400" y="5568696"/>
            <a:ext cx="146304" cy="146304"/>
          </a:xfrm>
          <a:prstGeom prst="rect">
            <a:avLst/>
          </a:prstGeom>
        </p:spPr>
      </p:pic>
      <p:sp>
        <p:nvSpPr>
          <p:cNvPr id="15" name="Text 10"/>
          <p:cNvSpPr/>
          <p:nvPr/>
        </p:nvSpPr>
        <p:spPr>
          <a:xfrm>
            <a:off x="1280160" y="5440680"/>
            <a:ext cx="8229600" cy="384048"/>
          </a:xfrm>
          <a:prstGeom prst="rect">
            <a:avLst/>
          </a:prstGeom>
          <a:noFill/>
          <a:ln/>
        </p:spPr>
        <p:txBody>
          <a:bodyPr wrap="square" lIns="0" tIns="0" rIns="0" bIns="0" rtlCol="0" anchor="ctr"/>
          <a:lstStyle/>
          <a:p>
            <a:pPr marL="0" indent="0" algn="l">
              <a:buNone/>
            </a:pPr>
            <a:r>
              <a:rPr lang="en-US" sz="1450" dirty="0">
                <a:solidFill>
                  <a:srgbClr val="DCE6EC"/>
                </a:solidFill>
                <a:latin typeface="Calibri" pitchFamily="34" charset="0"/>
                <a:ea typeface="Calibri" pitchFamily="34" charset="-122"/>
                <a:cs typeface="Calibri" pitchFamily="34" charset="-120"/>
              </a:rPr>
              <a:t>Mutate cleanly with actions, $patch &amp; $reset</a:t>
            </a:r>
            <a:endParaRPr lang="en-US" sz="1450" dirty="0"/>
          </a:p>
        </p:txBody>
      </p:sp>
      <p:sp>
        <p:nvSpPr>
          <p:cNvPr id="16" name="Shape 11"/>
          <p:cNvSpPr/>
          <p:nvPr/>
        </p:nvSpPr>
        <p:spPr>
          <a:xfrm>
            <a:off x="9144000" y="2240280"/>
            <a:ext cx="2103120" cy="2103120"/>
          </a:xfrm>
          <a:prstGeom prst="ellipse">
            <a:avLst/>
          </a:prstGeom>
          <a:solidFill>
            <a:srgbClr val="E0A21B"/>
          </a:solidFill>
          <a:ln/>
          <a:effectLst>
            <a:outerShdw blurRad="114300" dist="38100" dir="5400000" algn="bl" rotWithShape="0">
              <a:srgbClr val="1E2B38">
                <a:alpha val="16000"/>
              </a:srgbClr>
            </a:outerShdw>
          </a:effectLst>
        </p:spPr>
      </p:sp>
      <p:pic>
        <p:nvPicPr>
          <p:cNvPr id="17" name="Image 3" descr="preencoded.png"/>
          <p:cNvPicPr>
            <a:picLocks noChangeAspect="1"/>
          </p:cNvPicPr>
          <p:nvPr/>
        </p:nvPicPr>
        <p:blipFill>
          <a:blip r:embed="rId4"/>
          <a:stretch>
            <a:fillRect/>
          </a:stretch>
        </p:blipFill>
        <p:spPr>
          <a:xfrm>
            <a:off x="9710928" y="2807208"/>
            <a:ext cx="969264" cy="969264"/>
          </a:xfrm>
          <a:prstGeom prst="rect">
            <a:avLst/>
          </a:prstGeom>
        </p:spPr>
      </p:pic>
      <p:sp>
        <p:nvSpPr>
          <p:cNvPr id="18" name="Text 12"/>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19" name="Text 13"/>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Session 10</a:t>
            </a:r>
            <a:endParaRPr lang="en-US" sz="900" dirty="0"/>
          </a:p>
        </p:txBody>
      </p:sp>
      <p:sp>
        <p:nvSpPr>
          <p:cNvPr id="20" name="Text 14"/>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E0922F"/>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C77F22"/>
                </a:solidFill>
                <a:latin typeface="Calibri" pitchFamily="34" charset="0"/>
                <a:ea typeface="Calibri" pitchFamily="34" charset="-122"/>
                <a:cs typeface="Calibri" pitchFamily="34" charset="-120"/>
              </a:rPr>
              <a:t>WARM-UP · 0:00–8:00 · PAIRS</a:t>
            </a:r>
            <a:endParaRPr lang="en-US" sz="1200" dirty="0"/>
          </a:p>
        </p:txBody>
      </p:sp>
      <p:sp>
        <p:nvSpPr>
          <p:cNvPr id="5" name="Text 2"/>
          <p:cNvSpPr/>
          <p:nvPr/>
        </p:nvSpPr>
        <p:spPr>
          <a:xfrm>
            <a:off x="1298448" y="713232"/>
            <a:ext cx="10058400" cy="566928"/>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Prop Drilling Pain</a:t>
            </a:r>
            <a:endParaRPr lang="en-US" sz="2800" dirty="0"/>
          </a:p>
        </p:txBody>
      </p:sp>
      <p:sp>
        <p:nvSpPr>
          <p:cNvPr id="6" name="Shape 3"/>
          <p:cNvSpPr/>
          <p:nvPr/>
        </p:nvSpPr>
        <p:spPr>
          <a:xfrm>
            <a:off x="548640" y="1463040"/>
            <a:ext cx="6537960" cy="3703320"/>
          </a:xfrm>
          <a:prstGeom prst="roundRect">
            <a:avLst>
              <a:gd name="adj" fmla="val 2222"/>
            </a:avLst>
          </a:prstGeom>
          <a:solidFill>
            <a:srgbClr val="1B2832"/>
          </a:solidFill>
          <a:ln/>
          <a:effectLst>
            <a:outerShdw blurRad="114300" dist="38100" dir="5400000" algn="bl" rotWithShape="0">
              <a:srgbClr val="1E2B38">
                <a:alpha val="16000"/>
              </a:srgbClr>
            </a:outerShdw>
          </a:effectLst>
        </p:spPr>
      </p:sp>
      <p:sp>
        <p:nvSpPr>
          <p:cNvPr id="7" name="Text 4"/>
          <p:cNvSpPr/>
          <p:nvPr/>
        </p:nvSpPr>
        <p:spPr>
          <a:xfrm>
            <a:off x="777240" y="1627632"/>
            <a:ext cx="6126480" cy="3383280"/>
          </a:xfrm>
          <a:prstGeom prst="rect">
            <a:avLst/>
          </a:prstGeom>
          <a:noFill/>
          <a:ln/>
        </p:spPr>
        <p:txBody>
          <a:bodyPr wrap="square" lIns="0" tIns="0" rIns="0" bIns="0" rtlCol="0" anchor="t"/>
          <a:lstStyle/>
          <a:p>
            <a:pPr marL="0" indent="0" algn="l">
              <a:lnSpc>
                <a:spcPts val="1850"/>
              </a:lnSpc>
              <a:buNone/>
            </a:pPr>
            <a:r>
              <a:rPr lang="en-US" sz="1150" dirty="0">
                <a:solidFill>
                  <a:srgbClr val="E7ECEF"/>
                </a:solidFill>
                <a:latin typeface="Courier New" pitchFamily="34" charset="0"/>
                <a:ea typeface="Courier New" pitchFamily="34" charset="-122"/>
                <a:cs typeface="Courier New" pitchFamily="34" charset="-120"/>
              </a:rPr>
              <a:t>App.vue</a:t>
            </a:r>
            <a:endParaRPr lang="en-US" sz="1150" dirty="0"/>
          </a:p>
          <a:p>
            <a:pPr marL="0" indent="0" algn="l">
              <a:lnSpc>
                <a:spcPts val="1850"/>
              </a:lnSpc>
              <a:buNone/>
            </a:pPr>
            <a:r>
              <a:rPr lang="en-US" sz="1150" dirty="0">
                <a:solidFill>
                  <a:srgbClr val="E89A92"/>
                </a:solidFill>
                <a:latin typeface="Courier New" pitchFamily="34" charset="0"/>
                <a:ea typeface="Courier New" pitchFamily="34" charset="-122"/>
                <a:cs typeface="Courier New" pitchFamily="34" charset="-120"/>
              </a:rPr>
              <a:t>└─ MainLayout.vue</a:t>
            </a:r>
            <a:endParaRPr lang="en-US" sz="1150" dirty="0"/>
          </a:p>
          <a:p>
            <a:pPr marL="0" indent="0" algn="l">
              <a:lnSpc>
                <a:spcPts val="1850"/>
              </a:lnSpc>
              <a:buNone/>
            </a:pPr>
            <a:r>
              <a:rPr lang="en-US" sz="1150" dirty="0">
                <a:solidFill>
                  <a:srgbClr val="E89A92"/>
                </a:solidFill>
                <a:latin typeface="Courier New" pitchFamily="34" charset="0"/>
                <a:ea typeface="Courier New" pitchFamily="34" charset="-122"/>
                <a:cs typeface="Courier New" pitchFamily="34" charset="-120"/>
              </a:rPr>
              <a:t>   └─ AppHeader.vue</a:t>
            </a:r>
            <a:endParaRPr lang="en-US" sz="1150" dirty="0"/>
          </a:p>
          <a:p>
            <a:pPr marL="0" indent="0" algn="l">
              <a:lnSpc>
                <a:spcPts val="1850"/>
              </a:lnSpc>
              <a:buNone/>
            </a:pPr>
            <a:r>
              <a:rPr lang="en-US" sz="1150" dirty="0">
                <a:solidFill>
                  <a:srgbClr val="E89A92"/>
                </a:solidFill>
                <a:latin typeface="Courier New" pitchFamily="34" charset="0"/>
                <a:ea typeface="Courier New" pitchFamily="34" charset="-122"/>
                <a:cs typeface="Courier New" pitchFamily="34" charset="-120"/>
              </a:rPr>
              <a:t>       └─ NavBar.vue</a:t>
            </a:r>
            <a:endParaRPr lang="en-US" sz="1150" dirty="0"/>
          </a:p>
          <a:p>
            <a:pPr marL="0" indent="0" algn="l">
              <a:lnSpc>
                <a:spcPts val="1850"/>
              </a:lnSpc>
              <a:buNone/>
            </a:pPr>
            <a:r>
              <a:rPr lang="en-US" sz="1150" dirty="0">
                <a:solidFill>
                  <a:srgbClr val="F2C94C"/>
                </a:solidFill>
                <a:latin typeface="Courier New" pitchFamily="34" charset="0"/>
                <a:ea typeface="Courier New" pitchFamily="34" charset="-122"/>
                <a:cs typeface="Courier New" pitchFamily="34" charset="-120"/>
              </a:rPr>
              <a:t>           └─ UserAvatar.vue  ← uses it</a:t>
            </a:r>
            <a:endParaRPr lang="en-US" sz="1150" dirty="0"/>
          </a:p>
          <a:p>
            <a:pPr marL="0" indent="0" algn="l">
              <a:lnSpc>
                <a:spcPts val="1850"/>
              </a:lnSpc>
              <a:buNone/>
            </a:pPr>
            <a:r>
              <a:rPr lang="en-US" sz="1150" dirty="0">
                <a:solidFill>
                  <a:srgbClr val="E89A92"/>
                </a:solidFill>
                <a:latin typeface="Courier New" pitchFamily="34" charset="0"/>
                <a:ea typeface="Courier New" pitchFamily="34" charset="-122"/>
                <a:cs typeface="Courier New" pitchFamily="34" charset="-120"/>
              </a:rPr>
              <a:t>└─ Sidebar.vue</a:t>
            </a:r>
            <a:endParaRPr lang="en-US" sz="1150" dirty="0"/>
          </a:p>
          <a:p>
            <a:pPr marL="0" indent="0" algn="l">
              <a:lnSpc>
                <a:spcPts val="1850"/>
              </a:lnSpc>
              <a:buNone/>
            </a:pPr>
            <a:r>
              <a:rPr lang="en-US" sz="1150" dirty="0">
                <a:solidFill>
                  <a:srgbClr val="E89A92"/>
                </a:solidFill>
                <a:latin typeface="Courier New" pitchFamily="34" charset="0"/>
                <a:ea typeface="Courier New" pitchFamily="34" charset="-122"/>
                <a:cs typeface="Courier New" pitchFamily="34" charset="-120"/>
              </a:rPr>
              <a:t>   └─ UserMenu.vue</a:t>
            </a:r>
            <a:endParaRPr lang="en-US" sz="1150" dirty="0"/>
          </a:p>
          <a:p>
            <a:pPr marL="0" indent="0" algn="l">
              <a:lnSpc>
                <a:spcPts val="1850"/>
              </a:lnSpc>
              <a:buNone/>
            </a:pPr>
            <a:r>
              <a:rPr lang="en-US" sz="1150" dirty="0">
                <a:solidFill>
                  <a:srgbClr val="F2C94C"/>
                </a:solidFill>
                <a:latin typeface="Courier New" pitchFamily="34" charset="0"/>
                <a:ea typeface="Courier New" pitchFamily="34" charset="-122"/>
                <a:cs typeface="Courier New" pitchFamily="34" charset="-120"/>
              </a:rPr>
              <a:t>       └─ UserAvatar.vue  ← again!</a:t>
            </a:r>
            <a:endParaRPr lang="en-US" sz="1150" dirty="0"/>
          </a:p>
        </p:txBody>
      </p:sp>
      <p:sp>
        <p:nvSpPr>
          <p:cNvPr id="8" name="Text 5"/>
          <p:cNvSpPr/>
          <p:nvPr/>
        </p:nvSpPr>
        <p:spPr>
          <a:xfrm>
            <a:off x="777240" y="4736592"/>
            <a:ext cx="6126480" cy="365760"/>
          </a:xfrm>
          <a:prstGeom prst="rect">
            <a:avLst/>
          </a:prstGeom>
          <a:noFill/>
          <a:ln/>
        </p:spPr>
        <p:txBody>
          <a:bodyPr wrap="square" lIns="0" tIns="0" rIns="0" bIns="0" rtlCol="0" anchor="ctr"/>
          <a:lstStyle/>
          <a:p>
            <a:pPr marL="0" indent="0" algn="l">
              <a:buNone/>
            </a:pPr>
            <a:r>
              <a:rPr lang="en-US" sz="1100" i="1" dirty="0">
                <a:solidFill>
                  <a:srgbClr val="9AAAB6"/>
                </a:solidFill>
                <a:latin typeface="Calibri" pitchFamily="34" charset="0"/>
                <a:ea typeface="Calibri" pitchFamily="34" charset="-122"/>
                <a:cs typeface="Calibri" pitchFamily="34" charset="-120"/>
              </a:rPr>
              <a:t>Goal: pass one isLoggedIn flag from App down to UserAvatar.</a:t>
            </a:r>
            <a:endParaRPr lang="en-US" sz="1100" dirty="0"/>
          </a:p>
        </p:txBody>
      </p:sp>
      <p:sp>
        <p:nvSpPr>
          <p:cNvPr id="9" name="Shape 6"/>
          <p:cNvSpPr/>
          <p:nvPr/>
        </p:nvSpPr>
        <p:spPr>
          <a:xfrm>
            <a:off x="7315200" y="1463040"/>
            <a:ext cx="4325112" cy="3703320"/>
          </a:xfrm>
          <a:prstGeom prst="roundRect">
            <a:avLst>
              <a:gd name="adj" fmla="val 2222"/>
            </a:avLst>
          </a:prstGeom>
          <a:solidFill>
            <a:srgbClr val="F4F7F9"/>
          </a:solidFill>
          <a:ln w="12700">
            <a:solidFill>
              <a:srgbClr val="DCE5EB"/>
            </a:solidFill>
            <a:prstDash val="solid"/>
          </a:ln>
          <a:effectLst>
            <a:outerShdw blurRad="88900" dist="25400" dir="5400000" algn="bl" rotWithShape="0">
              <a:srgbClr val="35495E">
                <a:alpha val="13000"/>
              </a:srgbClr>
            </a:outerShdw>
          </a:effectLst>
        </p:spPr>
      </p:sp>
      <p:sp>
        <p:nvSpPr>
          <p:cNvPr id="10" name="Text 7"/>
          <p:cNvSpPr/>
          <p:nvPr/>
        </p:nvSpPr>
        <p:spPr>
          <a:xfrm>
            <a:off x="7543800" y="1627632"/>
            <a:ext cx="3931920" cy="365760"/>
          </a:xfrm>
          <a:prstGeom prst="rect">
            <a:avLst/>
          </a:prstGeom>
          <a:noFill/>
          <a:ln/>
        </p:spPr>
        <p:txBody>
          <a:bodyPr wrap="square" lIns="0" tIns="0" rIns="0" bIns="0" rtlCol="0" anchor="ctr"/>
          <a:lstStyle/>
          <a:p>
            <a:pPr marL="0" indent="0" algn="l">
              <a:buNone/>
            </a:pPr>
            <a:r>
              <a:rPr lang="en-US" sz="1350" b="1" dirty="0">
                <a:solidFill>
                  <a:srgbClr val="A6760C"/>
                </a:solidFill>
                <a:latin typeface="Calibri" pitchFamily="34" charset="0"/>
                <a:ea typeface="Calibri" pitchFamily="34" charset="-122"/>
                <a:cs typeface="Calibri" pitchFamily="34" charset="-120"/>
              </a:rPr>
              <a:t>Discuss in pairs (2 min)</a:t>
            </a:r>
            <a:endParaRPr lang="en-US" sz="1350" dirty="0"/>
          </a:p>
        </p:txBody>
      </p:sp>
      <p:sp>
        <p:nvSpPr>
          <p:cNvPr id="11" name="Shape 8"/>
          <p:cNvSpPr/>
          <p:nvPr/>
        </p:nvSpPr>
        <p:spPr>
          <a:xfrm>
            <a:off x="7543800" y="2139696"/>
            <a:ext cx="256032" cy="256032"/>
          </a:xfrm>
          <a:prstGeom prst="ellipse">
            <a:avLst/>
          </a:prstGeom>
          <a:solidFill>
            <a:srgbClr val="E0A21B"/>
          </a:solidFill>
          <a:ln/>
        </p:spPr>
      </p:sp>
      <p:sp>
        <p:nvSpPr>
          <p:cNvPr id="12" name="Text 9"/>
          <p:cNvSpPr/>
          <p:nvPr/>
        </p:nvSpPr>
        <p:spPr>
          <a:xfrm>
            <a:off x="7543800" y="2139696"/>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10"/>
          <p:cNvSpPr/>
          <p:nvPr/>
        </p:nvSpPr>
        <p:spPr>
          <a:xfrm>
            <a:off x="7909560" y="2075688"/>
            <a:ext cx="3566160" cy="640080"/>
          </a:xfrm>
          <a:prstGeom prst="rect">
            <a:avLst/>
          </a:prstGeom>
          <a:noFill/>
          <a:ln/>
        </p:spPr>
        <p:txBody>
          <a:bodyPr wrap="square" lIns="0" tIns="0" rIns="0" bIns="0" rtlCol="0" anchor="t"/>
          <a:lstStyle/>
          <a:p>
            <a:pPr marL="0" indent="0" algn="l">
              <a:lnSpc>
                <a:spcPts val="1400"/>
              </a:lnSpc>
              <a:buNone/>
            </a:pPr>
            <a:r>
              <a:rPr lang="en-US" sz="1200" dirty="0">
                <a:solidFill>
                  <a:srgbClr val="2C3E50"/>
                </a:solidFill>
                <a:latin typeface="Calibri" pitchFamily="34" charset="0"/>
                <a:ea typeface="Calibri" pitchFamily="34" charset="-122"/>
                <a:cs typeface="Calibri" pitchFamily="34" charset="-120"/>
              </a:rPr>
              <a:t>How many files need the prop added — just to serve one avatar?</a:t>
            </a:r>
            <a:endParaRPr lang="en-US" sz="1200" dirty="0"/>
          </a:p>
        </p:txBody>
      </p:sp>
      <p:sp>
        <p:nvSpPr>
          <p:cNvPr id="14" name="Shape 11"/>
          <p:cNvSpPr/>
          <p:nvPr/>
        </p:nvSpPr>
        <p:spPr>
          <a:xfrm>
            <a:off x="7543800" y="2898648"/>
            <a:ext cx="256032" cy="256032"/>
          </a:xfrm>
          <a:prstGeom prst="ellipse">
            <a:avLst/>
          </a:prstGeom>
          <a:solidFill>
            <a:srgbClr val="E0A21B"/>
          </a:solidFill>
          <a:ln/>
        </p:spPr>
      </p:sp>
      <p:sp>
        <p:nvSpPr>
          <p:cNvPr id="15" name="Text 12"/>
          <p:cNvSpPr/>
          <p:nvPr/>
        </p:nvSpPr>
        <p:spPr>
          <a:xfrm>
            <a:off x="7543800" y="2898648"/>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7909560" y="2834640"/>
            <a:ext cx="3566160" cy="640080"/>
          </a:xfrm>
          <a:prstGeom prst="rect">
            <a:avLst/>
          </a:prstGeom>
          <a:noFill/>
          <a:ln/>
        </p:spPr>
        <p:txBody>
          <a:bodyPr wrap="square" lIns="0" tIns="0" rIns="0" bIns="0" rtlCol="0" anchor="t"/>
          <a:lstStyle/>
          <a:p>
            <a:pPr marL="0" indent="0" algn="l">
              <a:lnSpc>
                <a:spcPts val="1400"/>
              </a:lnSpc>
              <a:buNone/>
            </a:pPr>
            <a:r>
              <a:rPr lang="en-US" sz="1200" dirty="0">
                <a:solidFill>
                  <a:srgbClr val="2C3E50"/>
                </a:solidFill>
                <a:latin typeface="Calibri" pitchFamily="34" charset="0"/>
                <a:ea typeface="Calibri" pitchFamily="34" charset="-122"/>
                <a:cs typeface="Calibri" pitchFamily="34" charset="-120"/>
              </a:rPr>
              <a:t>What breaks when the prop type changes from Boolean to Object?</a:t>
            </a:r>
            <a:endParaRPr lang="en-US" sz="1200" dirty="0"/>
          </a:p>
        </p:txBody>
      </p:sp>
      <p:sp>
        <p:nvSpPr>
          <p:cNvPr id="17" name="Shape 14"/>
          <p:cNvSpPr/>
          <p:nvPr/>
        </p:nvSpPr>
        <p:spPr>
          <a:xfrm>
            <a:off x="7543800" y="3657600"/>
            <a:ext cx="256032" cy="256032"/>
          </a:xfrm>
          <a:prstGeom prst="ellipse">
            <a:avLst/>
          </a:prstGeom>
          <a:solidFill>
            <a:srgbClr val="E0A21B"/>
          </a:solidFill>
          <a:ln/>
        </p:spPr>
      </p:sp>
      <p:sp>
        <p:nvSpPr>
          <p:cNvPr id="18" name="Text 15"/>
          <p:cNvSpPr/>
          <p:nvPr/>
        </p:nvSpPr>
        <p:spPr>
          <a:xfrm>
            <a:off x="7543800" y="3657600"/>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p:nvPr/>
        </p:nvSpPr>
        <p:spPr>
          <a:xfrm>
            <a:off x="7909560" y="3593592"/>
            <a:ext cx="3566160" cy="640080"/>
          </a:xfrm>
          <a:prstGeom prst="rect">
            <a:avLst/>
          </a:prstGeom>
          <a:noFill/>
          <a:ln/>
        </p:spPr>
        <p:txBody>
          <a:bodyPr wrap="square" lIns="0" tIns="0" rIns="0" bIns="0" rtlCol="0" anchor="t"/>
          <a:lstStyle/>
          <a:p>
            <a:pPr marL="0" indent="0" algn="l">
              <a:lnSpc>
                <a:spcPts val="1400"/>
              </a:lnSpc>
              <a:buNone/>
            </a:pPr>
            <a:r>
              <a:rPr lang="en-US" sz="1200" dirty="0">
                <a:solidFill>
                  <a:srgbClr val="2C3E50"/>
                </a:solidFill>
                <a:latin typeface="Calibri" pitchFamily="34" charset="0"/>
                <a:ea typeface="Calibri" pitchFamily="34" charset="-122"/>
                <a:cs typeface="Calibri" pitchFamily="34" charset="-120"/>
              </a:rPr>
              <a:t>What if 15 unrelated components need the same data?</a:t>
            </a:r>
            <a:endParaRPr lang="en-US" sz="1200" dirty="0"/>
          </a:p>
        </p:txBody>
      </p:sp>
      <p:sp>
        <p:nvSpPr>
          <p:cNvPr id="20" name="Shape 17"/>
          <p:cNvSpPr/>
          <p:nvPr/>
        </p:nvSpPr>
        <p:spPr>
          <a:xfrm>
            <a:off x="7543800" y="4416552"/>
            <a:ext cx="256032" cy="256032"/>
          </a:xfrm>
          <a:prstGeom prst="ellipse">
            <a:avLst/>
          </a:prstGeom>
          <a:solidFill>
            <a:srgbClr val="E0A21B"/>
          </a:solidFill>
          <a:ln/>
        </p:spPr>
      </p:sp>
      <p:sp>
        <p:nvSpPr>
          <p:cNvPr id="21" name="Text 18"/>
          <p:cNvSpPr/>
          <p:nvPr/>
        </p:nvSpPr>
        <p:spPr>
          <a:xfrm>
            <a:off x="7543800" y="4416552"/>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19"/>
          <p:cNvSpPr/>
          <p:nvPr/>
        </p:nvSpPr>
        <p:spPr>
          <a:xfrm>
            <a:off x="7909560" y="4352544"/>
            <a:ext cx="3566160" cy="640080"/>
          </a:xfrm>
          <a:prstGeom prst="rect">
            <a:avLst/>
          </a:prstGeom>
          <a:noFill/>
          <a:ln/>
        </p:spPr>
        <p:txBody>
          <a:bodyPr wrap="square" lIns="0" tIns="0" rIns="0" bIns="0" rtlCol="0" anchor="t"/>
          <a:lstStyle/>
          <a:p>
            <a:pPr marL="0" indent="0" algn="l">
              <a:lnSpc>
                <a:spcPts val="1400"/>
              </a:lnSpc>
              <a:buNone/>
            </a:pPr>
            <a:r>
              <a:rPr lang="en-US" sz="1200" dirty="0">
                <a:solidFill>
                  <a:srgbClr val="2C3E50"/>
                </a:solidFill>
                <a:latin typeface="Calibri" pitchFamily="34" charset="0"/>
                <a:ea typeface="Calibri" pitchFamily="34" charset="-122"/>
                <a:cs typeface="Calibri" pitchFamily="34" charset="-120"/>
              </a:rPr>
              <a:t>Is there a better way?</a:t>
            </a:r>
            <a:endParaRPr lang="en-US" sz="1200" dirty="0"/>
          </a:p>
        </p:txBody>
      </p:sp>
      <p:sp>
        <p:nvSpPr>
          <p:cNvPr id="23" name="Shape 20"/>
          <p:cNvSpPr/>
          <p:nvPr/>
        </p:nvSpPr>
        <p:spPr>
          <a:xfrm>
            <a:off x="548640" y="5349240"/>
            <a:ext cx="11091672" cy="1152144"/>
          </a:xfrm>
          <a:prstGeom prst="roundRect">
            <a:avLst>
              <a:gd name="adj" fmla="val 5556"/>
            </a:avLst>
          </a:prstGeom>
          <a:solidFill>
            <a:srgbClr val="EAF0F6"/>
          </a:solidFill>
          <a:ln/>
          <a:effectLst>
            <a:outerShdw blurRad="88900" dist="25400" dir="5400000" algn="bl" rotWithShape="0">
              <a:srgbClr val="35495E">
                <a:alpha val="13000"/>
              </a:srgbClr>
            </a:outerShdw>
          </a:effectLst>
        </p:spPr>
      </p:sp>
      <p:sp>
        <p:nvSpPr>
          <p:cNvPr id="24" name="Shape 21"/>
          <p:cNvSpPr/>
          <p:nvPr/>
        </p:nvSpPr>
        <p:spPr>
          <a:xfrm>
            <a:off x="749808" y="5550408"/>
            <a:ext cx="457200" cy="457200"/>
          </a:xfrm>
          <a:prstGeom prst="ellipse">
            <a:avLst/>
          </a:prstGeom>
          <a:solidFill>
            <a:srgbClr val="35495E"/>
          </a:solidFill>
          <a:ln/>
          <a:effectLst>
            <a:outerShdw blurRad="88900" dist="25400" dir="5400000" algn="bl" rotWithShape="0">
              <a:srgbClr val="35495E">
                <a:alpha val="13000"/>
              </a:srgbClr>
            </a:outerShdw>
          </a:effectLst>
        </p:spPr>
      </p:sp>
      <p:pic>
        <p:nvPicPr>
          <p:cNvPr id="25" name="Image 1" descr="preencoded.png"/>
          <p:cNvPicPr>
            <a:picLocks noChangeAspect="1"/>
          </p:cNvPicPr>
          <p:nvPr/>
        </p:nvPicPr>
        <p:blipFill>
          <a:blip r:embed="rId4"/>
          <a:stretch>
            <a:fillRect/>
          </a:stretch>
        </p:blipFill>
        <p:spPr>
          <a:xfrm>
            <a:off x="873252" y="5673852"/>
            <a:ext cx="210312" cy="210312"/>
          </a:xfrm>
          <a:prstGeom prst="rect">
            <a:avLst/>
          </a:prstGeom>
        </p:spPr>
      </p:pic>
      <p:sp>
        <p:nvSpPr>
          <p:cNvPr id="26" name="Text 22"/>
          <p:cNvSpPr/>
          <p:nvPr/>
        </p:nvSpPr>
        <p:spPr>
          <a:xfrm>
            <a:off x="1335024" y="5513832"/>
            <a:ext cx="10131552" cy="310896"/>
          </a:xfrm>
          <a:prstGeom prst="rect">
            <a:avLst/>
          </a:prstGeom>
          <a:noFill/>
          <a:ln/>
        </p:spPr>
        <p:txBody>
          <a:bodyPr wrap="square" lIns="0" tIns="0" rIns="0" bIns="0" rtlCol="0" anchor="ctr"/>
          <a:lstStyle/>
          <a:p>
            <a:pPr marL="0" indent="0" algn="l">
              <a:buNone/>
            </a:pPr>
            <a:r>
              <a:rPr lang="en-US" sz="1400" b="1" dirty="0">
                <a:solidFill>
                  <a:srgbClr val="35495E"/>
                </a:solidFill>
                <a:latin typeface="Calibri" pitchFamily="34" charset="0"/>
                <a:ea typeface="Calibri" pitchFamily="34" charset="-122"/>
                <a:cs typeface="Calibri" pitchFamily="34" charset="-120"/>
              </a:rPr>
              <a:t>Teaching goal</a:t>
            </a:r>
            <a:endParaRPr lang="en-US" sz="1400" dirty="0"/>
          </a:p>
        </p:txBody>
      </p:sp>
      <p:sp>
        <p:nvSpPr>
          <p:cNvPr id="27" name="Text 23"/>
          <p:cNvSpPr/>
          <p:nvPr/>
        </p:nvSpPr>
        <p:spPr>
          <a:xfrm>
            <a:off x="1335024" y="5824728"/>
            <a:ext cx="10131552" cy="548640"/>
          </a:xfrm>
          <a:prstGeom prst="rect">
            <a:avLst/>
          </a:prstGeom>
          <a:noFill/>
          <a:ln/>
        </p:spPr>
        <p:txBody>
          <a:bodyPr wrap="square" lIns="0" tIns="0" rIns="0" bIns="0" rtlCol="0" anchor="t"/>
          <a:lstStyle/>
          <a:p>
            <a:pPr marL="0" indent="0" algn="l">
              <a:lnSpc>
                <a:spcPts val="1600"/>
              </a:lnSpc>
              <a:buNone/>
            </a:pPr>
            <a:r>
              <a:rPr lang="en-US" sz="1250" dirty="0">
                <a:solidFill>
                  <a:srgbClr val="2C3E50"/>
                </a:solidFill>
                <a:latin typeface="Calibri" pitchFamily="34" charset="0"/>
                <a:ea typeface="Calibri" pitchFamily="34" charset="-122"/>
                <a:cs typeface="Calibri" pitchFamily="34" charset="-120"/>
              </a:rPr>
              <a:t>Make students FEEL the pain before the cure. Answer to Q1 is 4 files minimum. Pinia gives a central source any component reads from or writes to — no passing through the tree.</a:t>
            </a:r>
            <a:endParaRPr lang="en-US" sz="1250" dirty="0"/>
          </a:p>
        </p:txBody>
      </p:sp>
      <p:sp>
        <p:nvSpPr>
          <p:cNvPr id="28" name="Text 24"/>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29" name="Text 25"/>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Warm-Up</a:t>
            </a:r>
            <a:endParaRPr lang="en-US" sz="900" dirty="0"/>
          </a:p>
        </p:txBody>
      </p:sp>
      <p:sp>
        <p:nvSpPr>
          <p:cNvPr id="30" name="Text 26"/>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A6760C"/>
                </a:solidFill>
                <a:latin typeface="Calibri" pitchFamily="34" charset="0"/>
                <a:ea typeface="Calibri" pitchFamily="34" charset="-122"/>
                <a:cs typeface="Calibri" pitchFamily="34" charset="-120"/>
              </a:rPr>
              <a:t>THEORY · WHY PINIA · 8:00–22:00</a:t>
            </a:r>
            <a:endParaRPr lang="en-US" sz="1200" dirty="0"/>
          </a:p>
        </p:txBody>
      </p:sp>
      <p:sp>
        <p:nvSpPr>
          <p:cNvPr id="5" name="Text 2"/>
          <p:cNvSpPr/>
          <p:nvPr/>
        </p:nvSpPr>
        <p:spPr>
          <a:xfrm>
            <a:off x="1298448" y="713232"/>
            <a:ext cx="10332720" cy="566928"/>
          </a:xfrm>
          <a:prstGeom prst="rect">
            <a:avLst/>
          </a:prstGeom>
          <a:noFill/>
          <a:ln/>
        </p:spPr>
        <p:txBody>
          <a:bodyPr wrap="square" lIns="0" tIns="0" rIns="0" bIns="0" rtlCol="0" anchor="ctr"/>
          <a:lstStyle/>
          <a:p>
            <a:pPr marL="0" indent="0" algn="l">
              <a:buNone/>
            </a:pPr>
            <a:r>
              <a:rPr lang="en-US" sz="2800" b="1" dirty="0">
                <a:solidFill>
                  <a:srgbClr val="2C3E50"/>
                </a:solidFill>
                <a:latin typeface="Cambria" pitchFamily="34" charset="0"/>
                <a:ea typeface="Cambria" pitchFamily="34" charset="-122"/>
                <a:cs typeface="Cambria" pitchFamily="34" charset="-120"/>
              </a:rPr>
              <a:t>The Global State Problem</a:t>
            </a:r>
            <a:endParaRPr lang="en-US" sz="2800" dirty="0"/>
          </a:p>
        </p:txBody>
      </p:sp>
      <p:sp>
        <p:nvSpPr>
          <p:cNvPr id="6" name="Text 3"/>
          <p:cNvSpPr/>
          <p:nvPr/>
        </p:nvSpPr>
        <p:spPr>
          <a:xfrm>
            <a:off x="548640" y="1298448"/>
            <a:ext cx="11064240" cy="365760"/>
          </a:xfrm>
          <a:prstGeom prst="rect">
            <a:avLst/>
          </a:prstGeom>
          <a:noFill/>
          <a:ln/>
        </p:spPr>
        <p:txBody>
          <a:bodyPr wrap="square" lIns="0" tIns="0" rIns="0" bIns="0" rtlCol="0" anchor="ctr"/>
          <a:lstStyle/>
          <a:p>
            <a:pPr marL="0" indent="0" algn="l">
              <a:buNone/>
            </a:pPr>
            <a:r>
              <a:rPr lang="en-US" sz="1350" dirty="0">
                <a:solidFill>
                  <a:srgbClr val="6B7C8C"/>
                </a:solidFill>
                <a:latin typeface="Calibri" pitchFamily="34" charset="0"/>
                <a:ea typeface="Calibri" pitchFamily="34" charset="-122"/>
                <a:cs typeface="Calibri" pitchFamily="34" charset="-120"/>
              </a:rPr>
              <a:t>As an app grows, some state must be shared by components with no parent–child link. Pick the lightest tool that still works:</a:t>
            </a:r>
            <a:endParaRPr lang="en-US" sz="1350" dirty="0"/>
          </a:p>
        </p:txBody>
      </p:sp>
      <p:sp>
        <p:nvSpPr>
          <p:cNvPr id="7" name="Shape 4"/>
          <p:cNvSpPr/>
          <p:nvPr/>
        </p:nvSpPr>
        <p:spPr>
          <a:xfrm>
            <a:off x="548640" y="1783080"/>
            <a:ext cx="11091672" cy="457200"/>
          </a:xfrm>
          <a:prstGeom prst="rect">
            <a:avLst/>
          </a:prstGeom>
          <a:solidFill>
            <a:srgbClr val="35495E"/>
          </a:solidFill>
          <a:ln/>
        </p:spPr>
      </p:sp>
      <p:sp>
        <p:nvSpPr>
          <p:cNvPr id="8" name="Text 5"/>
          <p:cNvSpPr/>
          <p:nvPr/>
        </p:nvSpPr>
        <p:spPr>
          <a:xfrm>
            <a:off x="777240" y="1783080"/>
            <a:ext cx="2834640" cy="45720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Approach</a:t>
            </a:r>
            <a:endParaRPr lang="en-US" sz="1250" dirty="0"/>
          </a:p>
        </p:txBody>
      </p:sp>
      <p:sp>
        <p:nvSpPr>
          <p:cNvPr id="9" name="Text 6"/>
          <p:cNvSpPr/>
          <p:nvPr/>
        </p:nvSpPr>
        <p:spPr>
          <a:xfrm>
            <a:off x="3749040" y="1783080"/>
            <a:ext cx="3566160" cy="45720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Best for</a:t>
            </a:r>
            <a:endParaRPr lang="en-US" sz="1250" dirty="0"/>
          </a:p>
        </p:txBody>
      </p:sp>
      <p:sp>
        <p:nvSpPr>
          <p:cNvPr id="10" name="Text 7"/>
          <p:cNvSpPr/>
          <p:nvPr/>
        </p:nvSpPr>
        <p:spPr>
          <a:xfrm>
            <a:off x="7589520" y="1783080"/>
            <a:ext cx="3867912" cy="45720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Breaks down when</a:t>
            </a:r>
            <a:endParaRPr lang="en-US" sz="1250" dirty="0"/>
          </a:p>
        </p:txBody>
      </p:sp>
      <p:sp>
        <p:nvSpPr>
          <p:cNvPr id="11" name="Shape 8"/>
          <p:cNvSpPr/>
          <p:nvPr/>
        </p:nvSpPr>
        <p:spPr>
          <a:xfrm>
            <a:off x="548640" y="2240280"/>
            <a:ext cx="11091672" cy="841248"/>
          </a:xfrm>
          <a:prstGeom prst="rect">
            <a:avLst/>
          </a:prstGeom>
          <a:solidFill>
            <a:srgbClr val="FFFFFF"/>
          </a:solidFill>
          <a:ln w="12700">
            <a:solidFill>
              <a:srgbClr val="DCE5EB"/>
            </a:solidFill>
            <a:prstDash val="solid"/>
          </a:ln>
        </p:spPr>
      </p:sp>
      <p:sp>
        <p:nvSpPr>
          <p:cNvPr id="12" name="Text 9"/>
          <p:cNvSpPr/>
          <p:nvPr/>
        </p:nvSpPr>
        <p:spPr>
          <a:xfrm>
            <a:off x="777240" y="2240280"/>
            <a:ext cx="2834640" cy="841248"/>
          </a:xfrm>
          <a:prstGeom prst="rect">
            <a:avLst/>
          </a:prstGeom>
          <a:noFill/>
          <a:ln/>
        </p:spPr>
        <p:txBody>
          <a:bodyPr wrap="square" lIns="0" tIns="0" rIns="0" bIns="0" rtlCol="0" anchor="ctr"/>
          <a:lstStyle/>
          <a:p>
            <a:pPr marL="0" indent="0">
              <a:buNone/>
            </a:pPr>
            <a:r>
              <a:rPr lang="en-US" sz="1300" b="1" dirty="0">
                <a:solidFill>
                  <a:srgbClr val="2C3E50"/>
                </a:solidFill>
                <a:latin typeface="Calibri" pitchFamily="34" charset="0"/>
                <a:ea typeface="Calibri" pitchFamily="34" charset="-122"/>
                <a:cs typeface="Calibri" pitchFamily="34" charset="-120"/>
              </a:rPr>
              <a:t>Props &amp; emits</a:t>
            </a:r>
            <a:endParaRPr lang="en-US" sz="1300" dirty="0"/>
          </a:p>
        </p:txBody>
      </p:sp>
      <p:sp>
        <p:nvSpPr>
          <p:cNvPr id="13" name="Text 10"/>
          <p:cNvSpPr/>
          <p:nvPr/>
        </p:nvSpPr>
        <p:spPr>
          <a:xfrm>
            <a:off x="3749040" y="2240280"/>
            <a:ext cx="3566160" cy="841248"/>
          </a:xfrm>
          <a:prstGeom prst="rect">
            <a:avLst/>
          </a:prstGeom>
          <a:noFill/>
          <a:ln/>
        </p:spPr>
        <p:txBody>
          <a:bodyPr wrap="square" lIns="0" tIns="0" rIns="0" bIns="0" rtlCol="0" anchor="ctr"/>
          <a:lstStyle/>
          <a:p>
            <a:pPr marL="0" indent="0">
              <a:buNone/>
            </a:pPr>
            <a:r>
              <a:rPr lang="en-US" sz="1250" dirty="0">
                <a:solidFill>
                  <a:srgbClr val="2C3E50"/>
                </a:solidFill>
                <a:latin typeface="Calibri" pitchFamily="34" charset="0"/>
                <a:ea typeface="Calibri" pitchFamily="34" charset="-122"/>
                <a:cs typeface="Calibri" pitchFamily="34" charset="-120"/>
              </a:rPr>
              <a:t>Parent ↔ direct child</a:t>
            </a:r>
            <a:endParaRPr lang="en-US" sz="1250" dirty="0"/>
          </a:p>
        </p:txBody>
      </p:sp>
      <p:sp>
        <p:nvSpPr>
          <p:cNvPr id="14" name="Text 11"/>
          <p:cNvSpPr/>
          <p:nvPr/>
        </p:nvSpPr>
        <p:spPr>
          <a:xfrm>
            <a:off x="7589520" y="2240280"/>
            <a:ext cx="3867912" cy="841248"/>
          </a:xfrm>
          <a:prstGeom prst="rect">
            <a:avLst/>
          </a:prstGeom>
          <a:noFill/>
          <a:ln/>
        </p:spPr>
        <p:txBody>
          <a:bodyPr wrap="square" lIns="0" tIns="0" rIns="0" bIns="0" rtlCol="0" anchor="ctr"/>
          <a:lstStyle/>
          <a:p>
            <a:pPr marL="0" indent="0">
              <a:buNone/>
            </a:pPr>
            <a:r>
              <a:rPr lang="en-US" sz="1250" dirty="0">
                <a:solidFill>
                  <a:srgbClr val="6B7C8C"/>
                </a:solidFill>
                <a:latin typeface="Calibri" pitchFamily="34" charset="0"/>
                <a:ea typeface="Calibri" pitchFamily="34" charset="-122"/>
                <a:cs typeface="Calibri" pitchFamily="34" charset="-120"/>
              </a:rPr>
              <a:t>More than ~2 levels of nesting</a:t>
            </a:r>
            <a:endParaRPr lang="en-US" sz="1250" dirty="0"/>
          </a:p>
        </p:txBody>
      </p:sp>
      <p:sp>
        <p:nvSpPr>
          <p:cNvPr id="15" name="Shape 12"/>
          <p:cNvSpPr/>
          <p:nvPr/>
        </p:nvSpPr>
        <p:spPr>
          <a:xfrm>
            <a:off x="548640" y="3081528"/>
            <a:ext cx="11091672" cy="841248"/>
          </a:xfrm>
          <a:prstGeom prst="rect">
            <a:avLst/>
          </a:prstGeom>
          <a:solidFill>
            <a:srgbClr val="F4F7F9"/>
          </a:solidFill>
          <a:ln w="12700">
            <a:solidFill>
              <a:srgbClr val="DCE5EB"/>
            </a:solidFill>
            <a:prstDash val="solid"/>
          </a:ln>
        </p:spPr>
      </p:sp>
      <p:sp>
        <p:nvSpPr>
          <p:cNvPr id="16" name="Text 13"/>
          <p:cNvSpPr/>
          <p:nvPr/>
        </p:nvSpPr>
        <p:spPr>
          <a:xfrm>
            <a:off x="777240" y="3081528"/>
            <a:ext cx="2834640" cy="841248"/>
          </a:xfrm>
          <a:prstGeom prst="rect">
            <a:avLst/>
          </a:prstGeom>
          <a:noFill/>
          <a:ln/>
        </p:spPr>
        <p:txBody>
          <a:bodyPr wrap="square" lIns="0" tIns="0" rIns="0" bIns="0" rtlCol="0" anchor="ctr"/>
          <a:lstStyle/>
          <a:p>
            <a:pPr marL="0" indent="0">
              <a:buNone/>
            </a:pPr>
            <a:r>
              <a:rPr lang="en-US" sz="1300" b="1" dirty="0">
                <a:solidFill>
                  <a:srgbClr val="2C3E50"/>
                </a:solidFill>
                <a:latin typeface="Calibri" pitchFamily="34" charset="0"/>
                <a:ea typeface="Calibri" pitchFamily="34" charset="-122"/>
                <a:cs typeface="Calibri" pitchFamily="34" charset="-120"/>
              </a:rPr>
              <a:t>provide / inject</a:t>
            </a:r>
            <a:endParaRPr lang="en-US" sz="1300" dirty="0"/>
          </a:p>
        </p:txBody>
      </p:sp>
      <p:sp>
        <p:nvSpPr>
          <p:cNvPr id="17" name="Text 14"/>
          <p:cNvSpPr/>
          <p:nvPr/>
        </p:nvSpPr>
        <p:spPr>
          <a:xfrm>
            <a:off x="3749040" y="3081528"/>
            <a:ext cx="3566160" cy="841248"/>
          </a:xfrm>
          <a:prstGeom prst="rect">
            <a:avLst/>
          </a:prstGeom>
          <a:noFill/>
          <a:ln/>
        </p:spPr>
        <p:txBody>
          <a:bodyPr wrap="square" lIns="0" tIns="0" rIns="0" bIns="0" rtlCol="0" anchor="ctr"/>
          <a:lstStyle/>
          <a:p>
            <a:pPr marL="0" indent="0">
              <a:buNone/>
            </a:pPr>
            <a:r>
              <a:rPr lang="en-US" sz="1250" dirty="0">
                <a:solidFill>
                  <a:srgbClr val="2C3E50"/>
                </a:solidFill>
                <a:latin typeface="Calibri" pitchFamily="34" charset="0"/>
                <a:ea typeface="Calibri" pitchFamily="34" charset="-122"/>
                <a:cs typeface="Calibri" pitchFamily="34" charset="-120"/>
              </a:rPr>
              <a:t>Ancestor → deep descendant</a:t>
            </a:r>
            <a:endParaRPr lang="en-US" sz="1250" dirty="0"/>
          </a:p>
        </p:txBody>
      </p:sp>
      <p:sp>
        <p:nvSpPr>
          <p:cNvPr id="18" name="Text 15"/>
          <p:cNvSpPr/>
          <p:nvPr/>
        </p:nvSpPr>
        <p:spPr>
          <a:xfrm>
            <a:off x="7589520" y="3081528"/>
            <a:ext cx="3867912" cy="841248"/>
          </a:xfrm>
          <a:prstGeom prst="rect">
            <a:avLst/>
          </a:prstGeom>
          <a:noFill/>
          <a:ln/>
        </p:spPr>
        <p:txBody>
          <a:bodyPr wrap="square" lIns="0" tIns="0" rIns="0" bIns="0" rtlCol="0" anchor="ctr"/>
          <a:lstStyle/>
          <a:p>
            <a:pPr marL="0" indent="0">
              <a:buNone/>
            </a:pPr>
            <a:r>
              <a:rPr lang="en-US" sz="1250" dirty="0">
                <a:solidFill>
                  <a:srgbClr val="6B7C8C"/>
                </a:solidFill>
                <a:latin typeface="Calibri" pitchFamily="34" charset="0"/>
                <a:ea typeface="Calibri" pitchFamily="34" charset="-122"/>
                <a:cs typeface="Calibri" pitchFamily="34" charset="-120"/>
              </a:rPr>
              <a:t>Bidirectional updates; no devtools</a:t>
            </a:r>
            <a:endParaRPr lang="en-US" sz="1250" dirty="0"/>
          </a:p>
        </p:txBody>
      </p:sp>
      <p:sp>
        <p:nvSpPr>
          <p:cNvPr id="19" name="Shape 16"/>
          <p:cNvSpPr/>
          <p:nvPr/>
        </p:nvSpPr>
        <p:spPr>
          <a:xfrm>
            <a:off x="548640" y="3922776"/>
            <a:ext cx="11091672" cy="841248"/>
          </a:xfrm>
          <a:prstGeom prst="rect">
            <a:avLst/>
          </a:prstGeom>
          <a:solidFill>
            <a:srgbClr val="FFFFFF"/>
          </a:solidFill>
          <a:ln w="12700">
            <a:solidFill>
              <a:srgbClr val="DCE5EB"/>
            </a:solidFill>
            <a:prstDash val="solid"/>
          </a:ln>
        </p:spPr>
      </p:sp>
      <p:sp>
        <p:nvSpPr>
          <p:cNvPr id="20" name="Text 17"/>
          <p:cNvSpPr/>
          <p:nvPr/>
        </p:nvSpPr>
        <p:spPr>
          <a:xfrm>
            <a:off x="777240" y="3922776"/>
            <a:ext cx="2834640" cy="841248"/>
          </a:xfrm>
          <a:prstGeom prst="rect">
            <a:avLst/>
          </a:prstGeom>
          <a:noFill/>
          <a:ln/>
        </p:spPr>
        <p:txBody>
          <a:bodyPr wrap="square" lIns="0" tIns="0" rIns="0" bIns="0" rtlCol="0" anchor="ctr"/>
          <a:lstStyle/>
          <a:p>
            <a:pPr marL="0" indent="0">
              <a:buNone/>
            </a:pPr>
            <a:r>
              <a:rPr lang="en-US" sz="1300" b="1" dirty="0">
                <a:solidFill>
                  <a:srgbClr val="2C3E50"/>
                </a:solidFill>
                <a:latin typeface="Calibri" pitchFamily="34" charset="0"/>
                <a:ea typeface="Calibri" pitchFamily="34" charset="-122"/>
                <a:cs typeface="Calibri" pitchFamily="34" charset="-120"/>
              </a:rPr>
              <a:t>Composables (useXxx)</a:t>
            </a:r>
            <a:endParaRPr lang="en-US" sz="1300" dirty="0"/>
          </a:p>
        </p:txBody>
      </p:sp>
      <p:sp>
        <p:nvSpPr>
          <p:cNvPr id="21" name="Text 18"/>
          <p:cNvSpPr/>
          <p:nvPr/>
        </p:nvSpPr>
        <p:spPr>
          <a:xfrm>
            <a:off x="3749040" y="3922776"/>
            <a:ext cx="3566160" cy="841248"/>
          </a:xfrm>
          <a:prstGeom prst="rect">
            <a:avLst/>
          </a:prstGeom>
          <a:noFill/>
          <a:ln/>
        </p:spPr>
        <p:txBody>
          <a:bodyPr wrap="square" lIns="0" tIns="0" rIns="0" bIns="0" rtlCol="0" anchor="ctr"/>
          <a:lstStyle/>
          <a:p>
            <a:pPr marL="0" indent="0">
              <a:buNone/>
            </a:pPr>
            <a:r>
              <a:rPr lang="en-US" sz="1250" dirty="0">
                <a:solidFill>
                  <a:srgbClr val="2C3E50"/>
                </a:solidFill>
                <a:latin typeface="Calibri" pitchFamily="34" charset="0"/>
                <a:ea typeface="Calibri" pitchFamily="34" charset="-122"/>
                <a:cs typeface="Calibri" pitchFamily="34" charset="-120"/>
              </a:rPr>
              <a:t>Logic reuse in related parts</a:t>
            </a:r>
            <a:endParaRPr lang="en-US" sz="1250" dirty="0"/>
          </a:p>
        </p:txBody>
      </p:sp>
      <p:sp>
        <p:nvSpPr>
          <p:cNvPr id="22" name="Text 19"/>
          <p:cNvSpPr/>
          <p:nvPr/>
        </p:nvSpPr>
        <p:spPr>
          <a:xfrm>
            <a:off x="7589520" y="3922776"/>
            <a:ext cx="3867912" cy="841248"/>
          </a:xfrm>
          <a:prstGeom prst="rect">
            <a:avLst/>
          </a:prstGeom>
          <a:noFill/>
          <a:ln/>
        </p:spPr>
        <p:txBody>
          <a:bodyPr wrap="square" lIns="0" tIns="0" rIns="0" bIns="0" rtlCol="0" anchor="ctr"/>
          <a:lstStyle/>
          <a:p>
            <a:pPr marL="0" indent="0">
              <a:buNone/>
            </a:pPr>
            <a:r>
              <a:rPr lang="en-US" sz="1250" dirty="0">
                <a:solidFill>
                  <a:srgbClr val="6B7C8C"/>
                </a:solidFill>
                <a:latin typeface="Calibri" pitchFamily="34" charset="0"/>
                <a:ea typeface="Calibri" pitchFamily="34" charset="-122"/>
                <a:cs typeface="Calibri" pitchFamily="34" charset="-120"/>
              </a:rPr>
              <a:t>State across unrelated trees</a:t>
            </a:r>
            <a:endParaRPr lang="en-US" sz="1250" dirty="0"/>
          </a:p>
        </p:txBody>
      </p:sp>
      <p:sp>
        <p:nvSpPr>
          <p:cNvPr id="23" name="Shape 20"/>
          <p:cNvSpPr/>
          <p:nvPr/>
        </p:nvSpPr>
        <p:spPr>
          <a:xfrm>
            <a:off x="548640" y="4764024"/>
            <a:ext cx="11091672" cy="841248"/>
          </a:xfrm>
          <a:prstGeom prst="rect">
            <a:avLst/>
          </a:prstGeom>
          <a:solidFill>
            <a:srgbClr val="FCF4E0"/>
          </a:solidFill>
          <a:ln w="12700">
            <a:solidFill>
              <a:srgbClr val="DCE5EB"/>
            </a:solidFill>
            <a:prstDash val="solid"/>
          </a:ln>
        </p:spPr>
      </p:sp>
      <p:sp>
        <p:nvSpPr>
          <p:cNvPr id="24" name="Text 21"/>
          <p:cNvSpPr/>
          <p:nvPr/>
        </p:nvSpPr>
        <p:spPr>
          <a:xfrm>
            <a:off x="777240" y="4764024"/>
            <a:ext cx="2834640" cy="841248"/>
          </a:xfrm>
          <a:prstGeom prst="rect">
            <a:avLst/>
          </a:prstGeom>
          <a:noFill/>
          <a:ln/>
        </p:spPr>
        <p:txBody>
          <a:bodyPr wrap="square" lIns="0" tIns="0" rIns="0" bIns="0" rtlCol="0" anchor="ctr"/>
          <a:lstStyle/>
          <a:p>
            <a:pPr marL="0" indent="0">
              <a:buNone/>
            </a:pPr>
            <a:r>
              <a:rPr lang="en-US" sz="1300" b="1" dirty="0">
                <a:solidFill>
                  <a:srgbClr val="A6760C"/>
                </a:solidFill>
                <a:latin typeface="Calibri" pitchFamily="34" charset="0"/>
                <a:ea typeface="Calibri" pitchFamily="34" charset="-122"/>
                <a:cs typeface="Calibri" pitchFamily="34" charset="-120"/>
              </a:rPr>
              <a:t>Pinia store</a:t>
            </a:r>
            <a:endParaRPr lang="en-US" sz="1300" dirty="0"/>
          </a:p>
        </p:txBody>
      </p:sp>
      <p:sp>
        <p:nvSpPr>
          <p:cNvPr id="25" name="Text 22"/>
          <p:cNvSpPr/>
          <p:nvPr/>
        </p:nvSpPr>
        <p:spPr>
          <a:xfrm>
            <a:off x="3749040" y="4764024"/>
            <a:ext cx="3566160" cy="841248"/>
          </a:xfrm>
          <a:prstGeom prst="rect">
            <a:avLst/>
          </a:prstGeom>
          <a:noFill/>
          <a:ln/>
        </p:spPr>
        <p:txBody>
          <a:bodyPr wrap="square" lIns="0" tIns="0" rIns="0" bIns="0" rtlCol="0" anchor="ctr"/>
          <a:lstStyle/>
          <a:p>
            <a:pPr marL="0" indent="0">
              <a:buNone/>
            </a:pPr>
            <a:r>
              <a:rPr lang="en-US" sz="1250" dirty="0">
                <a:solidFill>
                  <a:srgbClr val="2C3E50"/>
                </a:solidFill>
                <a:latin typeface="Calibri" pitchFamily="34" charset="0"/>
                <a:ea typeface="Calibri" pitchFamily="34" charset="-122"/>
                <a:cs typeface="Calibri" pitchFamily="34" charset="-120"/>
              </a:rPr>
              <a:t>App-wide shared state</a:t>
            </a:r>
            <a:endParaRPr lang="en-US" sz="1250" dirty="0"/>
          </a:p>
        </p:txBody>
      </p:sp>
      <p:sp>
        <p:nvSpPr>
          <p:cNvPr id="26" name="Text 23"/>
          <p:cNvSpPr/>
          <p:nvPr/>
        </p:nvSpPr>
        <p:spPr>
          <a:xfrm>
            <a:off x="7589520" y="4764024"/>
            <a:ext cx="3867912" cy="841248"/>
          </a:xfrm>
          <a:prstGeom prst="rect">
            <a:avLst/>
          </a:prstGeom>
          <a:noFill/>
          <a:ln/>
        </p:spPr>
        <p:txBody>
          <a:bodyPr wrap="square" lIns="0" tIns="0" rIns="0" bIns="0" rtlCol="0" anchor="ctr"/>
          <a:lstStyle/>
          <a:p>
            <a:pPr marL="0" indent="0">
              <a:buNone/>
            </a:pPr>
            <a:r>
              <a:rPr lang="en-US" sz="1250" dirty="0">
                <a:solidFill>
                  <a:srgbClr val="6B7C8C"/>
                </a:solidFill>
                <a:latin typeface="Calibri" pitchFamily="34" charset="0"/>
                <a:ea typeface="Calibri" pitchFamily="34" charset="-122"/>
                <a:cs typeface="Calibri" pitchFamily="34" charset="-120"/>
              </a:rPr>
              <a:t>Rarely — the right call for global data</a:t>
            </a:r>
            <a:endParaRPr lang="en-US" sz="1250" dirty="0"/>
          </a:p>
        </p:txBody>
      </p:sp>
      <p:sp>
        <p:nvSpPr>
          <p:cNvPr id="27" name="Text 24"/>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28" name="Text 25"/>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Why Pinia</a:t>
            </a:r>
            <a:endParaRPr lang="en-US" sz="900" dirty="0"/>
          </a:p>
        </p:txBody>
      </p:sp>
      <p:sp>
        <p:nvSpPr>
          <p:cNvPr id="29" name="Text 26"/>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A6760C"/>
                </a:solidFill>
                <a:latin typeface="Calibri" pitchFamily="34" charset="0"/>
                <a:ea typeface="Calibri" pitchFamily="34" charset="-122"/>
                <a:cs typeface="Calibri" pitchFamily="34" charset="-120"/>
              </a:rPr>
              <a:t>THEORY · WHY PINIA · 8:00–22:00</a:t>
            </a:r>
            <a:endParaRPr lang="en-US" sz="1200" dirty="0"/>
          </a:p>
        </p:txBody>
      </p:sp>
      <p:sp>
        <p:nvSpPr>
          <p:cNvPr id="5" name="Text 2"/>
          <p:cNvSpPr/>
          <p:nvPr/>
        </p:nvSpPr>
        <p:spPr>
          <a:xfrm>
            <a:off x="1298448" y="713232"/>
            <a:ext cx="10332720" cy="566928"/>
          </a:xfrm>
          <a:prstGeom prst="rect">
            <a:avLst/>
          </a:prstGeom>
          <a:noFill/>
          <a:ln/>
        </p:spPr>
        <p:txBody>
          <a:bodyPr wrap="square" lIns="0" tIns="0" rIns="0" bIns="0" rtlCol="0" anchor="ctr"/>
          <a:lstStyle/>
          <a:p>
            <a:pPr marL="0" indent="0" algn="l">
              <a:buNone/>
            </a:pPr>
            <a:r>
              <a:rPr lang="en-US" sz="2800" b="1" dirty="0">
                <a:solidFill>
                  <a:srgbClr val="2C3E50"/>
                </a:solidFill>
                <a:latin typeface="Cambria" pitchFamily="34" charset="0"/>
                <a:ea typeface="Cambria" pitchFamily="34" charset="-122"/>
                <a:cs typeface="Cambria" pitchFamily="34" charset="-120"/>
              </a:rPr>
              <a:t>Pinia vs. Vuex — Why Pinia Wins</a:t>
            </a:r>
            <a:endParaRPr lang="en-US" sz="2800" dirty="0"/>
          </a:p>
        </p:txBody>
      </p:sp>
      <p:sp>
        <p:nvSpPr>
          <p:cNvPr id="6" name="Shape 3"/>
          <p:cNvSpPr/>
          <p:nvPr/>
        </p:nvSpPr>
        <p:spPr>
          <a:xfrm>
            <a:off x="548640" y="1481328"/>
            <a:ext cx="5545836" cy="475488"/>
          </a:xfrm>
          <a:prstGeom prst="rect">
            <a:avLst/>
          </a:prstGeom>
          <a:solidFill>
            <a:srgbClr val="6B7C8C"/>
          </a:solidFill>
          <a:ln/>
        </p:spPr>
      </p:sp>
      <p:sp>
        <p:nvSpPr>
          <p:cNvPr id="7" name="Shape 4"/>
          <p:cNvSpPr/>
          <p:nvPr/>
        </p:nvSpPr>
        <p:spPr>
          <a:xfrm>
            <a:off x="6094476" y="1481328"/>
            <a:ext cx="5545836" cy="475488"/>
          </a:xfrm>
          <a:prstGeom prst="rect">
            <a:avLst/>
          </a:prstGeom>
          <a:solidFill>
            <a:srgbClr val="E0A21B"/>
          </a:solidFill>
          <a:ln/>
        </p:spPr>
      </p:sp>
      <p:sp>
        <p:nvSpPr>
          <p:cNvPr id="8" name="Text 5"/>
          <p:cNvSpPr/>
          <p:nvPr/>
        </p:nvSpPr>
        <p:spPr>
          <a:xfrm>
            <a:off x="777240" y="1481328"/>
            <a:ext cx="5180076" cy="47548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Vuex 4  (legacy)</a:t>
            </a:r>
            <a:endParaRPr lang="en-US" sz="1300" dirty="0"/>
          </a:p>
        </p:txBody>
      </p:sp>
      <p:sp>
        <p:nvSpPr>
          <p:cNvPr id="9" name="Text 6"/>
          <p:cNvSpPr/>
          <p:nvPr/>
        </p:nvSpPr>
        <p:spPr>
          <a:xfrm>
            <a:off x="6323076" y="1481328"/>
            <a:ext cx="5180076" cy="47548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Pinia  (recommended)</a:t>
            </a:r>
            <a:endParaRPr lang="en-US" sz="1300" dirty="0"/>
          </a:p>
        </p:txBody>
      </p:sp>
      <p:sp>
        <p:nvSpPr>
          <p:cNvPr id="10" name="Shape 7"/>
          <p:cNvSpPr/>
          <p:nvPr/>
        </p:nvSpPr>
        <p:spPr>
          <a:xfrm>
            <a:off x="548640" y="1956816"/>
            <a:ext cx="5545836" cy="566928"/>
          </a:xfrm>
          <a:prstGeom prst="rect">
            <a:avLst/>
          </a:prstGeom>
          <a:solidFill>
            <a:srgbClr val="FFFFFF"/>
          </a:solidFill>
          <a:ln w="12700">
            <a:solidFill>
              <a:srgbClr val="DCE5EB"/>
            </a:solidFill>
            <a:prstDash val="solid"/>
          </a:ln>
        </p:spPr>
      </p:sp>
      <p:sp>
        <p:nvSpPr>
          <p:cNvPr id="11" name="Shape 8"/>
          <p:cNvSpPr/>
          <p:nvPr/>
        </p:nvSpPr>
        <p:spPr>
          <a:xfrm>
            <a:off x="6094476" y="1956816"/>
            <a:ext cx="5545836" cy="566928"/>
          </a:xfrm>
          <a:prstGeom prst="rect">
            <a:avLst/>
          </a:prstGeom>
          <a:solidFill>
            <a:srgbClr val="FFFCF3"/>
          </a:solidFill>
          <a:ln w="12700">
            <a:solidFill>
              <a:srgbClr val="DCE5EB"/>
            </a:solidFill>
            <a:prstDash val="solid"/>
          </a:ln>
        </p:spPr>
      </p:sp>
      <p:sp>
        <p:nvSpPr>
          <p:cNvPr id="12" name="Text 9"/>
          <p:cNvSpPr/>
          <p:nvPr/>
        </p:nvSpPr>
        <p:spPr>
          <a:xfrm>
            <a:off x="777240" y="1956816"/>
            <a:ext cx="5180076" cy="566928"/>
          </a:xfrm>
          <a:prstGeom prst="rect">
            <a:avLst/>
          </a:prstGeom>
          <a:noFill/>
          <a:ln/>
        </p:spPr>
        <p:txBody>
          <a:bodyPr wrap="square" lIns="0" tIns="0" rIns="0" bIns="0" rtlCol="0" anchor="ctr"/>
          <a:lstStyle/>
          <a:p>
            <a:pPr marL="0" indent="0">
              <a:buNone/>
            </a:pPr>
            <a:r>
              <a:rPr lang="en-US" sz="1250" dirty="0">
                <a:solidFill>
                  <a:srgbClr val="6B7C8C"/>
                </a:solidFill>
                <a:latin typeface="Calibri" pitchFamily="34" charset="0"/>
                <a:ea typeface="Calibri" pitchFamily="34" charset="-122"/>
                <a:cs typeface="Calibri" pitchFamily="34" charset="-120"/>
              </a:rPr>
              <a:t>mutations + actions (two concepts)</a:t>
            </a:r>
            <a:endParaRPr lang="en-US" sz="1250" dirty="0"/>
          </a:p>
        </p:txBody>
      </p:sp>
      <p:sp>
        <p:nvSpPr>
          <p:cNvPr id="13" name="Text 10"/>
          <p:cNvSpPr/>
          <p:nvPr/>
        </p:nvSpPr>
        <p:spPr>
          <a:xfrm>
            <a:off x="6323076" y="1956816"/>
            <a:ext cx="5180076" cy="566928"/>
          </a:xfrm>
          <a:prstGeom prst="rect">
            <a:avLst/>
          </a:prstGeom>
          <a:noFill/>
          <a:ln/>
        </p:spPr>
        <p:txBody>
          <a:bodyPr wrap="square" lIns="0" tIns="0" rIns="0" bIns="0" rtlCol="0" anchor="ctr"/>
          <a:lstStyle/>
          <a:p>
            <a:pPr marL="0" indent="0">
              <a:buNone/>
            </a:pPr>
            <a:r>
              <a:rPr lang="en-US" sz="1250" b="1" dirty="0">
                <a:solidFill>
                  <a:srgbClr val="2C3E50"/>
                </a:solidFill>
                <a:latin typeface="Calibri" pitchFamily="34" charset="0"/>
                <a:ea typeface="Calibri" pitchFamily="34" charset="-122"/>
                <a:cs typeface="Calibri" pitchFamily="34" charset="-120"/>
              </a:rPr>
              <a:t>actions only (one concept)</a:t>
            </a:r>
            <a:endParaRPr lang="en-US" sz="1250" dirty="0"/>
          </a:p>
        </p:txBody>
      </p:sp>
      <p:sp>
        <p:nvSpPr>
          <p:cNvPr id="14" name="Shape 11"/>
          <p:cNvSpPr/>
          <p:nvPr/>
        </p:nvSpPr>
        <p:spPr>
          <a:xfrm>
            <a:off x="548640" y="2523744"/>
            <a:ext cx="5545836" cy="566928"/>
          </a:xfrm>
          <a:prstGeom prst="rect">
            <a:avLst/>
          </a:prstGeom>
          <a:solidFill>
            <a:srgbClr val="F4F7F9"/>
          </a:solidFill>
          <a:ln w="12700">
            <a:solidFill>
              <a:srgbClr val="DCE5EB"/>
            </a:solidFill>
            <a:prstDash val="solid"/>
          </a:ln>
        </p:spPr>
      </p:sp>
      <p:sp>
        <p:nvSpPr>
          <p:cNvPr id="15" name="Shape 12"/>
          <p:cNvSpPr/>
          <p:nvPr/>
        </p:nvSpPr>
        <p:spPr>
          <a:xfrm>
            <a:off x="6094476" y="2523744"/>
            <a:ext cx="5545836" cy="566928"/>
          </a:xfrm>
          <a:prstGeom prst="rect">
            <a:avLst/>
          </a:prstGeom>
          <a:solidFill>
            <a:srgbClr val="FCF4E0"/>
          </a:solidFill>
          <a:ln w="12700">
            <a:solidFill>
              <a:srgbClr val="DCE5EB"/>
            </a:solidFill>
            <a:prstDash val="solid"/>
          </a:ln>
        </p:spPr>
      </p:sp>
      <p:sp>
        <p:nvSpPr>
          <p:cNvPr id="16" name="Text 13"/>
          <p:cNvSpPr/>
          <p:nvPr/>
        </p:nvSpPr>
        <p:spPr>
          <a:xfrm>
            <a:off x="777240" y="2523744"/>
            <a:ext cx="5180076" cy="566928"/>
          </a:xfrm>
          <a:prstGeom prst="rect">
            <a:avLst/>
          </a:prstGeom>
          <a:noFill/>
          <a:ln/>
        </p:spPr>
        <p:txBody>
          <a:bodyPr wrap="square" lIns="0" tIns="0" rIns="0" bIns="0" rtlCol="0" anchor="ctr"/>
          <a:lstStyle/>
          <a:p>
            <a:pPr marL="0" indent="0">
              <a:buNone/>
            </a:pPr>
            <a:r>
              <a:rPr lang="en-US" sz="1250" dirty="0">
                <a:solidFill>
                  <a:srgbClr val="6B7C8C"/>
                </a:solidFill>
                <a:latin typeface="Calibri" pitchFamily="34" charset="0"/>
                <a:ea typeface="Calibri" pitchFamily="34" charset="-122"/>
                <a:cs typeface="Calibri" pitchFamily="34" charset="-120"/>
              </a:rPr>
              <a:t>verbose boilerplate for every change</a:t>
            </a:r>
            <a:endParaRPr lang="en-US" sz="1250" dirty="0"/>
          </a:p>
        </p:txBody>
      </p:sp>
      <p:sp>
        <p:nvSpPr>
          <p:cNvPr id="17" name="Text 14"/>
          <p:cNvSpPr/>
          <p:nvPr/>
        </p:nvSpPr>
        <p:spPr>
          <a:xfrm>
            <a:off x="6323076" y="2523744"/>
            <a:ext cx="5180076" cy="566928"/>
          </a:xfrm>
          <a:prstGeom prst="rect">
            <a:avLst/>
          </a:prstGeom>
          <a:noFill/>
          <a:ln/>
        </p:spPr>
        <p:txBody>
          <a:bodyPr wrap="square" lIns="0" tIns="0" rIns="0" bIns="0" rtlCol="0" anchor="ctr"/>
          <a:lstStyle/>
          <a:p>
            <a:pPr marL="0" indent="0">
              <a:buNone/>
            </a:pPr>
            <a:r>
              <a:rPr lang="en-US" sz="1250" b="1" dirty="0">
                <a:solidFill>
                  <a:srgbClr val="2C3E50"/>
                </a:solidFill>
                <a:latin typeface="Calibri" pitchFamily="34" charset="0"/>
                <a:ea typeface="Calibri" pitchFamily="34" charset="-122"/>
                <a:cs typeface="Calibri" pitchFamily="34" charset="-120"/>
              </a:rPr>
              <a:t>direct state mutation in actions</a:t>
            </a:r>
            <a:endParaRPr lang="en-US" sz="1250" dirty="0"/>
          </a:p>
        </p:txBody>
      </p:sp>
      <p:sp>
        <p:nvSpPr>
          <p:cNvPr id="18" name="Shape 15"/>
          <p:cNvSpPr/>
          <p:nvPr/>
        </p:nvSpPr>
        <p:spPr>
          <a:xfrm>
            <a:off x="548640" y="3090672"/>
            <a:ext cx="5545836" cy="566928"/>
          </a:xfrm>
          <a:prstGeom prst="rect">
            <a:avLst/>
          </a:prstGeom>
          <a:solidFill>
            <a:srgbClr val="FFFFFF"/>
          </a:solidFill>
          <a:ln w="12700">
            <a:solidFill>
              <a:srgbClr val="DCE5EB"/>
            </a:solidFill>
            <a:prstDash val="solid"/>
          </a:ln>
        </p:spPr>
      </p:sp>
      <p:sp>
        <p:nvSpPr>
          <p:cNvPr id="19" name="Shape 16"/>
          <p:cNvSpPr/>
          <p:nvPr/>
        </p:nvSpPr>
        <p:spPr>
          <a:xfrm>
            <a:off x="6094476" y="3090672"/>
            <a:ext cx="5545836" cy="566928"/>
          </a:xfrm>
          <a:prstGeom prst="rect">
            <a:avLst/>
          </a:prstGeom>
          <a:solidFill>
            <a:srgbClr val="FFFCF3"/>
          </a:solidFill>
          <a:ln w="12700">
            <a:solidFill>
              <a:srgbClr val="DCE5EB"/>
            </a:solidFill>
            <a:prstDash val="solid"/>
          </a:ln>
        </p:spPr>
      </p:sp>
      <p:sp>
        <p:nvSpPr>
          <p:cNvPr id="20" name="Text 17"/>
          <p:cNvSpPr/>
          <p:nvPr/>
        </p:nvSpPr>
        <p:spPr>
          <a:xfrm>
            <a:off x="777240" y="3090672"/>
            <a:ext cx="5180076" cy="566928"/>
          </a:xfrm>
          <a:prstGeom prst="rect">
            <a:avLst/>
          </a:prstGeom>
          <a:noFill/>
          <a:ln/>
        </p:spPr>
        <p:txBody>
          <a:bodyPr wrap="square" lIns="0" tIns="0" rIns="0" bIns="0" rtlCol="0" anchor="ctr"/>
          <a:lstStyle/>
          <a:p>
            <a:pPr marL="0" indent="0">
              <a:buNone/>
            </a:pPr>
            <a:r>
              <a:rPr lang="en-US" sz="1250" dirty="0">
                <a:solidFill>
                  <a:srgbClr val="6B7C8C"/>
                </a:solidFill>
                <a:latin typeface="Calibri" pitchFamily="34" charset="0"/>
                <a:ea typeface="Calibri" pitchFamily="34" charset="-122"/>
                <a:cs typeface="Calibri" pitchFamily="34" charset="-120"/>
              </a:rPr>
              <a:t>nested, namespaced modules</a:t>
            </a:r>
            <a:endParaRPr lang="en-US" sz="1250" dirty="0"/>
          </a:p>
        </p:txBody>
      </p:sp>
      <p:sp>
        <p:nvSpPr>
          <p:cNvPr id="21" name="Text 18"/>
          <p:cNvSpPr/>
          <p:nvPr/>
        </p:nvSpPr>
        <p:spPr>
          <a:xfrm>
            <a:off x="6323076" y="3090672"/>
            <a:ext cx="5180076" cy="566928"/>
          </a:xfrm>
          <a:prstGeom prst="rect">
            <a:avLst/>
          </a:prstGeom>
          <a:noFill/>
          <a:ln/>
        </p:spPr>
        <p:txBody>
          <a:bodyPr wrap="square" lIns="0" tIns="0" rIns="0" bIns="0" rtlCol="0" anchor="ctr"/>
          <a:lstStyle/>
          <a:p>
            <a:pPr marL="0" indent="0">
              <a:buNone/>
            </a:pPr>
            <a:r>
              <a:rPr lang="en-US" sz="1250" b="1" dirty="0">
                <a:solidFill>
                  <a:srgbClr val="2C3E50"/>
                </a:solidFill>
                <a:latin typeface="Calibri" pitchFamily="34" charset="0"/>
                <a:ea typeface="Calibri" pitchFamily="34" charset="-122"/>
                <a:cs typeface="Calibri" pitchFamily="34" charset="-120"/>
              </a:rPr>
              <a:t>flat, auto-namespaced stores</a:t>
            </a:r>
            <a:endParaRPr lang="en-US" sz="1250" dirty="0"/>
          </a:p>
        </p:txBody>
      </p:sp>
      <p:sp>
        <p:nvSpPr>
          <p:cNvPr id="22" name="Shape 19"/>
          <p:cNvSpPr/>
          <p:nvPr/>
        </p:nvSpPr>
        <p:spPr>
          <a:xfrm>
            <a:off x="548640" y="3657600"/>
            <a:ext cx="5545836" cy="566928"/>
          </a:xfrm>
          <a:prstGeom prst="rect">
            <a:avLst/>
          </a:prstGeom>
          <a:solidFill>
            <a:srgbClr val="F4F7F9"/>
          </a:solidFill>
          <a:ln w="12700">
            <a:solidFill>
              <a:srgbClr val="DCE5EB"/>
            </a:solidFill>
            <a:prstDash val="solid"/>
          </a:ln>
        </p:spPr>
      </p:sp>
      <p:sp>
        <p:nvSpPr>
          <p:cNvPr id="23" name="Shape 20"/>
          <p:cNvSpPr/>
          <p:nvPr/>
        </p:nvSpPr>
        <p:spPr>
          <a:xfrm>
            <a:off x="6094476" y="3657600"/>
            <a:ext cx="5545836" cy="566928"/>
          </a:xfrm>
          <a:prstGeom prst="rect">
            <a:avLst/>
          </a:prstGeom>
          <a:solidFill>
            <a:srgbClr val="FCF4E0"/>
          </a:solidFill>
          <a:ln w="12700">
            <a:solidFill>
              <a:srgbClr val="DCE5EB"/>
            </a:solidFill>
            <a:prstDash val="solid"/>
          </a:ln>
        </p:spPr>
      </p:sp>
      <p:sp>
        <p:nvSpPr>
          <p:cNvPr id="24" name="Text 21"/>
          <p:cNvSpPr/>
          <p:nvPr/>
        </p:nvSpPr>
        <p:spPr>
          <a:xfrm>
            <a:off x="777240" y="3657600"/>
            <a:ext cx="5180076" cy="566928"/>
          </a:xfrm>
          <a:prstGeom prst="rect">
            <a:avLst/>
          </a:prstGeom>
          <a:noFill/>
          <a:ln/>
        </p:spPr>
        <p:txBody>
          <a:bodyPr wrap="square" lIns="0" tIns="0" rIns="0" bIns="0" rtlCol="0" anchor="ctr"/>
          <a:lstStyle/>
          <a:p>
            <a:pPr marL="0" indent="0">
              <a:buNone/>
            </a:pPr>
            <a:r>
              <a:rPr lang="en-US" sz="1250" dirty="0">
                <a:solidFill>
                  <a:srgbClr val="6B7C8C"/>
                </a:solidFill>
                <a:latin typeface="Calibri" pitchFamily="34" charset="0"/>
                <a:ea typeface="Calibri" pitchFamily="34" charset="-122"/>
                <a:cs typeface="Calibri" pitchFamily="34" charset="-120"/>
              </a:rPr>
              <a:t>no TypeScript out of the box</a:t>
            </a:r>
            <a:endParaRPr lang="en-US" sz="1250" dirty="0"/>
          </a:p>
        </p:txBody>
      </p:sp>
      <p:sp>
        <p:nvSpPr>
          <p:cNvPr id="25" name="Text 22"/>
          <p:cNvSpPr/>
          <p:nvPr/>
        </p:nvSpPr>
        <p:spPr>
          <a:xfrm>
            <a:off x="6323076" y="3657600"/>
            <a:ext cx="5180076" cy="566928"/>
          </a:xfrm>
          <a:prstGeom prst="rect">
            <a:avLst/>
          </a:prstGeom>
          <a:noFill/>
          <a:ln/>
        </p:spPr>
        <p:txBody>
          <a:bodyPr wrap="square" lIns="0" tIns="0" rIns="0" bIns="0" rtlCol="0" anchor="ctr"/>
          <a:lstStyle/>
          <a:p>
            <a:pPr marL="0" indent="0">
              <a:buNone/>
            </a:pPr>
            <a:r>
              <a:rPr lang="en-US" sz="1250" b="1" dirty="0">
                <a:solidFill>
                  <a:srgbClr val="2C3E50"/>
                </a:solidFill>
                <a:latin typeface="Calibri" pitchFamily="34" charset="0"/>
                <a:ea typeface="Calibri" pitchFamily="34" charset="-122"/>
                <a:cs typeface="Calibri" pitchFamily="34" charset="-120"/>
              </a:rPr>
              <a:t>full TypeScript by design</a:t>
            </a:r>
            <a:endParaRPr lang="en-US" sz="1250" dirty="0"/>
          </a:p>
        </p:txBody>
      </p:sp>
      <p:sp>
        <p:nvSpPr>
          <p:cNvPr id="26" name="Shape 23"/>
          <p:cNvSpPr/>
          <p:nvPr/>
        </p:nvSpPr>
        <p:spPr>
          <a:xfrm>
            <a:off x="548640" y="4224528"/>
            <a:ext cx="5545836" cy="566928"/>
          </a:xfrm>
          <a:prstGeom prst="rect">
            <a:avLst/>
          </a:prstGeom>
          <a:solidFill>
            <a:srgbClr val="FFFFFF"/>
          </a:solidFill>
          <a:ln w="12700">
            <a:solidFill>
              <a:srgbClr val="DCE5EB"/>
            </a:solidFill>
            <a:prstDash val="solid"/>
          </a:ln>
        </p:spPr>
      </p:sp>
      <p:sp>
        <p:nvSpPr>
          <p:cNvPr id="27" name="Shape 24"/>
          <p:cNvSpPr/>
          <p:nvPr/>
        </p:nvSpPr>
        <p:spPr>
          <a:xfrm>
            <a:off x="6094476" y="4224528"/>
            <a:ext cx="5545836" cy="566928"/>
          </a:xfrm>
          <a:prstGeom prst="rect">
            <a:avLst/>
          </a:prstGeom>
          <a:solidFill>
            <a:srgbClr val="FFFCF3"/>
          </a:solidFill>
          <a:ln w="12700">
            <a:solidFill>
              <a:srgbClr val="DCE5EB"/>
            </a:solidFill>
            <a:prstDash val="solid"/>
          </a:ln>
        </p:spPr>
      </p:sp>
      <p:sp>
        <p:nvSpPr>
          <p:cNvPr id="28" name="Text 25"/>
          <p:cNvSpPr/>
          <p:nvPr/>
        </p:nvSpPr>
        <p:spPr>
          <a:xfrm>
            <a:off x="777240" y="4224528"/>
            <a:ext cx="5180076" cy="566928"/>
          </a:xfrm>
          <a:prstGeom prst="rect">
            <a:avLst/>
          </a:prstGeom>
          <a:noFill/>
          <a:ln/>
        </p:spPr>
        <p:txBody>
          <a:bodyPr wrap="square" lIns="0" tIns="0" rIns="0" bIns="0" rtlCol="0" anchor="ctr"/>
          <a:lstStyle/>
          <a:p>
            <a:pPr marL="0" indent="0">
              <a:buNone/>
            </a:pPr>
            <a:r>
              <a:rPr lang="en-US" sz="1250" dirty="0">
                <a:solidFill>
                  <a:srgbClr val="6B7C8C"/>
                </a:solidFill>
                <a:latin typeface="Calibri" pitchFamily="34" charset="0"/>
                <a:ea typeface="Calibri" pitchFamily="34" charset="-122"/>
                <a:cs typeface="Calibri" pitchFamily="34" charset="-120"/>
              </a:rPr>
              <a:t>no Composition API integration</a:t>
            </a:r>
            <a:endParaRPr lang="en-US" sz="1250" dirty="0"/>
          </a:p>
        </p:txBody>
      </p:sp>
      <p:sp>
        <p:nvSpPr>
          <p:cNvPr id="29" name="Text 26"/>
          <p:cNvSpPr/>
          <p:nvPr/>
        </p:nvSpPr>
        <p:spPr>
          <a:xfrm>
            <a:off x="6323076" y="4224528"/>
            <a:ext cx="5180076" cy="566928"/>
          </a:xfrm>
          <a:prstGeom prst="rect">
            <a:avLst/>
          </a:prstGeom>
          <a:noFill/>
          <a:ln/>
        </p:spPr>
        <p:txBody>
          <a:bodyPr wrap="square" lIns="0" tIns="0" rIns="0" bIns="0" rtlCol="0" anchor="ctr"/>
          <a:lstStyle/>
          <a:p>
            <a:pPr marL="0" indent="0">
              <a:buNone/>
            </a:pPr>
            <a:r>
              <a:rPr lang="en-US" sz="1250" b="1" dirty="0">
                <a:solidFill>
                  <a:srgbClr val="2C3E50"/>
                </a:solidFill>
                <a:latin typeface="Calibri" pitchFamily="34" charset="0"/>
                <a:ea typeface="Calibri" pitchFamily="34" charset="-122"/>
                <a:cs typeface="Calibri" pitchFamily="34" charset="-120"/>
              </a:rPr>
              <a:t>native Composition API support</a:t>
            </a:r>
            <a:endParaRPr lang="en-US" sz="1250" dirty="0"/>
          </a:p>
        </p:txBody>
      </p:sp>
      <p:sp>
        <p:nvSpPr>
          <p:cNvPr id="30" name="Shape 27"/>
          <p:cNvSpPr/>
          <p:nvPr/>
        </p:nvSpPr>
        <p:spPr>
          <a:xfrm>
            <a:off x="548640" y="4791456"/>
            <a:ext cx="5545836" cy="566928"/>
          </a:xfrm>
          <a:prstGeom prst="rect">
            <a:avLst/>
          </a:prstGeom>
          <a:solidFill>
            <a:srgbClr val="F4F7F9"/>
          </a:solidFill>
          <a:ln w="12700">
            <a:solidFill>
              <a:srgbClr val="DCE5EB"/>
            </a:solidFill>
            <a:prstDash val="solid"/>
          </a:ln>
        </p:spPr>
      </p:sp>
      <p:sp>
        <p:nvSpPr>
          <p:cNvPr id="31" name="Shape 28"/>
          <p:cNvSpPr/>
          <p:nvPr/>
        </p:nvSpPr>
        <p:spPr>
          <a:xfrm>
            <a:off x="6094476" y="4791456"/>
            <a:ext cx="5545836" cy="566928"/>
          </a:xfrm>
          <a:prstGeom prst="rect">
            <a:avLst/>
          </a:prstGeom>
          <a:solidFill>
            <a:srgbClr val="FCF4E0"/>
          </a:solidFill>
          <a:ln w="12700">
            <a:solidFill>
              <a:srgbClr val="DCE5EB"/>
            </a:solidFill>
            <a:prstDash val="solid"/>
          </a:ln>
        </p:spPr>
      </p:sp>
      <p:sp>
        <p:nvSpPr>
          <p:cNvPr id="32" name="Text 29"/>
          <p:cNvSpPr/>
          <p:nvPr/>
        </p:nvSpPr>
        <p:spPr>
          <a:xfrm>
            <a:off x="777240" y="4791456"/>
            <a:ext cx="5180076" cy="566928"/>
          </a:xfrm>
          <a:prstGeom prst="rect">
            <a:avLst/>
          </a:prstGeom>
          <a:noFill/>
          <a:ln/>
        </p:spPr>
        <p:txBody>
          <a:bodyPr wrap="square" lIns="0" tIns="0" rIns="0" bIns="0" rtlCol="0" anchor="ctr"/>
          <a:lstStyle/>
          <a:p>
            <a:pPr marL="0" indent="0">
              <a:buNone/>
            </a:pPr>
            <a:r>
              <a:rPr lang="en-US" sz="1150" dirty="0">
                <a:solidFill>
                  <a:srgbClr val="6B7C8C"/>
                </a:solidFill>
                <a:latin typeface="Courier New" pitchFamily="34" charset="0"/>
                <a:ea typeface="Courier New" pitchFamily="34" charset="-122"/>
                <a:cs typeface="Courier New" pitchFamily="34" charset="-120"/>
              </a:rPr>
              <a:t>this.$store.commit('SET', 5)</a:t>
            </a:r>
            <a:endParaRPr lang="en-US" sz="1150" dirty="0"/>
          </a:p>
        </p:txBody>
      </p:sp>
      <p:sp>
        <p:nvSpPr>
          <p:cNvPr id="33" name="Text 30"/>
          <p:cNvSpPr/>
          <p:nvPr/>
        </p:nvSpPr>
        <p:spPr>
          <a:xfrm>
            <a:off x="6323076" y="4791456"/>
            <a:ext cx="5180076" cy="566928"/>
          </a:xfrm>
          <a:prstGeom prst="rect">
            <a:avLst/>
          </a:prstGeom>
          <a:noFill/>
          <a:ln/>
        </p:spPr>
        <p:txBody>
          <a:bodyPr wrap="square" lIns="0" tIns="0" rIns="0" bIns="0" rtlCol="0" anchor="ctr"/>
          <a:lstStyle/>
          <a:p>
            <a:pPr marL="0" indent="0">
              <a:buNone/>
            </a:pPr>
            <a:r>
              <a:rPr lang="en-US" sz="1150" b="1" dirty="0">
                <a:solidFill>
                  <a:srgbClr val="2C3E50"/>
                </a:solidFill>
                <a:latin typeface="Courier New" pitchFamily="34" charset="0"/>
                <a:ea typeface="Courier New" pitchFamily="34" charset="-122"/>
                <a:cs typeface="Courier New" pitchFamily="34" charset="-120"/>
              </a:rPr>
              <a:t>store.count = 5</a:t>
            </a:r>
            <a:endParaRPr lang="en-US" sz="1150" dirty="0"/>
          </a:p>
        </p:txBody>
      </p:sp>
      <p:sp>
        <p:nvSpPr>
          <p:cNvPr id="34" name="Shape 31"/>
          <p:cNvSpPr/>
          <p:nvPr/>
        </p:nvSpPr>
        <p:spPr>
          <a:xfrm>
            <a:off x="548640" y="5358384"/>
            <a:ext cx="5545836" cy="566928"/>
          </a:xfrm>
          <a:prstGeom prst="rect">
            <a:avLst/>
          </a:prstGeom>
          <a:solidFill>
            <a:srgbClr val="FFFFFF"/>
          </a:solidFill>
          <a:ln w="12700">
            <a:solidFill>
              <a:srgbClr val="DCE5EB"/>
            </a:solidFill>
            <a:prstDash val="solid"/>
          </a:ln>
        </p:spPr>
      </p:sp>
      <p:sp>
        <p:nvSpPr>
          <p:cNvPr id="35" name="Shape 32"/>
          <p:cNvSpPr/>
          <p:nvPr/>
        </p:nvSpPr>
        <p:spPr>
          <a:xfrm>
            <a:off x="6094476" y="5358384"/>
            <a:ext cx="5545836" cy="566928"/>
          </a:xfrm>
          <a:prstGeom prst="rect">
            <a:avLst/>
          </a:prstGeom>
          <a:solidFill>
            <a:srgbClr val="FFFCF3"/>
          </a:solidFill>
          <a:ln w="12700">
            <a:solidFill>
              <a:srgbClr val="DCE5EB"/>
            </a:solidFill>
            <a:prstDash val="solid"/>
          </a:ln>
        </p:spPr>
      </p:sp>
      <p:sp>
        <p:nvSpPr>
          <p:cNvPr id="36" name="Text 33"/>
          <p:cNvSpPr/>
          <p:nvPr/>
        </p:nvSpPr>
        <p:spPr>
          <a:xfrm>
            <a:off x="777240" y="5358384"/>
            <a:ext cx="5180076" cy="566928"/>
          </a:xfrm>
          <a:prstGeom prst="rect">
            <a:avLst/>
          </a:prstGeom>
          <a:noFill/>
          <a:ln/>
        </p:spPr>
        <p:txBody>
          <a:bodyPr wrap="square" lIns="0" tIns="0" rIns="0" bIns="0" rtlCol="0" anchor="ctr"/>
          <a:lstStyle/>
          <a:p>
            <a:pPr marL="0" indent="0">
              <a:buNone/>
            </a:pPr>
            <a:r>
              <a:rPr lang="en-US" sz="1250" dirty="0">
                <a:solidFill>
                  <a:srgbClr val="6B7C8C"/>
                </a:solidFill>
                <a:latin typeface="Calibri" pitchFamily="34" charset="0"/>
                <a:ea typeface="Calibri" pitchFamily="34" charset="-122"/>
                <a:cs typeface="Calibri" pitchFamily="34" charset="-120"/>
              </a:rPr>
              <a:t>official but deprecated</a:t>
            </a:r>
            <a:endParaRPr lang="en-US" sz="1250" dirty="0"/>
          </a:p>
        </p:txBody>
      </p:sp>
      <p:sp>
        <p:nvSpPr>
          <p:cNvPr id="37" name="Text 34"/>
          <p:cNvSpPr/>
          <p:nvPr/>
        </p:nvSpPr>
        <p:spPr>
          <a:xfrm>
            <a:off x="6323076" y="5358384"/>
            <a:ext cx="5180076" cy="566928"/>
          </a:xfrm>
          <a:prstGeom prst="rect">
            <a:avLst/>
          </a:prstGeom>
          <a:noFill/>
          <a:ln/>
        </p:spPr>
        <p:txBody>
          <a:bodyPr wrap="square" lIns="0" tIns="0" rIns="0" bIns="0" rtlCol="0" anchor="ctr"/>
          <a:lstStyle/>
          <a:p>
            <a:pPr marL="0" indent="0">
              <a:buNone/>
            </a:pPr>
            <a:r>
              <a:rPr lang="en-US" sz="1250" b="1" dirty="0">
                <a:solidFill>
                  <a:srgbClr val="2C3E50"/>
                </a:solidFill>
                <a:latin typeface="Calibri" pitchFamily="34" charset="0"/>
                <a:ea typeface="Calibri" pitchFamily="34" charset="-122"/>
                <a:cs typeface="Calibri" pitchFamily="34" charset="-120"/>
              </a:rPr>
              <a:t>official Vue 3 recommendation</a:t>
            </a:r>
            <a:endParaRPr lang="en-US" sz="1250" dirty="0"/>
          </a:p>
        </p:txBody>
      </p:sp>
      <p:sp>
        <p:nvSpPr>
          <p:cNvPr id="38" name="Text 35"/>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39" name="Text 36"/>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Why Pinia</a:t>
            </a:r>
            <a:endParaRPr lang="en-US" sz="900" dirty="0"/>
          </a:p>
        </p:txBody>
      </p:sp>
      <p:sp>
        <p:nvSpPr>
          <p:cNvPr id="40" name="Text 37"/>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A6760C"/>
                </a:solidFill>
                <a:latin typeface="Calibri" pitchFamily="34" charset="0"/>
                <a:ea typeface="Calibri" pitchFamily="34" charset="-122"/>
                <a:cs typeface="Calibri" pitchFamily="34" charset="-120"/>
              </a:rPr>
              <a:t>THEORY · WHY PINIA · 8:00–22:00</a:t>
            </a:r>
            <a:endParaRPr lang="en-US" sz="1200" dirty="0"/>
          </a:p>
        </p:txBody>
      </p:sp>
      <p:sp>
        <p:nvSpPr>
          <p:cNvPr id="5" name="Text 2"/>
          <p:cNvSpPr/>
          <p:nvPr/>
        </p:nvSpPr>
        <p:spPr>
          <a:xfrm>
            <a:off x="1298448" y="713232"/>
            <a:ext cx="10332720" cy="566928"/>
          </a:xfrm>
          <a:prstGeom prst="rect">
            <a:avLst/>
          </a:prstGeom>
          <a:noFill/>
          <a:ln/>
        </p:spPr>
        <p:txBody>
          <a:bodyPr wrap="square" lIns="0" tIns="0" rIns="0" bIns="0" rtlCol="0" anchor="ctr"/>
          <a:lstStyle/>
          <a:p>
            <a:pPr marL="0" indent="0" algn="l">
              <a:buNone/>
            </a:pPr>
            <a:r>
              <a:rPr lang="en-US" sz="2800" b="1" dirty="0">
                <a:solidFill>
                  <a:srgbClr val="2C3E50"/>
                </a:solidFill>
                <a:latin typeface="Cambria" pitchFamily="34" charset="0"/>
                <a:ea typeface="Cambria" pitchFamily="34" charset="-122"/>
                <a:cs typeface="Cambria" pitchFamily="34" charset="-120"/>
              </a:rPr>
              <a:t>Installing Pinia</a:t>
            </a:r>
            <a:endParaRPr lang="en-US" sz="2800" dirty="0"/>
          </a:p>
        </p:txBody>
      </p:sp>
      <p:sp>
        <p:nvSpPr>
          <p:cNvPr id="6" name="Shape 3"/>
          <p:cNvSpPr/>
          <p:nvPr/>
        </p:nvSpPr>
        <p:spPr>
          <a:xfrm>
            <a:off x="548640" y="1417320"/>
            <a:ext cx="6903720" cy="3188208"/>
          </a:xfrm>
          <a:prstGeom prst="roundRect">
            <a:avLst>
              <a:gd name="adj" fmla="val 2581"/>
            </a:avLst>
          </a:prstGeom>
          <a:solidFill>
            <a:srgbClr val="1B2832"/>
          </a:solidFill>
          <a:ln/>
          <a:effectLst>
            <a:outerShdw blurRad="114300" dist="38100" dir="5400000" algn="bl" rotWithShape="0">
              <a:srgbClr val="1E2B38">
                <a:alpha val="16000"/>
              </a:srgbClr>
            </a:outerShdw>
          </a:effectLst>
        </p:spPr>
      </p:sp>
      <p:sp>
        <p:nvSpPr>
          <p:cNvPr id="7" name="Text 4"/>
          <p:cNvSpPr/>
          <p:nvPr/>
        </p:nvSpPr>
        <p:spPr>
          <a:xfrm>
            <a:off x="749808" y="1453896"/>
            <a:ext cx="6501384" cy="3115056"/>
          </a:xfrm>
          <a:prstGeom prst="rect">
            <a:avLst/>
          </a:prstGeom>
          <a:noFill/>
          <a:ln/>
        </p:spPr>
        <p:txBody>
          <a:bodyPr wrap="square" lIns="0" tIns="0" rIns="0" bIns="0" rtlCol="0" anchor="t"/>
          <a:lstStyle/>
          <a:p>
            <a:pPr marL="0" indent="0" algn="l">
              <a:lnSpc>
                <a:spcPts val="1608"/>
              </a:lnSpc>
              <a:buNone/>
            </a:pPr>
            <a:r>
              <a:rPr lang="en-US" sz="1200" dirty="0">
                <a:solidFill>
                  <a:srgbClr val="E7ECEF"/>
                </a:solidFill>
                <a:latin typeface="Courier New" pitchFamily="34" charset="0"/>
                <a:ea typeface="Courier New" pitchFamily="34" charset="-122"/>
                <a:cs typeface="Courier New" pitchFamily="34" charset="-120"/>
              </a:rPr>
              <a:t>npm install pinia</a:t>
            </a:r>
            <a:endParaRPr lang="en-US" sz="1200" dirty="0"/>
          </a:p>
          <a:p>
            <a:pPr marL="0" indent="0" algn="l">
              <a:lnSpc>
                <a:spcPts val="1608"/>
              </a:lnSpc>
              <a:buNone/>
            </a:pPr>
            <a:r>
              <a:rPr lang="en-US" sz="1200" dirty="0">
                <a:solidFill>
                  <a:srgbClr val="E7ECEF"/>
                </a:solidFill>
                <a:latin typeface="Courier New" pitchFamily="34" charset="0"/>
                <a:ea typeface="Courier New" pitchFamily="34" charset="-122"/>
                <a:cs typeface="Courier New" pitchFamily="34" charset="-120"/>
              </a:rPr>
              <a:t> </a:t>
            </a:r>
            <a:endParaRPr lang="en-US" sz="1200" dirty="0"/>
          </a:p>
          <a:p>
            <a:pPr marL="0" indent="0" algn="l">
              <a:lnSpc>
                <a:spcPts val="1608"/>
              </a:lnSpc>
              <a:buNone/>
            </a:pPr>
            <a:r>
              <a:rPr lang="en-US" sz="1200" dirty="0">
                <a:solidFill>
                  <a:srgbClr val="6E8694"/>
                </a:solidFill>
                <a:latin typeface="Courier New" pitchFamily="34" charset="0"/>
                <a:ea typeface="Courier New" pitchFamily="34" charset="-122"/>
                <a:cs typeface="Courier New" pitchFamily="34" charset="-120"/>
              </a:rPr>
              <a:t>// main.js — register with the app</a:t>
            </a:r>
            <a:endParaRPr lang="en-US" sz="1200" dirty="0"/>
          </a:p>
          <a:p>
            <a:pPr marL="0" indent="0" algn="l">
              <a:lnSpc>
                <a:spcPts val="1608"/>
              </a:lnSpc>
              <a:buNone/>
            </a:pPr>
            <a:r>
              <a:rPr lang="en-US" sz="1200" dirty="0">
                <a:solidFill>
                  <a:srgbClr val="E7ECEF"/>
                </a:solidFill>
                <a:latin typeface="Courier New" pitchFamily="34" charset="0"/>
                <a:ea typeface="Courier New" pitchFamily="34" charset="-122"/>
                <a:cs typeface="Courier New" pitchFamily="34" charset="-120"/>
              </a:rPr>
              <a:t>import { createApp }  from 'vue'</a:t>
            </a:r>
            <a:endParaRPr lang="en-US" sz="1200" dirty="0"/>
          </a:p>
          <a:p>
            <a:pPr marL="0" indent="0" algn="l">
              <a:lnSpc>
                <a:spcPts val="1608"/>
              </a:lnSpc>
              <a:buNone/>
            </a:pPr>
            <a:r>
              <a:rPr lang="en-US" sz="1200" dirty="0">
                <a:solidFill>
                  <a:srgbClr val="E7ECEF"/>
                </a:solidFill>
                <a:latin typeface="Courier New" pitchFamily="34" charset="0"/>
                <a:ea typeface="Courier New" pitchFamily="34" charset="-122"/>
                <a:cs typeface="Courier New" pitchFamily="34" charset="-120"/>
              </a:rPr>
              <a:t>import { createPinia } from 'pinia'</a:t>
            </a:r>
            <a:endParaRPr lang="en-US" sz="1200" dirty="0"/>
          </a:p>
          <a:p>
            <a:pPr marL="0" indent="0" algn="l">
              <a:lnSpc>
                <a:spcPts val="1608"/>
              </a:lnSpc>
              <a:buNone/>
            </a:pPr>
            <a:r>
              <a:rPr lang="en-US" sz="1200" dirty="0">
                <a:solidFill>
                  <a:srgbClr val="E7ECEF"/>
                </a:solidFill>
                <a:latin typeface="Courier New" pitchFamily="34" charset="0"/>
                <a:ea typeface="Courier New" pitchFamily="34" charset="-122"/>
                <a:cs typeface="Courier New" pitchFamily="34" charset="-120"/>
              </a:rPr>
              <a:t>import App    from './App.vue'</a:t>
            </a:r>
            <a:endParaRPr lang="en-US" sz="1200" dirty="0"/>
          </a:p>
          <a:p>
            <a:pPr marL="0" indent="0" algn="l">
              <a:lnSpc>
                <a:spcPts val="1608"/>
              </a:lnSpc>
              <a:buNone/>
            </a:pPr>
            <a:r>
              <a:rPr lang="en-US" sz="1200" dirty="0">
                <a:solidFill>
                  <a:srgbClr val="E7ECEF"/>
                </a:solidFill>
                <a:latin typeface="Courier New" pitchFamily="34" charset="0"/>
                <a:ea typeface="Courier New" pitchFamily="34" charset="-122"/>
                <a:cs typeface="Courier New" pitchFamily="34" charset="-120"/>
              </a:rPr>
              <a:t>import router from './router'</a:t>
            </a:r>
            <a:endParaRPr lang="en-US" sz="1200" dirty="0"/>
          </a:p>
          <a:p>
            <a:pPr marL="0" indent="0" algn="l">
              <a:lnSpc>
                <a:spcPts val="1608"/>
              </a:lnSpc>
              <a:buNone/>
            </a:pPr>
            <a:r>
              <a:rPr lang="en-US" sz="1200" dirty="0">
                <a:solidFill>
                  <a:srgbClr val="E7ECEF"/>
                </a:solidFill>
                <a:latin typeface="Courier New" pitchFamily="34" charset="0"/>
                <a:ea typeface="Courier New" pitchFamily="34" charset="-122"/>
                <a:cs typeface="Courier New" pitchFamily="34" charset="-120"/>
              </a:rPr>
              <a:t> </a:t>
            </a:r>
            <a:endParaRPr lang="en-US" sz="1200" dirty="0"/>
          </a:p>
          <a:p>
            <a:pPr marL="0" indent="0" algn="l">
              <a:lnSpc>
                <a:spcPts val="1608"/>
              </a:lnSpc>
              <a:buNone/>
            </a:pPr>
            <a:r>
              <a:rPr lang="en-US" sz="1200" dirty="0">
                <a:solidFill>
                  <a:srgbClr val="E7ECEF"/>
                </a:solidFill>
                <a:latin typeface="Courier New" pitchFamily="34" charset="0"/>
                <a:ea typeface="Courier New" pitchFamily="34" charset="-122"/>
                <a:cs typeface="Courier New" pitchFamily="34" charset="-120"/>
              </a:rPr>
              <a:t>const app   = createApp(App)</a:t>
            </a:r>
            <a:endParaRPr lang="en-US" sz="1200" dirty="0"/>
          </a:p>
          <a:p>
            <a:pPr marL="0" indent="0" algn="l">
              <a:lnSpc>
                <a:spcPts val="1608"/>
              </a:lnSpc>
              <a:buNone/>
            </a:pPr>
            <a:r>
              <a:rPr lang="en-US" sz="1200" dirty="0">
                <a:solidFill>
                  <a:srgbClr val="E7ECEF"/>
                </a:solidFill>
                <a:latin typeface="Courier New" pitchFamily="34" charset="0"/>
                <a:ea typeface="Courier New" pitchFamily="34" charset="-122"/>
                <a:cs typeface="Courier New" pitchFamily="34" charset="-120"/>
              </a:rPr>
              <a:t>const pinia = createPinia()</a:t>
            </a:r>
            <a:endParaRPr lang="en-US" sz="1200" dirty="0"/>
          </a:p>
          <a:p>
            <a:pPr marL="0" indent="0" algn="l">
              <a:lnSpc>
                <a:spcPts val="1608"/>
              </a:lnSpc>
              <a:buNone/>
            </a:pPr>
            <a:r>
              <a:rPr lang="en-US" sz="1200" dirty="0">
                <a:solidFill>
                  <a:srgbClr val="E7ECEF"/>
                </a:solidFill>
                <a:latin typeface="Courier New" pitchFamily="34" charset="0"/>
                <a:ea typeface="Courier New" pitchFamily="34" charset="-122"/>
                <a:cs typeface="Courier New" pitchFamily="34" charset="-120"/>
              </a:rPr>
              <a:t> </a:t>
            </a:r>
            <a:endParaRPr lang="en-US" sz="1200" dirty="0"/>
          </a:p>
          <a:p>
            <a:pPr marL="0" indent="0" algn="l">
              <a:lnSpc>
                <a:spcPts val="1608"/>
              </a:lnSpc>
              <a:buNone/>
            </a:pPr>
            <a:r>
              <a:rPr lang="en-US" sz="1200" dirty="0">
                <a:solidFill>
                  <a:srgbClr val="E7ECEF"/>
                </a:solidFill>
                <a:latin typeface="Courier New" pitchFamily="34" charset="0"/>
                <a:ea typeface="Courier New" pitchFamily="34" charset="-122"/>
                <a:cs typeface="Courier New" pitchFamily="34" charset="-120"/>
              </a:rPr>
              <a:t>app.use(pinia)   // BEFORE router if guards use stores</a:t>
            </a:r>
            <a:endParaRPr lang="en-US" sz="1200" dirty="0"/>
          </a:p>
          <a:p>
            <a:pPr marL="0" indent="0" algn="l">
              <a:lnSpc>
                <a:spcPts val="1608"/>
              </a:lnSpc>
              <a:buNone/>
            </a:pPr>
            <a:r>
              <a:rPr lang="en-US" sz="1200" dirty="0">
                <a:solidFill>
                  <a:srgbClr val="E7ECEF"/>
                </a:solidFill>
                <a:latin typeface="Courier New" pitchFamily="34" charset="0"/>
                <a:ea typeface="Courier New" pitchFamily="34" charset="-122"/>
                <a:cs typeface="Courier New" pitchFamily="34" charset="-120"/>
              </a:rPr>
              <a:t>app.use(router)</a:t>
            </a:r>
            <a:endParaRPr lang="en-US" sz="1200" dirty="0"/>
          </a:p>
          <a:p>
            <a:pPr marL="0" indent="0" algn="l">
              <a:lnSpc>
                <a:spcPts val="1608"/>
              </a:lnSpc>
              <a:buNone/>
            </a:pPr>
            <a:r>
              <a:rPr lang="en-US" sz="1200" dirty="0">
                <a:solidFill>
                  <a:srgbClr val="E7ECEF"/>
                </a:solidFill>
                <a:latin typeface="Courier New" pitchFamily="34" charset="0"/>
                <a:ea typeface="Courier New" pitchFamily="34" charset="-122"/>
                <a:cs typeface="Courier New" pitchFamily="34" charset="-120"/>
              </a:rPr>
              <a:t>app.mount('#app')</a:t>
            </a:r>
            <a:endParaRPr lang="en-US" sz="1200" dirty="0"/>
          </a:p>
        </p:txBody>
      </p:sp>
      <p:sp>
        <p:nvSpPr>
          <p:cNvPr id="8" name="Shape 5"/>
          <p:cNvSpPr/>
          <p:nvPr/>
        </p:nvSpPr>
        <p:spPr>
          <a:xfrm>
            <a:off x="7635240" y="1417320"/>
            <a:ext cx="4005072" cy="2423160"/>
          </a:xfrm>
          <a:prstGeom prst="roundRect">
            <a:avLst>
              <a:gd name="adj" fmla="val 3019"/>
            </a:avLst>
          </a:prstGeom>
          <a:solidFill>
            <a:srgbClr val="F4F7F9"/>
          </a:solidFill>
          <a:ln w="12700">
            <a:solidFill>
              <a:srgbClr val="DCE5EB"/>
            </a:solidFill>
            <a:prstDash val="solid"/>
          </a:ln>
          <a:effectLst>
            <a:outerShdw blurRad="88900" dist="25400" dir="5400000" algn="bl" rotWithShape="0">
              <a:srgbClr val="35495E">
                <a:alpha val="13000"/>
              </a:srgbClr>
            </a:outerShdw>
          </a:effectLst>
        </p:spPr>
      </p:sp>
      <p:sp>
        <p:nvSpPr>
          <p:cNvPr id="9" name="Text 6"/>
          <p:cNvSpPr/>
          <p:nvPr/>
        </p:nvSpPr>
        <p:spPr>
          <a:xfrm>
            <a:off x="7863840" y="1572768"/>
            <a:ext cx="3657600" cy="329184"/>
          </a:xfrm>
          <a:prstGeom prst="rect">
            <a:avLst/>
          </a:prstGeom>
          <a:noFill/>
          <a:ln/>
        </p:spPr>
        <p:txBody>
          <a:bodyPr wrap="square" lIns="0" tIns="0" rIns="0" bIns="0" rtlCol="0" anchor="ctr"/>
          <a:lstStyle/>
          <a:p>
            <a:pPr marL="0" indent="0">
              <a:buNone/>
            </a:pPr>
            <a:r>
              <a:rPr lang="en-US" sz="1300" b="1" dirty="0">
                <a:solidFill>
                  <a:srgbClr val="A6760C"/>
                </a:solidFill>
                <a:latin typeface="Calibri" pitchFamily="34" charset="0"/>
                <a:ea typeface="Calibri" pitchFamily="34" charset="-122"/>
                <a:cs typeface="Calibri" pitchFamily="34" charset="-120"/>
              </a:rPr>
              <a:t>Recommended structure</a:t>
            </a:r>
            <a:endParaRPr lang="en-US" sz="1300" dirty="0"/>
          </a:p>
        </p:txBody>
      </p:sp>
      <p:sp>
        <p:nvSpPr>
          <p:cNvPr id="10" name="Text 7"/>
          <p:cNvSpPr/>
          <p:nvPr/>
        </p:nvSpPr>
        <p:spPr>
          <a:xfrm>
            <a:off x="7863840" y="1938528"/>
            <a:ext cx="3657600" cy="1828800"/>
          </a:xfrm>
          <a:prstGeom prst="rect">
            <a:avLst/>
          </a:prstGeom>
          <a:noFill/>
          <a:ln/>
        </p:spPr>
        <p:txBody>
          <a:bodyPr wrap="square" lIns="0" tIns="0" rIns="0" bIns="0" rtlCol="0" anchor="t"/>
          <a:lstStyle/>
          <a:p>
            <a:pPr marL="0" indent="0" algn="l">
              <a:lnSpc>
                <a:spcPts val="1700"/>
              </a:lnSpc>
              <a:buNone/>
            </a:pPr>
            <a:r>
              <a:rPr lang="en-US" sz="1150" dirty="0">
                <a:solidFill>
                  <a:srgbClr val="6B7C8C"/>
                </a:solidFill>
                <a:latin typeface="Courier New" pitchFamily="34" charset="0"/>
                <a:ea typeface="Courier New" pitchFamily="34" charset="-122"/>
                <a:cs typeface="Courier New" pitchFamily="34" charset="-120"/>
              </a:rPr>
              <a:t>src/stores/
</a:t>
            </a:r>
            <a:endParaRPr lang="en-US" sz="1150" dirty="0"/>
          </a:p>
          <a:p>
            <a:pPr marL="0" indent="0" algn="l">
              <a:lnSpc>
                <a:spcPts val="1700"/>
              </a:lnSpc>
              <a:buNone/>
            </a:pPr>
            <a:r>
              <a:rPr lang="en-US" sz="1150" dirty="0">
                <a:solidFill>
                  <a:srgbClr val="55C998"/>
                </a:solidFill>
                <a:latin typeface="Courier New" pitchFamily="34" charset="0"/>
                <a:ea typeface="Courier New" pitchFamily="34" charset="-122"/>
                <a:cs typeface="Courier New" pitchFamily="34" charset="-120"/>
              </a:rPr>
              <a:t>  auth.js</a:t>
            </a:r>
            <a:r>
              <a:rPr lang="en-US" sz="1150" dirty="0">
                <a:solidFill>
                  <a:srgbClr val="9AAAB6"/>
                </a:solidFill>
                <a:latin typeface="Courier New" pitchFamily="34" charset="0"/>
                <a:ea typeface="Courier New" pitchFamily="34" charset="-122"/>
                <a:cs typeface="Courier New" pitchFamily="34" charset="-120"/>
              </a:rPr>
              <a:t>   ← useAuthStore
</a:t>
            </a:r>
            <a:endParaRPr lang="en-US" sz="1150" dirty="0"/>
          </a:p>
          <a:p>
            <a:pPr marL="0" indent="0" algn="l">
              <a:lnSpc>
                <a:spcPts val="1700"/>
              </a:lnSpc>
              <a:buNone/>
            </a:pPr>
            <a:r>
              <a:rPr lang="en-US" sz="1150" dirty="0">
                <a:solidFill>
                  <a:srgbClr val="55C998"/>
                </a:solidFill>
                <a:latin typeface="Courier New" pitchFamily="34" charset="0"/>
                <a:ea typeface="Courier New" pitchFamily="34" charset="-122"/>
                <a:cs typeface="Courier New" pitchFamily="34" charset="-120"/>
              </a:rPr>
              <a:t>  cart.js</a:t>
            </a:r>
            <a:r>
              <a:rPr lang="en-US" sz="1150" dirty="0">
                <a:solidFill>
                  <a:srgbClr val="9AAAB6"/>
                </a:solidFill>
                <a:latin typeface="Courier New" pitchFamily="34" charset="0"/>
                <a:ea typeface="Courier New" pitchFamily="34" charset="-122"/>
                <a:cs typeface="Courier New" pitchFamily="34" charset="-120"/>
              </a:rPr>
              <a:t>   ← useCartStore
</a:t>
            </a:r>
            <a:endParaRPr lang="en-US" sz="1150" dirty="0"/>
          </a:p>
          <a:p>
            <a:pPr marL="0" indent="0" algn="l">
              <a:lnSpc>
                <a:spcPts val="1700"/>
              </a:lnSpc>
              <a:buNone/>
            </a:pPr>
            <a:r>
              <a:rPr lang="en-US" sz="1150" dirty="0">
                <a:solidFill>
                  <a:srgbClr val="55C998"/>
                </a:solidFill>
                <a:latin typeface="Courier New" pitchFamily="34" charset="0"/>
                <a:ea typeface="Courier New" pitchFamily="34" charset="-122"/>
                <a:cs typeface="Courier New" pitchFamily="34" charset="-120"/>
              </a:rPr>
              <a:t>  ui.js</a:t>
            </a:r>
            <a:r>
              <a:rPr lang="en-US" sz="1150" dirty="0">
                <a:solidFill>
                  <a:srgbClr val="9AAAB6"/>
                </a:solidFill>
                <a:latin typeface="Courier New" pitchFamily="34" charset="0"/>
                <a:ea typeface="Courier New" pitchFamily="34" charset="-122"/>
                <a:cs typeface="Courier New" pitchFamily="34" charset="-120"/>
              </a:rPr>
              <a:t>     ← modals · theme
</a:t>
            </a:r>
            <a:endParaRPr lang="en-US" sz="1150" dirty="0"/>
          </a:p>
          <a:p>
            <a:pPr marL="0" indent="0" algn="l">
              <a:lnSpc>
                <a:spcPts val="1700"/>
              </a:lnSpc>
              <a:buNone/>
            </a:pPr>
            <a:r>
              <a:rPr lang="en-US" sz="1150" dirty="0">
                <a:solidFill>
                  <a:srgbClr val="55C998"/>
                </a:solidFill>
                <a:latin typeface="Courier New" pitchFamily="34" charset="0"/>
                <a:ea typeface="Courier New" pitchFamily="34" charset="-122"/>
                <a:cs typeface="Courier New" pitchFamily="34" charset="-120"/>
              </a:rPr>
              <a:t>  user.js</a:t>
            </a:r>
            <a:r>
              <a:rPr lang="en-US" sz="1150" dirty="0">
                <a:solidFill>
                  <a:srgbClr val="9AAAB6"/>
                </a:solidFill>
                <a:latin typeface="Courier New" pitchFamily="34" charset="0"/>
                <a:ea typeface="Courier New" pitchFamily="34" charset="-122"/>
                <a:cs typeface="Courier New" pitchFamily="34" charset="-120"/>
              </a:rPr>
              <a:t>   ← useUserStore</a:t>
            </a:r>
            <a:endParaRPr lang="en-US" sz="1150" dirty="0"/>
          </a:p>
        </p:txBody>
      </p:sp>
      <p:sp>
        <p:nvSpPr>
          <p:cNvPr id="11" name="Shape 8"/>
          <p:cNvSpPr/>
          <p:nvPr/>
        </p:nvSpPr>
        <p:spPr>
          <a:xfrm>
            <a:off x="7635240" y="4023360"/>
            <a:ext cx="4005072" cy="1865376"/>
          </a:xfrm>
          <a:prstGeom prst="roundRect">
            <a:avLst>
              <a:gd name="adj" fmla="val 3431"/>
            </a:avLst>
          </a:prstGeom>
          <a:solidFill>
            <a:srgbClr val="FCF4E0"/>
          </a:solidFill>
          <a:ln/>
          <a:effectLst>
            <a:outerShdw blurRad="88900" dist="25400" dir="5400000" algn="bl" rotWithShape="0">
              <a:srgbClr val="35495E">
                <a:alpha val="13000"/>
              </a:srgbClr>
            </a:outerShdw>
          </a:effectLst>
        </p:spPr>
      </p:sp>
      <p:sp>
        <p:nvSpPr>
          <p:cNvPr id="12" name="Shape 9"/>
          <p:cNvSpPr/>
          <p:nvPr/>
        </p:nvSpPr>
        <p:spPr>
          <a:xfrm>
            <a:off x="7836408" y="4224528"/>
            <a:ext cx="457200" cy="457200"/>
          </a:xfrm>
          <a:prstGeom prst="ellipse">
            <a:avLst/>
          </a:prstGeom>
          <a:solidFill>
            <a:srgbClr val="E0A21B"/>
          </a:solidFill>
          <a:ln/>
          <a:effectLst>
            <a:outerShdw blurRad="88900" dist="25400" dir="5400000" algn="bl" rotWithShape="0">
              <a:srgbClr val="35495E">
                <a:alpha val="13000"/>
              </a:srgbClr>
            </a:outerShdw>
          </a:effectLst>
        </p:spPr>
      </p:sp>
      <p:pic>
        <p:nvPicPr>
          <p:cNvPr id="13" name="Image 1" descr="preencoded.png"/>
          <p:cNvPicPr>
            <a:picLocks noChangeAspect="1"/>
          </p:cNvPicPr>
          <p:nvPr/>
        </p:nvPicPr>
        <p:blipFill>
          <a:blip r:embed="rId4"/>
          <a:stretch>
            <a:fillRect/>
          </a:stretch>
        </p:blipFill>
        <p:spPr>
          <a:xfrm>
            <a:off x="7959852" y="4347972"/>
            <a:ext cx="210312" cy="210312"/>
          </a:xfrm>
          <a:prstGeom prst="rect">
            <a:avLst/>
          </a:prstGeom>
        </p:spPr>
      </p:pic>
      <p:sp>
        <p:nvSpPr>
          <p:cNvPr id="14" name="Text 10"/>
          <p:cNvSpPr/>
          <p:nvPr/>
        </p:nvSpPr>
        <p:spPr>
          <a:xfrm>
            <a:off x="8421624" y="4187952"/>
            <a:ext cx="3044952" cy="310896"/>
          </a:xfrm>
          <a:prstGeom prst="rect">
            <a:avLst/>
          </a:prstGeom>
          <a:noFill/>
          <a:ln/>
        </p:spPr>
        <p:txBody>
          <a:bodyPr wrap="square" lIns="0" tIns="0" rIns="0" bIns="0" rtlCol="0" anchor="ctr"/>
          <a:lstStyle/>
          <a:p>
            <a:pPr marL="0" indent="0" algn="l">
              <a:buNone/>
            </a:pPr>
            <a:r>
              <a:rPr lang="en-US" sz="1400" b="1" dirty="0">
                <a:solidFill>
                  <a:srgbClr val="A6760C"/>
                </a:solidFill>
                <a:latin typeface="Calibri" pitchFamily="34" charset="0"/>
                <a:ea typeface="Calibri" pitchFamily="34" charset="-122"/>
                <a:cs typeface="Calibri" pitchFamily="34" charset="-120"/>
              </a:rPr>
              <a:t>Naming convention</a:t>
            </a:r>
            <a:endParaRPr lang="en-US" sz="1400" dirty="0"/>
          </a:p>
        </p:txBody>
      </p:sp>
      <p:sp>
        <p:nvSpPr>
          <p:cNvPr id="15" name="Text 11"/>
          <p:cNvSpPr/>
          <p:nvPr/>
        </p:nvSpPr>
        <p:spPr>
          <a:xfrm>
            <a:off x="8421624" y="4498848"/>
            <a:ext cx="3044952" cy="1261872"/>
          </a:xfrm>
          <a:prstGeom prst="rect">
            <a:avLst/>
          </a:prstGeom>
          <a:noFill/>
          <a:ln/>
        </p:spPr>
        <p:txBody>
          <a:bodyPr wrap="square" lIns="0" tIns="0" rIns="0" bIns="0" rtlCol="0" anchor="t"/>
          <a:lstStyle/>
          <a:p>
            <a:pPr marL="0" indent="0" algn="l">
              <a:lnSpc>
                <a:spcPts val="1600"/>
              </a:lnSpc>
              <a:buNone/>
            </a:pPr>
            <a:r>
              <a:rPr lang="en-US" sz="1250" dirty="0">
                <a:solidFill>
                  <a:srgbClr val="2C3E50"/>
                </a:solidFill>
                <a:latin typeface="Calibri" pitchFamily="34" charset="0"/>
                <a:ea typeface="Calibri" pitchFamily="34" charset="-122"/>
                <a:cs typeface="Calibri" pitchFamily="34" charset="-120"/>
              </a:rPr>
              <a:t>Files are named by domain (auth.js). The export is always useXxxStore — the use prefix signals a composable you call in any component or guard.</a:t>
            </a:r>
            <a:endParaRPr lang="en-US" sz="1250" dirty="0"/>
          </a:p>
        </p:txBody>
      </p:sp>
      <p:sp>
        <p:nvSpPr>
          <p:cNvPr id="16" name="Text 12"/>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17" name="Text 13"/>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Setup</a:t>
            </a:r>
            <a:endParaRPr lang="en-US" sz="900" dirty="0"/>
          </a:p>
        </p:txBody>
      </p:sp>
      <p:sp>
        <p:nvSpPr>
          <p:cNvPr id="18" name="Text 14"/>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A6760C"/>
                </a:solidFill>
                <a:latin typeface="Calibri" pitchFamily="34" charset="0"/>
                <a:ea typeface="Calibri" pitchFamily="34" charset="-122"/>
                <a:cs typeface="Calibri" pitchFamily="34" charset="-120"/>
              </a:rPr>
              <a:t>THEORY · DEFINESTORE · 22:00–42:00</a:t>
            </a:r>
            <a:endParaRPr lang="en-US" sz="1200" dirty="0"/>
          </a:p>
        </p:txBody>
      </p:sp>
      <p:sp>
        <p:nvSpPr>
          <p:cNvPr id="5" name="Text 2"/>
          <p:cNvSpPr/>
          <p:nvPr/>
        </p:nvSpPr>
        <p:spPr>
          <a:xfrm>
            <a:off x="1298448" y="713232"/>
            <a:ext cx="10332720" cy="566928"/>
          </a:xfrm>
          <a:prstGeom prst="rect">
            <a:avLst/>
          </a:prstGeom>
          <a:noFill/>
          <a:ln/>
        </p:spPr>
        <p:txBody>
          <a:bodyPr wrap="square" lIns="0" tIns="0" rIns="0" bIns="0" rtlCol="0" anchor="ctr"/>
          <a:lstStyle/>
          <a:p>
            <a:pPr marL="0" indent="0" algn="l">
              <a:buNone/>
            </a:pPr>
            <a:r>
              <a:rPr lang="en-US" sz="2800" b="1" dirty="0">
                <a:solidFill>
                  <a:srgbClr val="2C3E50"/>
                </a:solidFill>
                <a:latin typeface="Cambria" pitchFamily="34" charset="0"/>
                <a:ea typeface="Cambria" pitchFamily="34" charset="-122"/>
                <a:cs typeface="Cambria" pitchFamily="34" charset="-120"/>
              </a:rPr>
              <a:t>Options Store — Familiar Structure</a:t>
            </a:r>
            <a:endParaRPr lang="en-US" sz="2800" dirty="0"/>
          </a:p>
        </p:txBody>
      </p:sp>
      <p:sp>
        <p:nvSpPr>
          <p:cNvPr id="6" name="Text 3"/>
          <p:cNvSpPr/>
          <p:nvPr/>
        </p:nvSpPr>
        <p:spPr>
          <a:xfrm>
            <a:off x="548640" y="1298448"/>
            <a:ext cx="11064240" cy="365760"/>
          </a:xfrm>
          <a:prstGeom prst="rect">
            <a:avLst/>
          </a:prstGeom>
          <a:noFill/>
          <a:ln/>
        </p:spPr>
        <p:txBody>
          <a:bodyPr wrap="square" lIns="0" tIns="0" rIns="0" bIns="0" rtlCol="0" anchor="ctr"/>
          <a:lstStyle/>
          <a:p>
            <a:pPr marL="0" indent="0">
              <a:buNone/>
            </a:pPr>
            <a:r>
              <a:rPr lang="en-US" sz="1300" dirty="0">
                <a:solidFill>
                  <a:srgbClr val="6B7C8C"/>
                </a:solidFill>
                <a:latin typeface="Calibri" pitchFamily="34" charset="0"/>
                <a:ea typeface="Calibri" pitchFamily="34" charset="-122"/>
                <a:cs typeface="Calibri" pitchFamily="34" charset="-120"/>
              </a:rPr>
              <a:t>Mirrors the Options API: state is a function, getters are computed, actions are methods. Comfortable for teams coming from Vuex.</a:t>
            </a:r>
            <a:endParaRPr lang="en-US" sz="1300" dirty="0"/>
          </a:p>
        </p:txBody>
      </p:sp>
      <p:sp>
        <p:nvSpPr>
          <p:cNvPr id="7" name="Shape 4"/>
          <p:cNvSpPr/>
          <p:nvPr/>
        </p:nvSpPr>
        <p:spPr>
          <a:xfrm>
            <a:off x="548640" y="1783080"/>
            <a:ext cx="11091672" cy="4439031"/>
          </a:xfrm>
          <a:prstGeom prst="roundRect">
            <a:avLst>
              <a:gd name="adj" fmla="val 1854"/>
            </a:avLst>
          </a:prstGeom>
          <a:solidFill>
            <a:srgbClr val="1B2832"/>
          </a:solidFill>
          <a:ln/>
          <a:effectLst>
            <a:outerShdw blurRad="114300" dist="38100" dir="5400000" algn="bl" rotWithShape="0">
              <a:srgbClr val="1E2B38">
                <a:alpha val="16000"/>
              </a:srgbClr>
            </a:outerShdw>
          </a:effectLst>
        </p:spPr>
      </p:sp>
      <p:sp>
        <p:nvSpPr>
          <p:cNvPr id="8" name="Text 5"/>
          <p:cNvSpPr/>
          <p:nvPr/>
        </p:nvSpPr>
        <p:spPr>
          <a:xfrm>
            <a:off x="749808" y="1819656"/>
            <a:ext cx="10689336" cy="4365879"/>
          </a:xfrm>
          <a:prstGeom prst="rect">
            <a:avLst/>
          </a:prstGeom>
          <a:noFill/>
          <a:ln/>
        </p:spPr>
        <p:txBody>
          <a:bodyPr wrap="square" lIns="0" tIns="0" rIns="0" bIns="0" rtlCol="0" anchor="t"/>
          <a:lstStyle/>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import { defineStore } from 'pinia'</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export const useCounterStore = defineStore('counter', {</a:t>
            </a:r>
            <a:endParaRPr lang="en-US" sz="1150" dirty="0"/>
          </a:p>
          <a:p>
            <a:pPr marL="0" indent="0" algn="l">
              <a:lnSpc>
                <a:spcPts val="1541"/>
              </a:lnSpc>
              <a:buNone/>
            </a:pPr>
            <a:r>
              <a:rPr lang="en-US" sz="1150" dirty="0">
                <a:solidFill>
                  <a:srgbClr val="6E8694"/>
                </a:solidFill>
                <a:latin typeface="Courier New" pitchFamily="34" charset="0"/>
                <a:ea typeface="Courier New" pitchFamily="34" charset="-122"/>
                <a:cs typeface="Courier New" pitchFamily="34" charset="-120"/>
              </a:rPr>
              <a:t>  // state — always a function returning an object</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state: () =&gt; ({ count: 0, history: [], label: 'My Counter'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t>
            </a:r>
            <a:endParaRPr lang="en-US" sz="1150" dirty="0"/>
          </a:p>
          <a:p>
            <a:pPr marL="0" indent="0" algn="l">
              <a:lnSpc>
                <a:spcPts val="1541"/>
              </a:lnSpc>
              <a:buNone/>
            </a:pPr>
            <a:r>
              <a:rPr lang="en-US" sz="1150" dirty="0">
                <a:solidFill>
                  <a:srgbClr val="6E8694"/>
                </a:solidFill>
                <a:latin typeface="Courier New" pitchFamily="34" charset="0"/>
                <a:ea typeface="Courier New" pitchFamily="34" charset="-122"/>
                <a:cs typeface="Courier New" pitchFamily="34" charset="-120"/>
              </a:rPr>
              <a:t>  // getters — like computed, receive state</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getters: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doubleCount: (state) =&gt; state.count * 2,</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labelWithCount() { return `${this.label}: ${this.count}`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t>
            </a:r>
            <a:endParaRPr lang="en-US" sz="1150" dirty="0"/>
          </a:p>
          <a:p>
            <a:pPr marL="0" indent="0" algn="l">
              <a:lnSpc>
                <a:spcPts val="1541"/>
              </a:lnSpc>
              <a:buNone/>
            </a:pPr>
            <a:r>
              <a:rPr lang="en-US" sz="1150" dirty="0">
                <a:solidFill>
                  <a:srgbClr val="6E8694"/>
                </a:solidFill>
                <a:latin typeface="Courier New" pitchFamily="34" charset="0"/>
                <a:ea typeface="Courier New" pitchFamily="34" charset="-122"/>
                <a:cs typeface="Courier New" pitchFamily="34" charset="-120"/>
              </a:rPr>
              <a:t>  // actions — sync or async methods that mutate state</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actions: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increment() { this.count++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async fetchInitialCount()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const { data } = await api.get('/counter')</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this.count = data.count</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a:t>
            </a:r>
            <a:endParaRPr lang="en-US" sz="1150" dirty="0"/>
          </a:p>
        </p:txBody>
      </p:sp>
      <p:sp>
        <p:nvSpPr>
          <p:cNvPr id="9" name="Text 6"/>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10" name="Text 7"/>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defineStore</a:t>
            </a:r>
            <a:endParaRPr lang="en-US" sz="900" dirty="0"/>
          </a:p>
        </p:txBody>
      </p:sp>
      <p:sp>
        <p:nvSpPr>
          <p:cNvPr id="11" name="Text 8"/>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A6760C"/>
                </a:solidFill>
                <a:latin typeface="Calibri" pitchFamily="34" charset="0"/>
                <a:ea typeface="Calibri" pitchFamily="34" charset="-122"/>
                <a:cs typeface="Calibri" pitchFamily="34" charset="-120"/>
              </a:rPr>
              <a:t>THEORY · DEFINESTORE · 22:00–42:00</a:t>
            </a:r>
            <a:endParaRPr lang="en-US" sz="1200" dirty="0"/>
          </a:p>
        </p:txBody>
      </p:sp>
      <p:sp>
        <p:nvSpPr>
          <p:cNvPr id="5" name="Text 2"/>
          <p:cNvSpPr/>
          <p:nvPr/>
        </p:nvSpPr>
        <p:spPr>
          <a:xfrm>
            <a:off x="1298448" y="713232"/>
            <a:ext cx="10332720" cy="566928"/>
          </a:xfrm>
          <a:prstGeom prst="rect">
            <a:avLst/>
          </a:prstGeom>
          <a:noFill/>
          <a:ln/>
        </p:spPr>
        <p:txBody>
          <a:bodyPr wrap="square" lIns="0" tIns="0" rIns="0" bIns="0" rtlCol="0" anchor="ctr"/>
          <a:lstStyle/>
          <a:p>
            <a:pPr marL="0" indent="0" algn="l">
              <a:buNone/>
            </a:pPr>
            <a:r>
              <a:rPr lang="en-US" sz="2800" b="1" dirty="0">
                <a:solidFill>
                  <a:srgbClr val="2C3E50"/>
                </a:solidFill>
                <a:latin typeface="Cambria" pitchFamily="34" charset="0"/>
                <a:ea typeface="Cambria" pitchFamily="34" charset="-122"/>
                <a:cs typeface="Cambria" pitchFamily="34" charset="-120"/>
              </a:rPr>
              <a:t>Setup Store — Composition API Style</a:t>
            </a:r>
            <a:endParaRPr lang="en-US" sz="2800" dirty="0"/>
          </a:p>
        </p:txBody>
      </p:sp>
      <p:sp>
        <p:nvSpPr>
          <p:cNvPr id="6" name="Text 3"/>
          <p:cNvSpPr/>
          <p:nvPr/>
        </p:nvSpPr>
        <p:spPr>
          <a:xfrm>
            <a:off x="548640" y="1298448"/>
            <a:ext cx="11064240" cy="365760"/>
          </a:xfrm>
          <a:prstGeom prst="rect">
            <a:avLst/>
          </a:prstGeom>
          <a:noFill/>
          <a:ln/>
        </p:spPr>
        <p:txBody>
          <a:bodyPr wrap="square" lIns="0" tIns="0" rIns="0" bIns="0" rtlCol="0" anchor="ctr"/>
          <a:lstStyle/>
          <a:p>
            <a:pPr marL="0" indent="0">
              <a:buNone/>
            </a:pPr>
            <a:r>
              <a:rPr lang="en-US" sz="1300" dirty="0">
                <a:solidFill>
                  <a:srgbClr val="6B7C8C"/>
                </a:solidFill>
                <a:latin typeface="Calibri" pitchFamily="34" charset="0"/>
                <a:ea typeface="Calibri" pitchFamily="34" charset="-122"/>
                <a:cs typeface="Calibri" pitchFamily="34" charset="-120"/>
              </a:rPr>
              <a:t>Pass a setup function — identical to &lt;script setup&gt;. refs for state, computed for getters, plain functions for actions.</a:t>
            </a:r>
            <a:endParaRPr lang="en-US" sz="1300" dirty="0"/>
          </a:p>
        </p:txBody>
      </p:sp>
      <p:sp>
        <p:nvSpPr>
          <p:cNvPr id="7" name="Shape 4"/>
          <p:cNvSpPr/>
          <p:nvPr/>
        </p:nvSpPr>
        <p:spPr>
          <a:xfrm>
            <a:off x="548640" y="1783080"/>
            <a:ext cx="11091672" cy="4047617"/>
          </a:xfrm>
          <a:prstGeom prst="roundRect">
            <a:avLst>
              <a:gd name="adj" fmla="val 2033"/>
            </a:avLst>
          </a:prstGeom>
          <a:solidFill>
            <a:srgbClr val="1B2832"/>
          </a:solidFill>
          <a:ln/>
          <a:effectLst>
            <a:outerShdw blurRad="114300" dist="38100" dir="5400000" algn="bl" rotWithShape="0">
              <a:srgbClr val="1E2B38">
                <a:alpha val="16000"/>
              </a:srgbClr>
            </a:outerShdw>
          </a:effectLst>
        </p:spPr>
      </p:sp>
      <p:sp>
        <p:nvSpPr>
          <p:cNvPr id="8" name="Text 5"/>
          <p:cNvSpPr/>
          <p:nvPr/>
        </p:nvSpPr>
        <p:spPr>
          <a:xfrm>
            <a:off x="749808" y="1819656"/>
            <a:ext cx="10689336" cy="3974465"/>
          </a:xfrm>
          <a:prstGeom prst="rect">
            <a:avLst/>
          </a:prstGeom>
          <a:noFill/>
          <a:ln/>
        </p:spPr>
        <p:txBody>
          <a:bodyPr wrap="square" lIns="0" tIns="0" rIns="0" bIns="0" rtlCol="0" anchor="t"/>
          <a:lstStyle/>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import { defineStore } from 'pinia'</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import { ref, computed } from 'vue'</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export const useCounterStore = defineStore('counter', () =&gt;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const count   = ref(0)                    // state</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const history = ref([])</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const label   = ref('My Counter')</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const doubleCount = computed(() =&gt; count.value * 2)   // getters</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function increment() { count.value++ }                // actions</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async function fetchInitialCount()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const { data } = await api.get('/counter')</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count.value = data.count</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t>
            </a:r>
            <a:endParaRPr lang="en-US" sz="1150" dirty="0"/>
          </a:p>
          <a:p>
            <a:pPr marL="0" indent="0" algn="l">
              <a:lnSpc>
                <a:spcPts val="1541"/>
              </a:lnSpc>
              <a:buNone/>
            </a:pPr>
            <a:r>
              <a:rPr lang="en-US" sz="1150" dirty="0">
                <a:solidFill>
                  <a:srgbClr val="6E8694"/>
                </a:solidFill>
                <a:latin typeface="Courier New" pitchFamily="34" charset="0"/>
                <a:ea typeface="Courier New" pitchFamily="34" charset="-122"/>
                <a:cs typeface="Courier New" pitchFamily="34" charset="-120"/>
              </a:rPr>
              <a:t>  // MUST return everything components need</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return { count, history, label, doubleCount, increment, fetchInitialCount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a:t>
            </a:r>
            <a:endParaRPr lang="en-US" sz="1150" dirty="0"/>
          </a:p>
        </p:txBody>
      </p:sp>
      <p:sp>
        <p:nvSpPr>
          <p:cNvPr id="9" name="Text 6"/>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10" name="Text 7"/>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defineStore</a:t>
            </a:r>
            <a:endParaRPr lang="en-US" sz="900" dirty="0"/>
          </a:p>
        </p:txBody>
      </p:sp>
      <p:sp>
        <p:nvSpPr>
          <p:cNvPr id="11" name="Text 8"/>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A6760C"/>
                </a:solidFill>
                <a:latin typeface="Calibri" pitchFamily="34" charset="0"/>
                <a:ea typeface="Calibri" pitchFamily="34" charset="-122"/>
                <a:cs typeface="Calibri" pitchFamily="34" charset="-120"/>
              </a:rPr>
              <a:t>THEORY · DEFINESTORE · 22:00–42:00</a:t>
            </a:r>
            <a:endParaRPr lang="en-US" sz="1200" dirty="0"/>
          </a:p>
        </p:txBody>
      </p:sp>
      <p:sp>
        <p:nvSpPr>
          <p:cNvPr id="5" name="Text 2"/>
          <p:cNvSpPr/>
          <p:nvPr/>
        </p:nvSpPr>
        <p:spPr>
          <a:xfrm>
            <a:off x="1298448" y="713232"/>
            <a:ext cx="10332720" cy="566928"/>
          </a:xfrm>
          <a:prstGeom prst="rect">
            <a:avLst/>
          </a:prstGeom>
          <a:noFill/>
          <a:ln/>
        </p:spPr>
        <p:txBody>
          <a:bodyPr wrap="square" lIns="0" tIns="0" rIns="0" bIns="0" rtlCol="0" anchor="ctr"/>
          <a:lstStyle/>
          <a:p>
            <a:pPr marL="0" indent="0" algn="l">
              <a:buNone/>
            </a:pPr>
            <a:r>
              <a:rPr lang="en-US" sz="2800" b="1" dirty="0">
                <a:solidFill>
                  <a:srgbClr val="2C3E50"/>
                </a:solidFill>
                <a:latin typeface="Cambria" pitchFamily="34" charset="0"/>
                <a:ea typeface="Cambria" pitchFamily="34" charset="-122"/>
                <a:cs typeface="Cambria" pitchFamily="34" charset="-120"/>
              </a:rPr>
              <a:t>Options vs. Setup — Side by Side</a:t>
            </a:r>
            <a:endParaRPr lang="en-US" sz="2800" dirty="0"/>
          </a:p>
        </p:txBody>
      </p:sp>
      <p:sp>
        <p:nvSpPr>
          <p:cNvPr id="6" name="Shape 3"/>
          <p:cNvSpPr/>
          <p:nvPr/>
        </p:nvSpPr>
        <p:spPr>
          <a:xfrm>
            <a:off x="548640" y="1463040"/>
            <a:ext cx="5545836" cy="457200"/>
          </a:xfrm>
          <a:prstGeom prst="rect">
            <a:avLst/>
          </a:prstGeom>
          <a:solidFill>
            <a:srgbClr val="35495E"/>
          </a:solidFill>
          <a:ln/>
        </p:spPr>
      </p:sp>
      <p:sp>
        <p:nvSpPr>
          <p:cNvPr id="7" name="Shape 4"/>
          <p:cNvSpPr/>
          <p:nvPr/>
        </p:nvSpPr>
        <p:spPr>
          <a:xfrm>
            <a:off x="6094476" y="1463040"/>
            <a:ext cx="5545836" cy="457200"/>
          </a:xfrm>
          <a:prstGeom prst="rect">
            <a:avLst/>
          </a:prstGeom>
          <a:solidFill>
            <a:srgbClr val="E0A21B"/>
          </a:solidFill>
          <a:ln/>
        </p:spPr>
      </p:sp>
      <p:sp>
        <p:nvSpPr>
          <p:cNvPr id="8" name="Text 5"/>
          <p:cNvSpPr/>
          <p:nvPr/>
        </p:nvSpPr>
        <p:spPr>
          <a:xfrm>
            <a:off x="777240" y="1463040"/>
            <a:ext cx="5180076"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Options Store</a:t>
            </a:r>
            <a:endParaRPr lang="en-US" sz="1300" dirty="0"/>
          </a:p>
        </p:txBody>
      </p:sp>
      <p:sp>
        <p:nvSpPr>
          <p:cNvPr id="9" name="Text 6"/>
          <p:cNvSpPr/>
          <p:nvPr/>
        </p:nvSpPr>
        <p:spPr>
          <a:xfrm>
            <a:off x="6323076" y="1463040"/>
            <a:ext cx="5180076"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Setup Store  ★ course default</a:t>
            </a:r>
            <a:endParaRPr lang="en-US" sz="1300" dirty="0"/>
          </a:p>
        </p:txBody>
      </p:sp>
      <p:sp>
        <p:nvSpPr>
          <p:cNvPr id="10" name="Shape 7"/>
          <p:cNvSpPr/>
          <p:nvPr/>
        </p:nvSpPr>
        <p:spPr>
          <a:xfrm>
            <a:off x="548640" y="1920240"/>
            <a:ext cx="5545836" cy="457200"/>
          </a:xfrm>
          <a:prstGeom prst="rect">
            <a:avLst/>
          </a:prstGeom>
          <a:solidFill>
            <a:srgbClr val="FFFFFF"/>
          </a:solidFill>
          <a:ln w="12700">
            <a:solidFill>
              <a:srgbClr val="DCE5EB"/>
            </a:solidFill>
            <a:prstDash val="solid"/>
          </a:ln>
        </p:spPr>
      </p:sp>
      <p:sp>
        <p:nvSpPr>
          <p:cNvPr id="11" name="Shape 8"/>
          <p:cNvSpPr/>
          <p:nvPr/>
        </p:nvSpPr>
        <p:spPr>
          <a:xfrm>
            <a:off x="6094476" y="1920240"/>
            <a:ext cx="5545836" cy="457200"/>
          </a:xfrm>
          <a:prstGeom prst="rect">
            <a:avLst/>
          </a:prstGeom>
          <a:solidFill>
            <a:srgbClr val="FFFCF3"/>
          </a:solidFill>
          <a:ln w="12700">
            <a:solidFill>
              <a:srgbClr val="DCE5EB"/>
            </a:solidFill>
            <a:prstDash val="solid"/>
          </a:ln>
        </p:spPr>
      </p:sp>
      <p:sp>
        <p:nvSpPr>
          <p:cNvPr id="12" name="Text 9"/>
          <p:cNvSpPr/>
          <p:nvPr/>
        </p:nvSpPr>
        <p:spPr>
          <a:xfrm>
            <a:off x="777240" y="1920240"/>
            <a:ext cx="5180076" cy="457200"/>
          </a:xfrm>
          <a:prstGeom prst="rect">
            <a:avLst/>
          </a:prstGeom>
          <a:noFill/>
          <a:ln/>
        </p:spPr>
        <p:txBody>
          <a:bodyPr wrap="square" lIns="0" tIns="0" rIns="0" bIns="0" rtlCol="0" anchor="ctr"/>
          <a:lstStyle/>
          <a:p>
            <a:pPr marL="0" indent="0">
              <a:buNone/>
            </a:pPr>
            <a:r>
              <a:rPr lang="en-US" sz="1150" dirty="0">
                <a:solidFill>
                  <a:srgbClr val="6B7C8C"/>
                </a:solidFill>
                <a:latin typeface="Courier New" pitchFamily="34" charset="0"/>
                <a:ea typeface="Courier New" pitchFamily="34" charset="-122"/>
                <a:cs typeface="Courier New" pitchFamily="34" charset="-120"/>
              </a:rPr>
              <a:t>state: () =&gt; ({...})</a:t>
            </a:r>
            <a:endParaRPr lang="en-US" sz="1150" dirty="0"/>
          </a:p>
        </p:txBody>
      </p:sp>
      <p:sp>
        <p:nvSpPr>
          <p:cNvPr id="13" name="Text 10"/>
          <p:cNvSpPr/>
          <p:nvPr/>
        </p:nvSpPr>
        <p:spPr>
          <a:xfrm>
            <a:off x="6323076" y="1920240"/>
            <a:ext cx="5180076" cy="457200"/>
          </a:xfrm>
          <a:prstGeom prst="rect">
            <a:avLst/>
          </a:prstGeom>
          <a:noFill/>
          <a:ln/>
        </p:spPr>
        <p:txBody>
          <a:bodyPr wrap="square" lIns="0" tIns="0" rIns="0" bIns="0" rtlCol="0" anchor="ctr"/>
          <a:lstStyle/>
          <a:p>
            <a:pPr marL="0" indent="0">
              <a:buNone/>
            </a:pPr>
            <a:r>
              <a:rPr lang="en-US" sz="1150" dirty="0">
                <a:solidFill>
                  <a:srgbClr val="2C3E50"/>
                </a:solidFill>
                <a:latin typeface="Courier New" pitchFamily="34" charset="0"/>
                <a:ea typeface="Courier New" pitchFamily="34" charset="-122"/>
                <a:cs typeface="Courier New" pitchFamily="34" charset="-120"/>
              </a:rPr>
              <a:t>const x = ref(0)</a:t>
            </a:r>
            <a:endParaRPr lang="en-US" sz="1150" dirty="0"/>
          </a:p>
        </p:txBody>
      </p:sp>
      <p:sp>
        <p:nvSpPr>
          <p:cNvPr id="14" name="Shape 11"/>
          <p:cNvSpPr/>
          <p:nvPr/>
        </p:nvSpPr>
        <p:spPr>
          <a:xfrm>
            <a:off x="548640" y="2377440"/>
            <a:ext cx="5545836" cy="457200"/>
          </a:xfrm>
          <a:prstGeom prst="rect">
            <a:avLst/>
          </a:prstGeom>
          <a:solidFill>
            <a:srgbClr val="F4F7F9"/>
          </a:solidFill>
          <a:ln w="12700">
            <a:solidFill>
              <a:srgbClr val="DCE5EB"/>
            </a:solidFill>
            <a:prstDash val="solid"/>
          </a:ln>
        </p:spPr>
      </p:sp>
      <p:sp>
        <p:nvSpPr>
          <p:cNvPr id="15" name="Shape 12"/>
          <p:cNvSpPr/>
          <p:nvPr/>
        </p:nvSpPr>
        <p:spPr>
          <a:xfrm>
            <a:off x="6094476" y="2377440"/>
            <a:ext cx="5545836" cy="457200"/>
          </a:xfrm>
          <a:prstGeom prst="rect">
            <a:avLst/>
          </a:prstGeom>
          <a:solidFill>
            <a:srgbClr val="FCF4E0"/>
          </a:solidFill>
          <a:ln w="12700">
            <a:solidFill>
              <a:srgbClr val="DCE5EB"/>
            </a:solidFill>
            <a:prstDash val="solid"/>
          </a:ln>
        </p:spPr>
      </p:sp>
      <p:sp>
        <p:nvSpPr>
          <p:cNvPr id="16" name="Text 13"/>
          <p:cNvSpPr/>
          <p:nvPr/>
        </p:nvSpPr>
        <p:spPr>
          <a:xfrm>
            <a:off x="777240" y="2377440"/>
            <a:ext cx="5180076" cy="457200"/>
          </a:xfrm>
          <a:prstGeom prst="rect">
            <a:avLst/>
          </a:prstGeom>
          <a:noFill/>
          <a:ln/>
        </p:spPr>
        <p:txBody>
          <a:bodyPr wrap="square" lIns="0" tIns="0" rIns="0" bIns="0" rtlCol="0" anchor="ctr"/>
          <a:lstStyle/>
          <a:p>
            <a:pPr marL="0" indent="0">
              <a:buNone/>
            </a:pPr>
            <a:r>
              <a:rPr lang="en-US" sz="1150" dirty="0">
                <a:solidFill>
                  <a:srgbClr val="6B7C8C"/>
                </a:solidFill>
                <a:latin typeface="Courier New" pitchFamily="34" charset="0"/>
                <a:ea typeface="Courier New" pitchFamily="34" charset="-122"/>
                <a:cs typeface="Courier New" pitchFamily="34" charset="-120"/>
              </a:rPr>
              <a:t>getters: { g: state =&gt; ... }</a:t>
            </a:r>
            <a:endParaRPr lang="en-US" sz="1150" dirty="0"/>
          </a:p>
        </p:txBody>
      </p:sp>
      <p:sp>
        <p:nvSpPr>
          <p:cNvPr id="17" name="Text 14"/>
          <p:cNvSpPr/>
          <p:nvPr/>
        </p:nvSpPr>
        <p:spPr>
          <a:xfrm>
            <a:off x="6323076" y="2377440"/>
            <a:ext cx="5180076" cy="457200"/>
          </a:xfrm>
          <a:prstGeom prst="rect">
            <a:avLst/>
          </a:prstGeom>
          <a:noFill/>
          <a:ln/>
        </p:spPr>
        <p:txBody>
          <a:bodyPr wrap="square" lIns="0" tIns="0" rIns="0" bIns="0" rtlCol="0" anchor="ctr"/>
          <a:lstStyle/>
          <a:p>
            <a:pPr marL="0" indent="0">
              <a:buNone/>
            </a:pPr>
            <a:r>
              <a:rPr lang="en-US" sz="1150" dirty="0">
                <a:solidFill>
                  <a:srgbClr val="2C3E50"/>
                </a:solidFill>
                <a:latin typeface="Courier New" pitchFamily="34" charset="0"/>
                <a:ea typeface="Courier New" pitchFamily="34" charset="-122"/>
                <a:cs typeface="Courier New" pitchFamily="34" charset="-120"/>
              </a:rPr>
              <a:t>const g = computed(() =&gt; ...)</a:t>
            </a:r>
            <a:endParaRPr lang="en-US" sz="1150" dirty="0"/>
          </a:p>
        </p:txBody>
      </p:sp>
      <p:sp>
        <p:nvSpPr>
          <p:cNvPr id="18" name="Shape 15"/>
          <p:cNvSpPr/>
          <p:nvPr/>
        </p:nvSpPr>
        <p:spPr>
          <a:xfrm>
            <a:off x="548640" y="2834640"/>
            <a:ext cx="5545836" cy="457200"/>
          </a:xfrm>
          <a:prstGeom prst="rect">
            <a:avLst/>
          </a:prstGeom>
          <a:solidFill>
            <a:srgbClr val="FFFFFF"/>
          </a:solidFill>
          <a:ln w="12700">
            <a:solidFill>
              <a:srgbClr val="DCE5EB"/>
            </a:solidFill>
            <a:prstDash val="solid"/>
          </a:ln>
        </p:spPr>
      </p:sp>
      <p:sp>
        <p:nvSpPr>
          <p:cNvPr id="19" name="Shape 16"/>
          <p:cNvSpPr/>
          <p:nvPr/>
        </p:nvSpPr>
        <p:spPr>
          <a:xfrm>
            <a:off x="6094476" y="2834640"/>
            <a:ext cx="5545836" cy="457200"/>
          </a:xfrm>
          <a:prstGeom prst="rect">
            <a:avLst/>
          </a:prstGeom>
          <a:solidFill>
            <a:srgbClr val="FFFCF3"/>
          </a:solidFill>
          <a:ln w="12700">
            <a:solidFill>
              <a:srgbClr val="DCE5EB"/>
            </a:solidFill>
            <a:prstDash val="solid"/>
          </a:ln>
        </p:spPr>
      </p:sp>
      <p:sp>
        <p:nvSpPr>
          <p:cNvPr id="20" name="Text 17"/>
          <p:cNvSpPr/>
          <p:nvPr/>
        </p:nvSpPr>
        <p:spPr>
          <a:xfrm>
            <a:off x="777240" y="2834640"/>
            <a:ext cx="5180076" cy="457200"/>
          </a:xfrm>
          <a:prstGeom prst="rect">
            <a:avLst/>
          </a:prstGeom>
          <a:noFill/>
          <a:ln/>
        </p:spPr>
        <p:txBody>
          <a:bodyPr wrap="square" lIns="0" tIns="0" rIns="0" bIns="0" rtlCol="0" anchor="ctr"/>
          <a:lstStyle/>
          <a:p>
            <a:pPr marL="0" indent="0">
              <a:buNone/>
            </a:pPr>
            <a:r>
              <a:rPr lang="en-US" sz="1150" dirty="0">
                <a:solidFill>
                  <a:srgbClr val="6B7C8C"/>
                </a:solidFill>
                <a:latin typeface="Courier New" pitchFamily="34" charset="0"/>
                <a:ea typeface="Courier New" pitchFamily="34" charset="-122"/>
                <a:cs typeface="Courier New" pitchFamily="34" charset="-120"/>
              </a:rPr>
              <a:t>actions: { fn() {...} }</a:t>
            </a:r>
            <a:endParaRPr lang="en-US" sz="1150" dirty="0"/>
          </a:p>
        </p:txBody>
      </p:sp>
      <p:sp>
        <p:nvSpPr>
          <p:cNvPr id="21" name="Text 18"/>
          <p:cNvSpPr/>
          <p:nvPr/>
        </p:nvSpPr>
        <p:spPr>
          <a:xfrm>
            <a:off x="6323076" y="2834640"/>
            <a:ext cx="5180076" cy="457200"/>
          </a:xfrm>
          <a:prstGeom prst="rect">
            <a:avLst/>
          </a:prstGeom>
          <a:noFill/>
          <a:ln/>
        </p:spPr>
        <p:txBody>
          <a:bodyPr wrap="square" lIns="0" tIns="0" rIns="0" bIns="0" rtlCol="0" anchor="ctr"/>
          <a:lstStyle/>
          <a:p>
            <a:pPr marL="0" indent="0">
              <a:buNone/>
            </a:pPr>
            <a:r>
              <a:rPr lang="en-US" sz="1150" dirty="0">
                <a:solidFill>
                  <a:srgbClr val="2C3E50"/>
                </a:solidFill>
                <a:latin typeface="Courier New" pitchFamily="34" charset="0"/>
                <a:ea typeface="Courier New" pitchFamily="34" charset="-122"/>
                <a:cs typeface="Courier New" pitchFamily="34" charset="-120"/>
              </a:rPr>
              <a:t>function fn() {...}</a:t>
            </a:r>
            <a:endParaRPr lang="en-US" sz="1150" dirty="0"/>
          </a:p>
        </p:txBody>
      </p:sp>
      <p:sp>
        <p:nvSpPr>
          <p:cNvPr id="22" name="Shape 19"/>
          <p:cNvSpPr/>
          <p:nvPr/>
        </p:nvSpPr>
        <p:spPr>
          <a:xfrm>
            <a:off x="548640" y="3291840"/>
            <a:ext cx="5545836" cy="457200"/>
          </a:xfrm>
          <a:prstGeom prst="rect">
            <a:avLst/>
          </a:prstGeom>
          <a:solidFill>
            <a:srgbClr val="F4F7F9"/>
          </a:solidFill>
          <a:ln w="12700">
            <a:solidFill>
              <a:srgbClr val="DCE5EB"/>
            </a:solidFill>
            <a:prstDash val="solid"/>
          </a:ln>
        </p:spPr>
      </p:sp>
      <p:sp>
        <p:nvSpPr>
          <p:cNvPr id="23" name="Shape 20"/>
          <p:cNvSpPr/>
          <p:nvPr/>
        </p:nvSpPr>
        <p:spPr>
          <a:xfrm>
            <a:off x="6094476" y="3291840"/>
            <a:ext cx="5545836" cy="457200"/>
          </a:xfrm>
          <a:prstGeom prst="rect">
            <a:avLst/>
          </a:prstGeom>
          <a:solidFill>
            <a:srgbClr val="FCF4E0"/>
          </a:solidFill>
          <a:ln w="12700">
            <a:solidFill>
              <a:srgbClr val="DCE5EB"/>
            </a:solidFill>
            <a:prstDash val="solid"/>
          </a:ln>
        </p:spPr>
      </p:sp>
      <p:sp>
        <p:nvSpPr>
          <p:cNvPr id="24" name="Text 21"/>
          <p:cNvSpPr/>
          <p:nvPr/>
        </p:nvSpPr>
        <p:spPr>
          <a:xfrm>
            <a:off x="777240" y="3291840"/>
            <a:ext cx="5180076" cy="457200"/>
          </a:xfrm>
          <a:prstGeom prst="rect">
            <a:avLst/>
          </a:prstGeom>
          <a:noFill/>
          <a:ln/>
        </p:spPr>
        <p:txBody>
          <a:bodyPr wrap="square" lIns="0" tIns="0" rIns="0" bIns="0" rtlCol="0" anchor="ctr"/>
          <a:lstStyle/>
          <a:p>
            <a:pPr marL="0" indent="0">
              <a:buNone/>
            </a:pPr>
            <a:r>
              <a:rPr lang="en-US" sz="1150" dirty="0">
                <a:solidFill>
                  <a:srgbClr val="6B7C8C"/>
                </a:solidFill>
                <a:latin typeface="Courier New" pitchFamily="34" charset="0"/>
                <a:ea typeface="Courier New" pitchFamily="34" charset="-122"/>
                <a:cs typeface="Courier New" pitchFamily="34" charset="-120"/>
              </a:rPr>
              <a:t>this.x inside actions</a:t>
            </a:r>
            <a:endParaRPr lang="en-US" sz="1150" dirty="0"/>
          </a:p>
        </p:txBody>
      </p:sp>
      <p:sp>
        <p:nvSpPr>
          <p:cNvPr id="25" name="Text 22"/>
          <p:cNvSpPr/>
          <p:nvPr/>
        </p:nvSpPr>
        <p:spPr>
          <a:xfrm>
            <a:off x="6323076" y="3291840"/>
            <a:ext cx="5180076" cy="457200"/>
          </a:xfrm>
          <a:prstGeom prst="rect">
            <a:avLst/>
          </a:prstGeom>
          <a:noFill/>
          <a:ln/>
        </p:spPr>
        <p:txBody>
          <a:bodyPr wrap="square" lIns="0" tIns="0" rIns="0" bIns="0" rtlCol="0" anchor="ctr"/>
          <a:lstStyle/>
          <a:p>
            <a:pPr marL="0" indent="0">
              <a:buNone/>
            </a:pPr>
            <a:r>
              <a:rPr lang="en-US" sz="1150" dirty="0">
                <a:solidFill>
                  <a:srgbClr val="2C3E50"/>
                </a:solidFill>
                <a:latin typeface="Courier New" pitchFamily="34" charset="0"/>
                <a:ea typeface="Courier New" pitchFamily="34" charset="-122"/>
                <a:cs typeface="Courier New" pitchFamily="34" charset="-120"/>
              </a:rPr>
              <a:t>x.value inside functions</a:t>
            </a:r>
            <a:endParaRPr lang="en-US" sz="1150" dirty="0"/>
          </a:p>
        </p:txBody>
      </p:sp>
      <p:sp>
        <p:nvSpPr>
          <p:cNvPr id="26" name="Shape 23"/>
          <p:cNvSpPr/>
          <p:nvPr/>
        </p:nvSpPr>
        <p:spPr>
          <a:xfrm>
            <a:off x="548640" y="3749040"/>
            <a:ext cx="5545836" cy="457200"/>
          </a:xfrm>
          <a:prstGeom prst="rect">
            <a:avLst/>
          </a:prstGeom>
          <a:solidFill>
            <a:srgbClr val="FFFFFF"/>
          </a:solidFill>
          <a:ln w="12700">
            <a:solidFill>
              <a:srgbClr val="DCE5EB"/>
            </a:solidFill>
            <a:prstDash val="solid"/>
          </a:ln>
        </p:spPr>
      </p:sp>
      <p:sp>
        <p:nvSpPr>
          <p:cNvPr id="27" name="Shape 24"/>
          <p:cNvSpPr/>
          <p:nvPr/>
        </p:nvSpPr>
        <p:spPr>
          <a:xfrm>
            <a:off x="6094476" y="3749040"/>
            <a:ext cx="5545836" cy="457200"/>
          </a:xfrm>
          <a:prstGeom prst="rect">
            <a:avLst/>
          </a:prstGeom>
          <a:solidFill>
            <a:srgbClr val="FFFCF3"/>
          </a:solidFill>
          <a:ln w="12700">
            <a:solidFill>
              <a:srgbClr val="DCE5EB"/>
            </a:solidFill>
            <a:prstDash val="solid"/>
          </a:ln>
        </p:spPr>
      </p:sp>
      <p:sp>
        <p:nvSpPr>
          <p:cNvPr id="28" name="Text 25"/>
          <p:cNvSpPr/>
          <p:nvPr/>
        </p:nvSpPr>
        <p:spPr>
          <a:xfrm>
            <a:off x="777240" y="3749040"/>
            <a:ext cx="5180076" cy="457200"/>
          </a:xfrm>
          <a:prstGeom prst="rect">
            <a:avLst/>
          </a:prstGeom>
          <a:noFill/>
          <a:ln/>
        </p:spPr>
        <p:txBody>
          <a:bodyPr wrap="square" lIns="0" tIns="0" rIns="0" bIns="0" rtlCol="0" anchor="ctr"/>
          <a:lstStyle/>
          <a:p>
            <a:pPr marL="0" indent="0">
              <a:buNone/>
            </a:pPr>
            <a:r>
              <a:rPr lang="en-US" sz="1150" dirty="0">
                <a:solidFill>
                  <a:srgbClr val="6B7C8C"/>
                </a:solidFill>
                <a:latin typeface="Courier New" pitchFamily="34" charset="0"/>
                <a:ea typeface="Courier New" pitchFamily="34" charset="-122"/>
                <a:cs typeface="Courier New" pitchFamily="34" charset="-120"/>
              </a:rPr>
              <a:t>$reset() built-in</a:t>
            </a:r>
            <a:endParaRPr lang="en-US" sz="1150" dirty="0"/>
          </a:p>
        </p:txBody>
      </p:sp>
      <p:sp>
        <p:nvSpPr>
          <p:cNvPr id="29" name="Text 26"/>
          <p:cNvSpPr/>
          <p:nvPr/>
        </p:nvSpPr>
        <p:spPr>
          <a:xfrm>
            <a:off x="6323076" y="3749040"/>
            <a:ext cx="5180076" cy="457200"/>
          </a:xfrm>
          <a:prstGeom prst="rect">
            <a:avLst/>
          </a:prstGeom>
          <a:noFill/>
          <a:ln/>
        </p:spPr>
        <p:txBody>
          <a:bodyPr wrap="square" lIns="0" tIns="0" rIns="0" bIns="0" rtlCol="0" anchor="ctr"/>
          <a:lstStyle/>
          <a:p>
            <a:pPr marL="0" indent="0">
              <a:buNone/>
            </a:pPr>
            <a:r>
              <a:rPr lang="en-US" sz="1150" dirty="0">
                <a:solidFill>
                  <a:srgbClr val="2C3E50"/>
                </a:solidFill>
                <a:latin typeface="Courier New" pitchFamily="34" charset="0"/>
                <a:ea typeface="Courier New" pitchFamily="34" charset="-122"/>
                <a:cs typeface="Courier New" pitchFamily="34" charset="-120"/>
              </a:rPr>
              <a:t>$reset() implemented manually</a:t>
            </a:r>
            <a:endParaRPr lang="en-US" sz="1150" dirty="0"/>
          </a:p>
        </p:txBody>
      </p:sp>
      <p:sp>
        <p:nvSpPr>
          <p:cNvPr id="30" name="Shape 27"/>
          <p:cNvSpPr/>
          <p:nvPr/>
        </p:nvSpPr>
        <p:spPr>
          <a:xfrm>
            <a:off x="548640" y="4206240"/>
            <a:ext cx="5545836" cy="457200"/>
          </a:xfrm>
          <a:prstGeom prst="rect">
            <a:avLst/>
          </a:prstGeom>
          <a:solidFill>
            <a:srgbClr val="F4F7F9"/>
          </a:solidFill>
          <a:ln w="12700">
            <a:solidFill>
              <a:srgbClr val="DCE5EB"/>
            </a:solidFill>
            <a:prstDash val="solid"/>
          </a:ln>
        </p:spPr>
      </p:sp>
      <p:sp>
        <p:nvSpPr>
          <p:cNvPr id="31" name="Shape 28"/>
          <p:cNvSpPr/>
          <p:nvPr/>
        </p:nvSpPr>
        <p:spPr>
          <a:xfrm>
            <a:off x="6094476" y="4206240"/>
            <a:ext cx="5545836" cy="457200"/>
          </a:xfrm>
          <a:prstGeom prst="rect">
            <a:avLst/>
          </a:prstGeom>
          <a:solidFill>
            <a:srgbClr val="FCF4E0"/>
          </a:solidFill>
          <a:ln w="12700">
            <a:solidFill>
              <a:srgbClr val="DCE5EB"/>
            </a:solidFill>
            <a:prstDash val="solid"/>
          </a:ln>
        </p:spPr>
      </p:sp>
      <p:sp>
        <p:nvSpPr>
          <p:cNvPr id="32" name="Text 29"/>
          <p:cNvSpPr/>
          <p:nvPr/>
        </p:nvSpPr>
        <p:spPr>
          <a:xfrm>
            <a:off x="777240" y="4206240"/>
            <a:ext cx="5180076" cy="457200"/>
          </a:xfrm>
          <a:prstGeom prst="rect">
            <a:avLst/>
          </a:prstGeom>
          <a:noFill/>
          <a:ln/>
        </p:spPr>
        <p:txBody>
          <a:bodyPr wrap="square" lIns="0" tIns="0" rIns="0" bIns="0" rtlCol="0" anchor="ctr"/>
          <a:lstStyle/>
          <a:p>
            <a:pPr marL="0" indent="0">
              <a:buNone/>
            </a:pPr>
            <a:r>
              <a:rPr lang="en-US" sz="1150" dirty="0">
                <a:solidFill>
                  <a:srgbClr val="6B7C8C"/>
                </a:solidFill>
                <a:latin typeface="Courier New" pitchFamily="34" charset="0"/>
                <a:ea typeface="Courier New" pitchFamily="34" charset="-122"/>
                <a:cs typeface="Courier New" pitchFamily="34" charset="-120"/>
              </a:rPr>
              <a:t>auto type-inferred</a:t>
            </a:r>
            <a:endParaRPr lang="en-US" sz="1150" dirty="0"/>
          </a:p>
        </p:txBody>
      </p:sp>
      <p:sp>
        <p:nvSpPr>
          <p:cNvPr id="33" name="Text 30"/>
          <p:cNvSpPr/>
          <p:nvPr/>
        </p:nvSpPr>
        <p:spPr>
          <a:xfrm>
            <a:off x="6323076" y="4206240"/>
            <a:ext cx="5180076" cy="457200"/>
          </a:xfrm>
          <a:prstGeom prst="rect">
            <a:avLst/>
          </a:prstGeom>
          <a:noFill/>
          <a:ln/>
        </p:spPr>
        <p:txBody>
          <a:bodyPr wrap="square" lIns="0" tIns="0" rIns="0" bIns="0" rtlCol="0" anchor="ctr"/>
          <a:lstStyle/>
          <a:p>
            <a:pPr marL="0" indent="0">
              <a:buNone/>
            </a:pPr>
            <a:r>
              <a:rPr lang="en-US" sz="1150" dirty="0">
                <a:solidFill>
                  <a:srgbClr val="2C3E50"/>
                </a:solidFill>
                <a:latin typeface="Courier New" pitchFamily="34" charset="0"/>
                <a:ea typeface="Courier New" pitchFamily="34" charset="-122"/>
                <a:cs typeface="Courier New" pitchFamily="34" charset="-120"/>
              </a:rPr>
              <a:t>full TypeScript control per ref</a:t>
            </a:r>
            <a:endParaRPr lang="en-US" sz="1150" dirty="0"/>
          </a:p>
        </p:txBody>
      </p:sp>
      <p:sp>
        <p:nvSpPr>
          <p:cNvPr id="34" name="Shape 31"/>
          <p:cNvSpPr/>
          <p:nvPr/>
        </p:nvSpPr>
        <p:spPr>
          <a:xfrm>
            <a:off x="548640" y="4828032"/>
            <a:ext cx="11091672" cy="1152144"/>
          </a:xfrm>
          <a:prstGeom prst="roundRect">
            <a:avLst>
              <a:gd name="adj" fmla="val 5556"/>
            </a:avLst>
          </a:prstGeom>
          <a:solidFill>
            <a:srgbClr val="E9F6EF"/>
          </a:solidFill>
          <a:ln/>
          <a:effectLst>
            <a:outerShdw blurRad="88900" dist="25400" dir="5400000" algn="bl" rotWithShape="0">
              <a:srgbClr val="35495E">
                <a:alpha val="13000"/>
              </a:srgbClr>
            </a:outerShdw>
          </a:effectLst>
        </p:spPr>
      </p:sp>
      <p:sp>
        <p:nvSpPr>
          <p:cNvPr id="35" name="Shape 32"/>
          <p:cNvSpPr/>
          <p:nvPr/>
        </p:nvSpPr>
        <p:spPr>
          <a:xfrm>
            <a:off x="749808" y="5029200"/>
            <a:ext cx="457200" cy="457200"/>
          </a:xfrm>
          <a:prstGeom prst="ellipse">
            <a:avLst/>
          </a:prstGeom>
          <a:solidFill>
            <a:srgbClr val="2FA36B"/>
          </a:solidFill>
          <a:ln/>
          <a:effectLst>
            <a:outerShdw blurRad="88900" dist="25400" dir="5400000" algn="bl" rotWithShape="0">
              <a:srgbClr val="35495E">
                <a:alpha val="13000"/>
              </a:srgbClr>
            </a:outerShdw>
          </a:effectLst>
        </p:spPr>
      </p:sp>
      <p:pic>
        <p:nvPicPr>
          <p:cNvPr id="36" name="Image 1" descr="preencoded.png"/>
          <p:cNvPicPr>
            <a:picLocks noChangeAspect="1"/>
          </p:cNvPicPr>
          <p:nvPr/>
        </p:nvPicPr>
        <p:blipFill>
          <a:blip r:embed="rId4"/>
          <a:stretch>
            <a:fillRect/>
          </a:stretch>
        </p:blipFill>
        <p:spPr>
          <a:xfrm>
            <a:off x="873252" y="5152644"/>
            <a:ext cx="210312" cy="210312"/>
          </a:xfrm>
          <a:prstGeom prst="rect">
            <a:avLst/>
          </a:prstGeom>
        </p:spPr>
      </p:pic>
      <p:sp>
        <p:nvSpPr>
          <p:cNvPr id="37" name="Text 33"/>
          <p:cNvSpPr/>
          <p:nvPr/>
        </p:nvSpPr>
        <p:spPr>
          <a:xfrm>
            <a:off x="1335024" y="4992624"/>
            <a:ext cx="10131552" cy="310896"/>
          </a:xfrm>
          <a:prstGeom prst="rect">
            <a:avLst/>
          </a:prstGeom>
          <a:noFill/>
          <a:ln/>
        </p:spPr>
        <p:txBody>
          <a:bodyPr wrap="square" lIns="0" tIns="0" rIns="0" bIns="0" rtlCol="0" anchor="ctr"/>
          <a:lstStyle/>
          <a:p>
            <a:pPr marL="0" indent="0" algn="l">
              <a:buNone/>
            </a:pPr>
            <a:r>
              <a:rPr lang="en-US" sz="1400" b="1" dirty="0">
                <a:solidFill>
                  <a:srgbClr val="1F7A4D"/>
                </a:solidFill>
                <a:latin typeface="Calibri" pitchFamily="34" charset="0"/>
                <a:ea typeface="Calibri" pitchFamily="34" charset="-122"/>
                <a:cs typeface="Calibri" pitchFamily="34" charset="-120"/>
              </a:rPr>
              <a:t>Course convention — Setup Stores</a:t>
            </a:r>
            <a:endParaRPr lang="en-US" sz="1400" dirty="0"/>
          </a:p>
        </p:txBody>
      </p:sp>
      <p:sp>
        <p:nvSpPr>
          <p:cNvPr id="38" name="Text 34"/>
          <p:cNvSpPr/>
          <p:nvPr/>
        </p:nvSpPr>
        <p:spPr>
          <a:xfrm>
            <a:off x="1335024" y="5303520"/>
            <a:ext cx="10131552" cy="548640"/>
          </a:xfrm>
          <a:prstGeom prst="rect">
            <a:avLst/>
          </a:prstGeom>
          <a:noFill/>
          <a:ln/>
        </p:spPr>
        <p:txBody>
          <a:bodyPr wrap="square" lIns="0" tIns="0" rIns="0" bIns="0" rtlCol="0" anchor="t"/>
          <a:lstStyle/>
          <a:p>
            <a:pPr marL="0" indent="0" algn="l">
              <a:lnSpc>
                <a:spcPts val="1600"/>
              </a:lnSpc>
              <a:buNone/>
            </a:pPr>
            <a:r>
              <a:rPr lang="en-US" sz="1250" dirty="0">
                <a:solidFill>
                  <a:srgbClr val="2C3E50"/>
                </a:solidFill>
                <a:latin typeface="Calibri" pitchFamily="34" charset="0"/>
                <a:ea typeface="Calibri" pitchFamily="34" charset="-122"/>
                <a:cs typeface="Calibri" pitchFamily="34" charset="-120"/>
              </a:rPr>
              <a:t>More idiomatic Vue 3, friendlier for TypeScript, and lets you use other composables (like useRoute) inside the store. Options Stores are shown for comparison only.</a:t>
            </a:r>
            <a:endParaRPr lang="en-US" sz="1250" dirty="0"/>
          </a:p>
        </p:txBody>
      </p:sp>
      <p:sp>
        <p:nvSpPr>
          <p:cNvPr id="39" name="Text 35"/>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40" name="Text 36"/>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defineStore</a:t>
            </a:r>
            <a:endParaRPr lang="en-US" sz="900" dirty="0"/>
          </a:p>
        </p:txBody>
      </p:sp>
      <p:sp>
        <p:nvSpPr>
          <p:cNvPr id="41" name="Text 37"/>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A6760C"/>
                </a:solidFill>
                <a:latin typeface="Calibri" pitchFamily="34" charset="0"/>
                <a:ea typeface="Calibri" pitchFamily="34" charset="-122"/>
                <a:cs typeface="Calibri" pitchFamily="34" charset="-120"/>
              </a:rPr>
              <a:t>THEORY · CONSUMING · 42:00–55:00</a:t>
            </a:r>
            <a:endParaRPr lang="en-US" sz="1200" dirty="0"/>
          </a:p>
        </p:txBody>
      </p:sp>
      <p:sp>
        <p:nvSpPr>
          <p:cNvPr id="5" name="Text 2"/>
          <p:cNvSpPr/>
          <p:nvPr/>
        </p:nvSpPr>
        <p:spPr>
          <a:xfrm>
            <a:off x="1298448" y="713232"/>
            <a:ext cx="10332720" cy="566928"/>
          </a:xfrm>
          <a:prstGeom prst="rect">
            <a:avLst/>
          </a:prstGeom>
          <a:noFill/>
          <a:ln/>
        </p:spPr>
        <p:txBody>
          <a:bodyPr wrap="square" lIns="0" tIns="0" rIns="0" bIns="0" rtlCol="0" anchor="ctr"/>
          <a:lstStyle/>
          <a:p>
            <a:pPr marL="0" indent="0" algn="l">
              <a:buNone/>
            </a:pPr>
            <a:r>
              <a:rPr lang="en-US" sz="2800" b="1" dirty="0">
                <a:solidFill>
                  <a:srgbClr val="2C3E50"/>
                </a:solidFill>
                <a:latin typeface="Cambria" pitchFamily="34" charset="0"/>
                <a:ea typeface="Cambria" pitchFamily="34" charset="-122"/>
                <a:cs typeface="Cambria" pitchFamily="34" charset="-120"/>
              </a:rPr>
              <a:t>Consuming a Store — storeToRefs</a:t>
            </a:r>
            <a:endParaRPr lang="en-US" sz="2800" dirty="0"/>
          </a:p>
        </p:txBody>
      </p:sp>
      <p:sp>
        <p:nvSpPr>
          <p:cNvPr id="6" name="Shape 3"/>
          <p:cNvSpPr/>
          <p:nvPr/>
        </p:nvSpPr>
        <p:spPr>
          <a:xfrm>
            <a:off x="548640" y="1417320"/>
            <a:ext cx="7040880" cy="3264789"/>
          </a:xfrm>
          <a:prstGeom prst="roundRect">
            <a:avLst>
              <a:gd name="adj" fmla="val 2521"/>
            </a:avLst>
          </a:prstGeom>
          <a:solidFill>
            <a:srgbClr val="1B2832"/>
          </a:solidFill>
          <a:ln/>
          <a:effectLst>
            <a:outerShdw blurRad="114300" dist="38100" dir="5400000" algn="bl" rotWithShape="0">
              <a:srgbClr val="1E2B38">
                <a:alpha val="16000"/>
              </a:srgbClr>
            </a:outerShdw>
          </a:effectLst>
        </p:spPr>
      </p:sp>
      <p:sp>
        <p:nvSpPr>
          <p:cNvPr id="7" name="Text 4"/>
          <p:cNvSpPr/>
          <p:nvPr/>
        </p:nvSpPr>
        <p:spPr>
          <a:xfrm>
            <a:off x="749808" y="1453896"/>
            <a:ext cx="6638544" cy="3191637"/>
          </a:xfrm>
          <a:prstGeom prst="rect">
            <a:avLst/>
          </a:prstGeom>
          <a:noFill/>
          <a:ln/>
        </p:spPr>
        <p:txBody>
          <a:bodyPr wrap="square" lIns="0" tIns="0" rIns="0" bIns="0" rtlCol="0" anchor="t"/>
          <a:lstStyle/>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&lt;script setup&gt;</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import { useCounterStore } from '@/stores/counter'</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import { storeToRefs }     from 'pinia'</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const store = useCounterStore()</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t>
            </a:r>
            <a:endParaRPr lang="en-US" sz="1150" dirty="0"/>
          </a:p>
          <a:p>
            <a:pPr marL="0" indent="0" algn="l">
              <a:lnSpc>
                <a:spcPts val="1541"/>
              </a:lnSpc>
              <a:buNone/>
            </a:pPr>
            <a:r>
              <a:rPr lang="en-US" sz="1150" dirty="0">
                <a:solidFill>
                  <a:srgbClr val="6E8694"/>
                </a:solidFill>
                <a:latin typeface="Courier New" pitchFamily="34" charset="0"/>
                <a:ea typeface="Courier New" pitchFamily="34" charset="-122"/>
                <a:cs typeface="Courier New" pitchFamily="34" charset="-120"/>
              </a:rPr>
              <a:t>// ❌ WRONG — destructuring breaks reactivity</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const { count, doubleCount } = store   // plain values!</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t>
            </a:r>
            <a:endParaRPr lang="en-US" sz="1150" dirty="0"/>
          </a:p>
          <a:p>
            <a:pPr marL="0" indent="0" algn="l">
              <a:lnSpc>
                <a:spcPts val="1541"/>
              </a:lnSpc>
              <a:buNone/>
            </a:pPr>
            <a:r>
              <a:rPr lang="en-US" sz="1150" dirty="0">
                <a:solidFill>
                  <a:srgbClr val="6E8694"/>
                </a:solidFill>
                <a:latin typeface="Courier New" pitchFamily="34" charset="0"/>
                <a:ea typeface="Courier New" pitchFamily="34" charset="-122"/>
                <a:cs typeface="Courier New" pitchFamily="34" charset="-120"/>
              </a:rPr>
              <a:t>// ✅ CORRECT — storeToRefs wraps state &amp; getters in refs</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const { count, doubleCount, label } = storeToRefs(store)</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t>
            </a:r>
            <a:endParaRPr lang="en-US" sz="1150" dirty="0"/>
          </a:p>
          <a:p>
            <a:pPr marL="0" indent="0" algn="l">
              <a:lnSpc>
                <a:spcPts val="1541"/>
              </a:lnSpc>
              <a:buNone/>
            </a:pPr>
            <a:r>
              <a:rPr lang="en-US" sz="1150" dirty="0">
                <a:solidFill>
                  <a:srgbClr val="6E8694"/>
                </a:solidFill>
                <a:latin typeface="Courier New" pitchFamily="34" charset="0"/>
                <a:ea typeface="Courier New" pitchFamily="34" charset="-122"/>
                <a:cs typeface="Courier New" pitchFamily="34" charset="-120"/>
              </a:rPr>
              <a:t>// Actions are plain functions — destructure directly</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const { increment, decrement, reset } = store</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&lt;/script&gt;</a:t>
            </a:r>
            <a:endParaRPr lang="en-US" sz="1150" dirty="0"/>
          </a:p>
        </p:txBody>
      </p:sp>
      <p:sp>
        <p:nvSpPr>
          <p:cNvPr id="8" name="Shape 5"/>
          <p:cNvSpPr/>
          <p:nvPr/>
        </p:nvSpPr>
        <p:spPr>
          <a:xfrm>
            <a:off x="7772400" y="1417320"/>
            <a:ext cx="3867912" cy="2194560"/>
          </a:xfrm>
          <a:prstGeom prst="roundRect">
            <a:avLst>
              <a:gd name="adj" fmla="val 3333"/>
            </a:avLst>
          </a:prstGeom>
          <a:solidFill>
            <a:srgbClr val="F4F7F9"/>
          </a:solidFill>
          <a:ln w="12700">
            <a:solidFill>
              <a:srgbClr val="DCE5EB"/>
            </a:solidFill>
            <a:prstDash val="solid"/>
          </a:ln>
          <a:effectLst>
            <a:outerShdw blurRad="88900" dist="25400" dir="5400000" algn="bl" rotWithShape="0">
              <a:srgbClr val="35495E">
                <a:alpha val="13000"/>
              </a:srgbClr>
            </a:outerShdw>
          </a:effectLst>
        </p:spPr>
      </p:sp>
      <p:sp>
        <p:nvSpPr>
          <p:cNvPr id="9" name="Text 6"/>
          <p:cNvSpPr/>
          <p:nvPr/>
        </p:nvSpPr>
        <p:spPr>
          <a:xfrm>
            <a:off x="7973568" y="1572768"/>
            <a:ext cx="3474720" cy="329184"/>
          </a:xfrm>
          <a:prstGeom prst="rect">
            <a:avLst/>
          </a:prstGeom>
          <a:noFill/>
          <a:ln/>
        </p:spPr>
        <p:txBody>
          <a:bodyPr wrap="square" lIns="0" tIns="0" rIns="0" bIns="0" rtlCol="0" anchor="ctr"/>
          <a:lstStyle/>
          <a:p>
            <a:pPr marL="0" indent="0">
              <a:buNone/>
            </a:pPr>
            <a:r>
              <a:rPr lang="en-US" sz="1300" b="1" dirty="0">
                <a:solidFill>
                  <a:srgbClr val="A6760C"/>
                </a:solidFill>
                <a:latin typeface="Calibri" pitchFamily="34" charset="0"/>
                <a:ea typeface="Calibri" pitchFamily="34" charset="-122"/>
                <a:cs typeface="Calibri" pitchFamily="34" charset="-120"/>
              </a:rPr>
              <a:t>The rule of thumb</a:t>
            </a:r>
            <a:endParaRPr lang="en-US" sz="1300" dirty="0"/>
          </a:p>
        </p:txBody>
      </p:sp>
      <p:sp>
        <p:nvSpPr>
          <p:cNvPr id="10" name="Text 7"/>
          <p:cNvSpPr/>
          <p:nvPr/>
        </p:nvSpPr>
        <p:spPr>
          <a:xfrm>
            <a:off x="7973568" y="1993392"/>
            <a:ext cx="3474720" cy="1463040"/>
          </a:xfrm>
          <a:prstGeom prst="rect">
            <a:avLst/>
          </a:prstGeom>
          <a:noFill/>
          <a:ln/>
        </p:spPr>
        <p:txBody>
          <a:bodyPr wrap="square" lIns="0" tIns="0" rIns="0" bIns="0" rtlCol="0" anchor="t"/>
          <a:lstStyle/>
          <a:p>
            <a:pPr marL="0" indent="0" algn="l">
              <a:lnSpc>
                <a:spcPts val="1600"/>
              </a:lnSpc>
              <a:buNone/>
            </a:pPr>
            <a:r>
              <a:rPr lang="en-US" sz="1300" b="1" dirty="0">
                <a:solidFill>
                  <a:srgbClr val="2C3E50"/>
                </a:solidFill>
                <a:latin typeface="Calibri" pitchFamily="34" charset="0"/>
                <a:ea typeface="Calibri" pitchFamily="34" charset="-122"/>
                <a:cs typeface="Calibri" pitchFamily="34" charset="-120"/>
              </a:rPr>
              <a:t>State &amp; getters</a:t>
            </a:r>
            <a:r>
              <a:rPr lang="en-US" sz="1300" dirty="0">
                <a:solidFill>
                  <a:srgbClr val="6B7C8C"/>
                </a:solidFill>
                <a:latin typeface="Calibri" pitchFamily="34" charset="0"/>
                <a:ea typeface="Calibri" pitchFamily="34" charset="-122"/>
                <a:cs typeface="Calibri" pitchFamily="34" charset="-120"/>
              </a:rPr>
              <a:t>  →  storeToRefs()
</a:t>
            </a:r>
            <a:endParaRPr lang="en-US" sz="1300" dirty="0"/>
          </a:p>
          <a:p>
            <a:pPr marL="0" indent="0" algn="l">
              <a:lnSpc>
                <a:spcPts val="1600"/>
              </a:lnSpc>
              <a:buNone/>
            </a:pPr>
            <a:r>
              <a:rPr lang="en-US" sz="1300" b="1" dirty="0">
                <a:solidFill>
                  <a:srgbClr val="2C3E50"/>
                </a:solidFill>
                <a:latin typeface="Calibri" pitchFamily="34" charset="0"/>
                <a:ea typeface="Calibri" pitchFamily="34" charset="-122"/>
                <a:cs typeface="Calibri" pitchFamily="34" charset="-120"/>
              </a:rPr>
              <a:t>Actions</a:t>
            </a:r>
            <a:r>
              <a:rPr lang="en-US" sz="1300" dirty="0">
                <a:solidFill>
                  <a:srgbClr val="6B7C8C"/>
                </a:solidFill>
                <a:latin typeface="Calibri" pitchFamily="34" charset="0"/>
                <a:ea typeface="Calibri" pitchFamily="34" charset="-122"/>
                <a:cs typeface="Calibri" pitchFamily="34" charset="-120"/>
              </a:rPr>
              <a:t>  →  destructure directly</a:t>
            </a:r>
            <a:endParaRPr lang="en-US" sz="1300" dirty="0"/>
          </a:p>
        </p:txBody>
      </p:sp>
      <p:sp>
        <p:nvSpPr>
          <p:cNvPr id="11" name="Shape 8"/>
          <p:cNvSpPr/>
          <p:nvPr/>
        </p:nvSpPr>
        <p:spPr>
          <a:xfrm>
            <a:off x="7772400" y="3794760"/>
            <a:ext cx="3867912" cy="1865376"/>
          </a:xfrm>
          <a:prstGeom prst="roundRect">
            <a:avLst>
              <a:gd name="adj" fmla="val 3431"/>
            </a:avLst>
          </a:prstGeom>
          <a:solidFill>
            <a:srgbClr val="FBF1E3"/>
          </a:solidFill>
          <a:ln/>
          <a:effectLst>
            <a:outerShdw blurRad="88900" dist="25400" dir="5400000" algn="bl" rotWithShape="0">
              <a:srgbClr val="35495E">
                <a:alpha val="13000"/>
              </a:srgbClr>
            </a:outerShdw>
          </a:effectLst>
        </p:spPr>
      </p:sp>
      <p:sp>
        <p:nvSpPr>
          <p:cNvPr id="12" name="Shape 9"/>
          <p:cNvSpPr/>
          <p:nvPr/>
        </p:nvSpPr>
        <p:spPr>
          <a:xfrm>
            <a:off x="7973568" y="3995928"/>
            <a:ext cx="457200" cy="457200"/>
          </a:xfrm>
          <a:prstGeom prst="ellipse">
            <a:avLst/>
          </a:prstGeom>
          <a:solidFill>
            <a:srgbClr val="E0922F"/>
          </a:solidFill>
          <a:ln/>
          <a:effectLst>
            <a:outerShdw blurRad="88900" dist="25400" dir="5400000" algn="bl" rotWithShape="0">
              <a:srgbClr val="35495E">
                <a:alpha val="13000"/>
              </a:srgbClr>
            </a:outerShdw>
          </a:effectLst>
        </p:spPr>
      </p:sp>
      <p:pic>
        <p:nvPicPr>
          <p:cNvPr id="13" name="Image 1" descr="preencoded.png"/>
          <p:cNvPicPr>
            <a:picLocks noChangeAspect="1"/>
          </p:cNvPicPr>
          <p:nvPr/>
        </p:nvPicPr>
        <p:blipFill>
          <a:blip r:embed="rId4"/>
          <a:stretch>
            <a:fillRect/>
          </a:stretch>
        </p:blipFill>
        <p:spPr>
          <a:xfrm>
            <a:off x="8097012" y="4119372"/>
            <a:ext cx="210312" cy="210312"/>
          </a:xfrm>
          <a:prstGeom prst="rect">
            <a:avLst/>
          </a:prstGeom>
        </p:spPr>
      </p:pic>
      <p:sp>
        <p:nvSpPr>
          <p:cNvPr id="14" name="Text 10"/>
          <p:cNvSpPr/>
          <p:nvPr/>
        </p:nvSpPr>
        <p:spPr>
          <a:xfrm>
            <a:off x="8558784" y="3959352"/>
            <a:ext cx="2907792" cy="310896"/>
          </a:xfrm>
          <a:prstGeom prst="rect">
            <a:avLst/>
          </a:prstGeom>
          <a:noFill/>
          <a:ln/>
        </p:spPr>
        <p:txBody>
          <a:bodyPr wrap="square" lIns="0" tIns="0" rIns="0" bIns="0" rtlCol="0" anchor="ctr"/>
          <a:lstStyle/>
          <a:p>
            <a:pPr marL="0" indent="0" algn="l">
              <a:buNone/>
            </a:pPr>
            <a:r>
              <a:rPr lang="en-US" sz="1400" b="1" dirty="0">
                <a:solidFill>
                  <a:srgbClr val="B5751F"/>
                </a:solidFill>
                <a:latin typeface="Calibri" pitchFamily="34" charset="0"/>
                <a:ea typeface="Calibri" pitchFamily="34" charset="-122"/>
                <a:cs typeface="Calibri" pitchFamily="34" charset="-120"/>
              </a:rPr>
              <a:t>Why?</a:t>
            </a:r>
            <a:endParaRPr lang="en-US" sz="1400" dirty="0"/>
          </a:p>
        </p:txBody>
      </p:sp>
      <p:sp>
        <p:nvSpPr>
          <p:cNvPr id="15" name="Text 11"/>
          <p:cNvSpPr/>
          <p:nvPr/>
        </p:nvSpPr>
        <p:spPr>
          <a:xfrm>
            <a:off x="8558784" y="4270248"/>
            <a:ext cx="2907792" cy="1261872"/>
          </a:xfrm>
          <a:prstGeom prst="rect">
            <a:avLst/>
          </a:prstGeom>
          <a:noFill/>
          <a:ln/>
        </p:spPr>
        <p:txBody>
          <a:bodyPr wrap="square" lIns="0" tIns="0" rIns="0" bIns="0" rtlCol="0" anchor="t"/>
          <a:lstStyle/>
          <a:p>
            <a:pPr marL="0" indent="0" algn="l">
              <a:lnSpc>
                <a:spcPts val="1600"/>
              </a:lnSpc>
              <a:buNone/>
            </a:pPr>
            <a:r>
              <a:rPr lang="en-US" sz="1250" dirty="0">
                <a:solidFill>
                  <a:srgbClr val="2C3E50"/>
                </a:solidFill>
                <a:latin typeface="Calibri" pitchFamily="34" charset="0"/>
                <a:ea typeface="Calibri" pitchFamily="34" charset="-122"/>
                <a:cs typeface="Calibri" pitchFamily="34" charset="-120"/>
              </a:rPr>
              <a:t>A store is a reactive() object. Destructuring strips the proxy, so plain values never update. storeToRefs keeps them reactive.</a:t>
            </a:r>
            <a:endParaRPr lang="en-US" sz="1250" dirty="0"/>
          </a:p>
        </p:txBody>
      </p:sp>
      <p:sp>
        <p:nvSpPr>
          <p:cNvPr id="16" name="Text 12"/>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17" name="Text 13"/>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Consuming</a:t>
            </a:r>
            <a:endParaRPr lang="en-US" sz="900" dirty="0"/>
          </a:p>
        </p:txBody>
      </p:sp>
      <p:sp>
        <p:nvSpPr>
          <p:cNvPr id="18" name="Text 14"/>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A6760C"/>
                </a:solidFill>
                <a:latin typeface="Calibri" pitchFamily="34" charset="0"/>
                <a:ea typeface="Calibri" pitchFamily="34" charset="-122"/>
                <a:cs typeface="Calibri" pitchFamily="34" charset="-120"/>
              </a:rPr>
              <a:t>THEORY · CONSUMING · 42:00–55:00</a:t>
            </a:r>
            <a:endParaRPr lang="en-US" sz="1200" dirty="0"/>
          </a:p>
        </p:txBody>
      </p:sp>
      <p:sp>
        <p:nvSpPr>
          <p:cNvPr id="5" name="Text 2"/>
          <p:cNvSpPr/>
          <p:nvPr/>
        </p:nvSpPr>
        <p:spPr>
          <a:xfrm>
            <a:off x="1298448" y="713232"/>
            <a:ext cx="10332720" cy="566928"/>
          </a:xfrm>
          <a:prstGeom prst="rect">
            <a:avLst/>
          </a:prstGeom>
          <a:noFill/>
          <a:ln/>
        </p:spPr>
        <p:txBody>
          <a:bodyPr wrap="square" lIns="0" tIns="0" rIns="0" bIns="0" rtlCol="0" anchor="ctr"/>
          <a:lstStyle/>
          <a:p>
            <a:pPr marL="0" indent="0" algn="l">
              <a:buNone/>
            </a:pPr>
            <a:r>
              <a:rPr lang="en-US" sz="2800" b="1" dirty="0">
                <a:solidFill>
                  <a:srgbClr val="2C3E50"/>
                </a:solidFill>
                <a:latin typeface="Cambria" pitchFamily="34" charset="0"/>
                <a:ea typeface="Cambria" pitchFamily="34" charset="-122"/>
                <a:cs typeface="Cambria" pitchFamily="34" charset="-120"/>
              </a:rPr>
              <a:t>$patch — Batch State Updates</a:t>
            </a:r>
            <a:endParaRPr lang="en-US" sz="2800" dirty="0"/>
          </a:p>
        </p:txBody>
      </p:sp>
      <p:sp>
        <p:nvSpPr>
          <p:cNvPr id="6" name="Text 3"/>
          <p:cNvSpPr/>
          <p:nvPr/>
        </p:nvSpPr>
        <p:spPr>
          <a:xfrm>
            <a:off x="548640" y="1298448"/>
            <a:ext cx="11064240" cy="365760"/>
          </a:xfrm>
          <a:prstGeom prst="rect">
            <a:avLst/>
          </a:prstGeom>
          <a:noFill/>
          <a:ln/>
        </p:spPr>
        <p:txBody>
          <a:bodyPr wrap="square" lIns="0" tIns="0" rIns="0" bIns="0" rtlCol="0" anchor="ctr"/>
          <a:lstStyle/>
          <a:p>
            <a:pPr marL="0" indent="0">
              <a:buNone/>
            </a:pPr>
            <a:r>
              <a:rPr lang="en-US" sz="1300" dirty="0">
                <a:solidFill>
                  <a:srgbClr val="6B7C8C"/>
                </a:solidFill>
                <a:latin typeface="Calibri" pitchFamily="34" charset="0"/>
                <a:ea typeface="Calibri" pitchFamily="34" charset="-122"/>
                <a:cs typeface="Calibri" pitchFamily="34" charset="-120"/>
              </a:rPr>
              <a:t>$patch applies several changes as one atomic update — a single reactivity trigger and one clean devtools snapshot.</a:t>
            </a:r>
            <a:endParaRPr lang="en-US" sz="1300" dirty="0"/>
          </a:p>
        </p:txBody>
      </p:sp>
      <p:sp>
        <p:nvSpPr>
          <p:cNvPr id="7" name="Shape 4"/>
          <p:cNvSpPr/>
          <p:nvPr/>
        </p:nvSpPr>
        <p:spPr>
          <a:xfrm>
            <a:off x="548640" y="1783080"/>
            <a:ext cx="11091672" cy="3392424"/>
          </a:xfrm>
          <a:prstGeom prst="roundRect">
            <a:avLst>
              <a:gd name="adj" fmla="val 2426"/>
            </a:avLst>
          </a:prstGeom>
          <a:solidFill>
            <a:srgbClr val="1B2832"/>
          </a:solidFill>
          <a:ln/>
          <a:effectLst>
            <a:outerShdw blurRad="114300" dist="38100" dir="5400000" algn="bl" rotWithShape="0">
              <a:srgbClr val="1E2B38">
                <a:alpha val="16000"/>
              </a:srgbClr>
            </a:outerShdw>
          </a:effectLst>
        </p:spPr>
      </p:sp>
      <p:sp>
        <p:nvSpPr>
          <p:cNvPr id="8" name="Text 5"/>
          <p:cNvSpPr/>
          <p:nvPr/>
        </p:nvSpPr>
        <p:spPr>
          <a:xfrm>
            <a:off x="749808" y="1819656"/>
            <a:ext cx="10689336" cy="3319272"/>
          </a:xfrm>
          <a:prstGeom prst="rect">
            <a:avLst/>
          </a:prstGeom>
          <a:noFill/>
          <a:ln/>
        </p:spPr>
        <p:txBody>
          <a:bodyPr wrap="square" lIns="0" tIns="0" rIns="0" bIns="0" rtlCol="0" anchor="t"/>
          <a:lstStyle/>
          <a:p>
            <a:pPr marL="0" indent="0" algn="l">
              <a:lnSpc>
                <a:spcPts val="1608"/>
              </a:lnSpc>
              <a:buNone/>
            </a:pPr>
            <a:r>
              <a:rPr lang="en-US" sz="1200" dirty="0">
                <a:solidFill>
                  <a:srgbClr val="E7ECEF"/>
                </a:solidFill>
                <a:latin typeface="Courier New" pitchFamily="34" charset="0"/>
                <a:ea typeface="Courier New" pitchFamily="34" charset="-122"/>
                <a:cs typeface="Courier New" pitchFamily="34" charset="-120"/>
              </a:rPr>
              <a:t>const store = useCartStore()</a:t>
            </a:r>
            <a:endParaRPr lang="en-US" sz="1200" dirty="0"/>
          </a:p>
          <a:p>
            <a:pPr marL="0" indent="0" algn="l">
              <a:lnSpc>
                <a:spcPts val="1608"/>
              </a:lnSpc>
              <a:buNone/>
            </a:pPr>
            <a:r>
              <a:rPr lang="en-US" sz="1200" dirty="0">
                <a:solidFill>
                  <a:srgbClr val="E7ECEF"/>
                </a:solidFill>
                <a:latin typeface="Courier New" pitchFamily="34" charset="0"/>
                <a:ea typeface="Courier New" pitchFamily="34" charset="-122"/>
                <a:cs typeface="Courier New" pitchFamily="34" charset="-120"/>
              </a:rPr>
              <a:t> </a:t>
            </a:r>
            <a:endParaRPr lang="en-US" sz="1200" dirty="0"/>
          </a:p>
          <a:p>
            <a:pPr marL="0" indent="0" algn="l">
              <a:lnSpc>
                <a:spcPts val="1608"/>
              </a:lnSpc>
              <a:buNone/>
            </a:pPr>
            <a:r>
              <a:rPr lang="en-US" sz="1200" dirty="0">
                <a:solidFill>
                  <a:srgbClr val="6E8694"/>
                </a:solidFill>
                <a:latin typeface="Courier New" pitchFamily="34" charset="0"/>
                <a:ea typeface="Courier New" pitchFamily="34" charset="-122"/>
                <a:cs typeface="Courier New" pitchFamily="34" charset="-120"/>
              </a:rPr>
              <a:t>// ❌ Three separate reactive triggers</a:t>
            </a:r>
            <a:endParaRPr lang="en-US" sz="1200" dirty="0"/>
          </a:p>
          <a:p>
            <a:pPr marL="0" indent="0" algn="l">
              <a:lnSpc>
                <a:spcPts val="1608"/>
              </a:lnSpc>
              <a:buNone/>
            </a:pPr>
            <a:r>
              <a:rPr lang="en-US" sz="1200" dirty="0">
                <a:solidFill>
                  <a:srgbClr val="E7ECEF"/>
                </a:solidFill>
                <a:latin typeface="Courier New" pitchFamily="34" charset="0"/>
                <a:ea typeface="Courier New" pitchFamily="34" charset="-122"/>
                <a:cs typeface="Courier New" pitchFamily="34" charset="-120"/>
              </a:rPr>
              <a:t>store.items  = []</a:t>
            </a:r>
            <a:endParaRPr lang="en-US" sz="1200" dirty="0"/>
          </a:p>
          <a:p>
            <a:pPr marL="0" indent="0" algn="l">
              <a:lnSpc>
                <a:spcPts val="1608"/>
              </a:lnSpc>
              <a:buNone/>
            </a:pPr>
            <a:r>
              <a:rPr lang="en-US" sz="1200" dirty="0">
                <a:solidFill>
                  <a:srgbClr val="E7ECEF"/>
                </a:solidFill>
                <a:latin typeface="Courier New" pitchFamily="34" charset="0"/>
                <a:ea typeface="Courier New" pitchFamily="34" charset="-122"/>
                <a:cs typeface="Courier New" pitchFamily="34" charset="-120"/>
              </a:rPr>
              <a:t>store.total  = 0</a:t>
            </a:r>
            <a:endParaRPr lang="en-US" sz="1200" dirty="0"/>
          </a:p>
          <a:p>
            <a:pPr marL="0" indent="0" algn="l">
              <a:lnSpc>
                <a:spcPts val="1608"/>
              </a:lnSpc>
              <a:buNone/>
            </a:pPr>
            <a:r>
              <a:rPr lang="en-US" sz="1200" dirty="0">
                <a:solidFill>
                  <a:srgbClr val="E7ECEF"/>
                </a:solidFill>
                <a:latin typeface="Courier New" pitchFamily="34" charset="0"/>
                <a:ea typeface="Courier New" pitchFamily="34" charset="-122"/>
                <a:cs typeface="Courier New" pitchFamily="34" charset="-120"/>
              </a:rPr>
              <a:t>store.coupon = null</a:t>
            </a:r>
            <a:endParaRPr lang="en-US" sz="1200" dirty="0"/>
          </a:p>
          <a:p>
            <a:pPr marL="0" indent="0" algn="l">
              <a:lnSpc>
                <a:spcPts val="1608"/>
              </a:lnSpc>
              <a:buNone/>
            </a:pPr>
            <a:r>
              <a:rPr lang="en-US" sz="1200" dirty="0">
                <a:solidFill>
                  <a:srgbClr val="E7ECEF"/>
                </a:solidFill>
                <a:latin typeface="Courier New" pitchFamily="34" charset="0"/>
                <a:ea typeface="Courier New" pitchFamily="34" charset="-122"/>
                <a:cs typeface="Courier New" pitchFamily="34" charset="-120"/>
              </a:rPr>
              <a:t> </a:t>
            </a:r>
            <a:endParaRPr lang="en-US" sz="1200" dirty="0"/>
          </a:p>
          <a:p>
            <a:pPr marL="0" indent="0" algn="l">
              <a:lnSpc>
                <a:spcPts val="1608"/>
              </a:lnSpc>
              <a:buNone/>
            </a:pPr>
            <a:r>
              <a:rPr lang="en-US" sz="1200" dirty="0">
                <a:solidFill>
                  <a:srgbClr val="6E8694"/>
                </a:solidFill>
                <a:latin typeface="Courier New" pitchFamily="34" charset="0"/>
                <a:ea typeface="Courier New" pitchFamily="34" charset="-122"/>
                <a:cs typeface="Courier New" pitchFamily="34" charset="-120"/>
              </a:rPr>
              <a:t>// ✅ One atomic update — one devtools snapshot</a:t>
            </a:r>
            <a:endParaRPr lang="en-US" sz="1200" dirty="0"/>
          </a:p>
          <a:p>
            <a:pPr marL="0" indent="0" algn="l">
              <a:lnSpc>
                <a:spcPts val="1608"/>
              </a:lnSpc>
              <a:buNone/>
            </a:pPr>
            <a:r>
              <a:rPr lang="en-US" sz="1200" dirty="0">
                <a:solidFill>
                  <a:srgbClr val="E7ECEF"/>
                </a:solidFill>
                <a:latin typeface="Courier New" pitchFamily="34" charset="0"/>
                <a:ea typeface="Courier New" pitchFamily="34" charset="-122"/>
                <a:cs typeface="Courier New" pitchFamily="34" charset="-120"/>
              </a:rPr>
              <a:t>store.$patch({ items: [], total: 0, coupon: null })</a:t>
            </a:r>
            <a:endParaRPr lang="en-US" sz="1200" dirty="0"/>
          </a:p>
          <a:p>
            <a:pPr marL="0" indent="0" algn="l">
              <a:lnSpc>
                <a:spcPts val="1608"/>
              </a:lnSpc>
              <a:buNone/>
            </a:pPr>
            <a:r>
              <a:rPr lang="en-US" sz="1200" dirty="0">
                <a:solidFill>
                  <a:srgbClr val="E7ECEF"/>
                </a:solidFill>
                <a:latin typeface="Courier New" pitchFamily="34" charset="0"/>
                <a:ea typeface="Courier New" pitchFamily="34" charset="-122"/>
                <a:cs typeface="Courier New" pitchFamily="34" charset="-120"/>
              </a:rPr>
              <a:t> </a:t>
            </a:r>
            <a:endParaRPr lang="en-US" sz="1200" dirty="0"/>
          </a:p>
          <a:p>
            <a:pPr marL="0" indent="0" algn="l">
              <a:lnSpc>
                <a:spcPts val="1608"/>
              </a:lnSpc>
              <a:buNone/>
            </a:pPr>
            <a:r>
              <a:rPr lang="en-US" sz="1200" dirty="0">
                <a:solidFill>
                  <a:srgbClr val="6E8694"/>
                </a:solidFill>
                <a:latin typeface="Courier New" pitchFamily="34" charset="0"/>
                <a:ea typeface="Courier New" pitchFamily="34" charset="-122"/>
                <a:cs typeface="Courier New" pitchFamily="34" charset="-120"/>
              </a:rPr>
              <a:t>// $patch also accepts a function for complex updates</a:t>
            </a:r>
            <a:endParaRPr lang="en-US" sz="1200" dirty="0"/>
          </a:p>
          <a:p>
            <a:pPr marL="0" indent="0" algn="l">
              <a:lnSpc>
                <a:spcPts val="1608"/>
              </a:lnSpc>
              <a:buNone/>
            </a:pPr>
            <a:r>
              <a:rPr lang="en-US" sz="1200" dirty="0">
                <a:solidFill>
                  <a:srgbClr val="E7ECEF"/>
                </a:solidFill>
                <a:latin typeface="Courier New" pitchFamily="34" charset="0"/>
                <a:ea typeface="Courier New" pitchFamily="34" charset="-122"/>
                <a:cs typeface="Courier New" pitchFamily="34" charset="-120"/>
              </a:rPr>
              <a:t>store.$patch((state) =&gt; {</a:t>
            </a:r>
            <a:endParaRPr lang="en-US" sz="1200" dirty="0"/>
          </a:p>
          <a:p>
            <a:pPr marL="0" indent="0" algn="l">
              <a:lnSpc>
                <a:spcPts val="1608"/>
              </a:lnSpc>
              <a:buNone/>
            </a:pPr>
            <a:r>
              <a:rPr lang="en-US" sz="1200" dirty="0">
                <a:solidFill>
                  <a:srgbClr val="E7ECEF"/>
                </a:solidFill>
                <a:latin typeface="Courier New" pitchFamily="34" charset="0"/>
                <a:ea typeface="Courier New" pitchFamily="34" charset="-122"/>
                <a:cs typeface="Courier New" pitchFamily="34" charset="-120"/>
              </a:rPr>
              <a:t>  state.items = state.items.filter(i =&gt; i.available)</a:t>
            </a:r>
            <a:endParaRPr lang="en-US" sz="1200" dirty="0"/>
          </a:p>
          <a:p>
            <a:pPr marL="0" indent="0" algn="l">
              <a:lnSpc>
                <a:spcPts val="1608"/>
              </a:lnSpc>
              <a:buNone/>
            </a:pPr>
            <a:r>
              <a:rPr lang="en-US" sz="1200" dirty="0">
                <a:solidFill>
                  <a:srgbClr val="E7ECEF"/>
                </a:solidFill>
                <a:latin typeface="Courier New" pitchFamily="34" charset="0"/>
                <a:ea typeface="Courier New" pitchFamily="34" charset="-122"/>
                <a:cs typeface="Courier New" pitchFamily="34" charset="-120"/>
              </a:rPr>
              <a:t>  state.total = state.items.reduce((s, i) =&gt; s + i.price, 0)</a:t>
            </a:r>
            <a:endParaRPr lang="en-US" sz="1200" dirty="0"/>
          </a:p>
          <a:p>
            <a:pPr marL="0" indent="0" algn="l">
              <a:lnSpc>
                <a:spcPts val="1608"/>
              </a:lnSpc>
              <a:buNone/>
            </a:pPr>
            <a:r>
              <a:rPr lang="en-US" sz="1200" dirty="0">
                <a:solidFill>
                  <a:srgbClr val="E7ECEF"/>
                </a:solidFill>
                <a:latin typeface="Courier New" pitchFamily="34" charset="0"/>
                <a:ea typeface="Courier New" pitchFamily="34" charset="-122"/>
                <a:cs typeface="Courier New" pitchFamily="34" charset="-120"/>
              </a:rPr>
              <a:t>})</a:t>
            </a:r>
            <a:endParaRPr lang="en-US" sz="1200" dirty="0"/>
          </a:p>
        </p:txBody>
      </p:sp>
      <p:sp>
        <p:nvSpPr>
          <p:cNvPr id="9" name="Text 6"/>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10" name="Text 7"/>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Consuming</a:t>
            </a:r>
            <a:endParaRPr lang="en-US" sz="900" dirty="0"/>
          </a:p>
        </p:txBody>
      </p:sp>
      <p:sp>
        <p:nvSpPr>
          <p:cNvPr id="11" name="Text 8"/>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A6760C"/>
                </a:solidFill>
                <a:latin typeface="Calibri" pitchFamily="34" charset="0"/>
                <a:ea typeface="Calibri" pitchFamily="34" charset="-122"/>
                <a:cs typeface="Calibri" pitchFamily="34" charset="-120"/>
              </a:rPr>
              <a:t>THEORY · CONSUMING · 42:00–55:00</a:t>
            </a:r>
            <a:endParaRPr lang="en-US" sz="1200" dirty="0"/>
          </a:p>
        </p:txBody>
      </p:sp>
      <p:sp>
        <p:nvSpPr>
          <p:cNvPr id="5" name="Text 2"/>
          <p:cNvSpPr/>
          <p:nvPr/>
        </p:nvSpPr>
        <p:spPr>
          <a:xfrm>
            <a:off x="1298448" y="713232"/>
            <a:ext cx="10332720" cy="566928"/>
          </a:xfrm>
          <a:prstGeom prst="rect">
            <a:avLst/>
          </a:prstGeom>
          <a:noFill/>
          <a:ln/>
        </p:spPr>
        <p:txBody>
          <a:bodyPr wrap="square" lIns="0" tIns="0" rIns="0" bIns="0" rtlCol="0" anchor="ctr"/>
          <a:lstStyle/>
          <a:p>
            <a:pPr marL="0" indent="0" algn="l">
              <a:buNone/>
            </a:pPr>
            <a:r>
              <a:rPr lang="en-US" sz="2800" b="1" dirty="0">
                <a:solidFill>
                  <a:srgbClr val="2C3E50"/>
                </a:solidFill>
                <a:latin typeface="Cambria" pitchFamily="34" charset="0"/>
                <a:ea typeface="Cambria" pitchFamily="34" charset="-122"/>
                <a:cs typeface="Cambria" pitchFamily="34" charset="-120"/>
              </a:rPr>
              <a:t>$reset &amp; Watching State</a:t>
            </a:r>
            <a:endParaRPr lang="en-US" sz="2800" dirty="0"/>
          </a:p>
        </p:txBody>
      </p:sp>
      <p:sp>
        <p:nvSpPr>
          <p:cNvPr id="6" name="Shape 3"/>
          <p:cNvSpPr/>
          <p:nvPr/>
        </p:nvSpPr>
        <p:spPr>
          <a:xfrm>
            <a:off x="548640" y="1463040"/>
            <a:ext cx="5532120" cy="1452372"/>
          </a:xfrm>
          <a:prstGeom prst="roundRect">
            <a:avLst>
              <a:gd name="adj" fmla="val 5666"/>
            </a:avLst>
          </a:prstGeom>
          <a:solidFill>
            <a:srgbClr val="1B2832"/>
          </a:solidFill>
          <a:ln/>
          <a:effectLst>
            <a:outerShdw blurRad="114300" dist="38100" dir="5400000" algn="bl" rotWithShape="0">
              <a:srgbClr val="1E2B38">
                <a:alpha val="16000"/>
              </a:srgbClr>
            </a:outerShdw>
          </a:effectLst>
        </p:spPr>
      </p:sp>
      <p:sp>
        <p:nvSpPr>
          <p:cNvPr id="7" name="Text 4"/>
          <p:cNvSpPr/>
          <p:nvPr/>
        </p:nvSpPr>
        <p:spPr>
          <a:xfrm>
            <a:off x="749808" y="1499616"/>
            <a:ext cx="5129784" cy="1379220"/>
          </a:xfrm>
          <a:prstGeom prst="rect">
            <a:avLst/>
          </a:prstGeom>
          <a:noFill/>
          <a:ln/>
        </p:spPr>
        <p:txBody>
          <a:bodyPr wrap="square" lIns="0" tIns="0" rIns="0" bIns="0" rtlCol="0" anchor="t"/>
          <a:lstStyle/>
          <a:p>
            <a:pPr marL="0" indent="0" algn="l">
              <a:lnSpc>
                <a:spcPts val="1474"/>
              </a:lnSpc>
              <a:buNone/>
            </a:pPr>
            <a:r>
              <a:rPr lang="en-US" sz="1100" dirty="0">
                <a:solidFill>
                  <a:srgbClr val="6E8694"/>
                </a:solidFill>
                <a:latin typeface="Courier New" pitchFamily="34" charset="0"/>
                <a:ea typeface="Courier New" pitchFamily="34" charset="-122"/>
                <a:cs typeface="Courier New" pitchFamily="34" charset="-120"/>
              </a:rPr>
              <a:t>// $reset() — Setup Stores implement it manually</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export const useCartStore = defineStore('cart', () =&gt; {</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const items = ref([]); const total = ref(0)</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function $reset() { items.value = []; total.value = 0 }</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return { items, total, $reset }</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a:t>
            </a:r>
            <a:endParaRPr lang="en-US" sz="1100" dirty="0"/>
          </a:p>
        </p:txBody>
      </p:sp>
      <p:sp>
        <p:nvSpPr>
          <p:cNvPr id="8" name="Shape 5"/>
          <p:cNvSpPr/>
          <p:nvPr/>
        </p:nvSpPr>
        <p:spPr>
          <a:xfrm>
            <a:off x="6263640" y="1463040"/>
            <a:ext cx="5376672" cy="1639570"/>
          </a:xfrm>
          <a:prstGeom prst="roundRect">
            <a:avLst>
              <a:gd name="adj" fmla="val 5019"/>
            </a:avLst>
          </a:prstGeom>
          <a:solidFill>
            <a:srgbClr val="1B2832"/>
          </a:solidFill>
          <a:ln/>
          <a:effectLst>
            <a:outerShdw blurRad="114300" dist="38100" dir="5400000" algn="bl" rotWithShape="0">
              <a:srgbClr val="1E2B38">
                <a:alpha val="16000"/>
              </a:srgbClr>
            </a:outerShdw>
          </a:effectLst>
        </p:spPr>
      </p:sp>
      <p:sp>
        <p:nvSpPr>
          <p:cNvPr id="9" name="Text 6"/>
          <p:cNvSpPr/>
          <p:nvPr/>
        </p:nvSpPr>
        <p:spPr>
          <a:xfrm>
            <a:off x="6464808" y="1499616"/>
            <a:ext cx="4974336" cy="1566418"/>
          </a:xfrm>
          <a:prstGeom prst="rect">
            <a:avLst/>
          </a:prstGeom>
          <a:noFill/>
          <a:ln/>
        </p:spPr>
        <p:txBody>
          <a:bodyPr wrap="square" lIns="0" tIns="0" rIns="0" bIns="0" rtlCol="0" anchor="t"/>
          <a:lstStyle/>
          <a:p>
            <a:pPr marL="0" indent="0" algn="l">
              <a:lnSpc>
                <a:spcPts val="1474"/>
              </a:lnSpc>
              <a:buNone/>
            </a:pPr>
            <a:r>
              <a:rPr lang="en-US" sz="1100" dirty="0">
                <a:solidFill>
                  <a:srgbClr val="6E8694"/>
                </a:solidFill>
                <a:latin typeface="Courier New" pitchFamily="34" charset="0"/>
                <a:ea typeface="Courier New" pitchFamily="34" charset="-122"/>
                <a:cs typeface="Courier New" pitchFamily="34" charset="-120"/>
              </a:rPr>
              <a:t>// $subscribe — react to ANY state change</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cart.$subscribe((mutation, state) =&gt; {</a:t>
            </a:r>
            <a:endParaRPr lang="en-US" sz="1100" dirty="0"/>
          </a:p>
          <a:p>
            <a:pPr marL="0" indent="0" algn="l">
              <a:lnSpc>
                <a:spcPts val="1474"/>
              </a:lnSpc>
              <a:buNone/>
            </a:pPr>
            <a:r>
              <a:rPr lang="en-US" sz="1100" dirty="0">
                <a:solidFill>
                  <a:srgbClr val="6E8694"/>
                </a:solidFill>
                <a:latin typeface="Courier New" pitchFamily="34" charset="0"/>
                <a:ea typeface="Courier New" pitchFamily="34" charset="-122"/>
                <a:cs typeface="Courier New" pitchFamily="34" charset="-120"/>
              </a:rPr>
              <a:t>  // mutation.type: 'direct' | 'patch object'</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console.log('Cart changed:', mutation.type)</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localStorage.setItem('cart',</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JSON.stringify(state))</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a:t>
            </a:r>
            <a:endParaRPr lang="en-US" sz="1100" dirty="0"/>
          </a:p>
        </p:txBody>
      </p:sp>
      <p:sp>
        <p:nvSpPr>
          <p:cNvPr id="10" name="Shape 7"/>
          <p:cNvSpPr/>
          <p:nvPr/>
        </p:nvSpPr>
        <p:spPr>
          <a:xfrm>
            <a:off x="548640" y="3977640"/>
            <a:ext cx="11091672" cy="1389888"/>
          </a:xfrm>
          <a:prstGeom prst="roundRect">
            <a:avLst>
              <a:gd name="adj" fmla="val 4605"/>
            </a:avLst>
          </a:prstGeom>
          <a:solidFill>
            <a:srgbClr val="FCF4E0"/>
          </a:solidFill>
          <a:ln/>
          <a:effectLst>
            <a:outerShdw blurRad="88900" dist="25400" dir="5400000" algn="bl" rotWithShape="0">
              <a:srgbClr val="35495E">
                <a:alpha val="13000"/>
              </a:srgbClr>
            </a:outerShdw>
          </a:effectLst>
        </p:spPr>
      </p:sp>
      <p:sp>
        <p:nvSpPr>
          <p:cNvPr id="11" name="Shape 8"/>
          <p:cNvSpPr/>
          <p:nvPr/>
        </p:nvSpPr>
        <p:spPr>
          <a:xfrm>
            <a:off x="749808" y="4178808"/>
            <a:ext cx="457200" cy="457200"/>
          </a:xfrm>
          <a:prstGeom prst="ellipse">
            <a:avLst/>
          </a:prstGeom>
          <a:solidFill>
            <a:srgbClr val="E0A21B"/>
          </a:solidFill>
          <a:ln/>
          <a:effectLst>
            <a:outerShdw blurRad="88900" dist="25400" dir="5400000" algn="bl" rotWithShape="0">
              <a:srgbClr val="35495E">
                <a:alpha val="13000"/>
              </a:srgbClr>
            </a:outerShdw>
          </a:effectLst>
        </p:spPr>
      </p:sp>
      <p:pic>
        <p:nvPicPr>
          <p:cNvPr id="12" name="Image 1" descr="preencoded.png"/>
          <p:cNvPicPr>
            <a:picLocks noChangeAspect="1"/>
          </p:cNvPicPr>
          <p:nvPr/>
        </p:nvPicPr>
        <p:blipFill>
          <a:blip r:embed="rId4"/>
          <a:stretch>
            <a:fillRect/>
          </a:stretch>
        </p:blipFill>
        <p:spPr>
          <a:xfrm>
            <a:off x="873252" y="4302252"/>
            <a:ext cx="210312" cy="210312"/>
          </a:xfrm>
          <a:prstGeom prst="rect">
            <a:avLst/>
          </a:prstGeom>
        </p:spPr>
      </p:pic>
      <p:sp>
        <p:nvSpPr>
          <p:cNvPr id="13" name="Text 9"/>
          <p:cNvSpPr/>
          <p:nvPr/>
        </p:nvSpPr>
        <p:spPr>
          <a:xfrm>
            <a:off x="1335024" y="4142232"/>
            <a:ext cx="10131552" cy="310896"/>
          </a:xfrm>
          <a:prstGeom prst="rect">
            <a:avLst/>
          </a:prstGeom>
          <a:noFill/>
          <a:ln/>
        </p:spPr>
        <p:txBody>
          <a:bodyPr wrap="square" lIns="0" tIns="0" rIns="0" bIns="0" rtlCol="0" anchor="ctr"/>
          <a:lstStyle/>
          <a:p>
            <a:pPr marL="0" indent="0" algn="l">
              <a:buNone/>
            </a:pPr>
            <a:r>
              <a:rPr lang="en-US" sz="1400" b="1" dirty="0">
                <a:solidFill>
                  <a:srgbClr val="A6760C"/>
                </a:solidFill>
                <a:latin typeface="Calibri" pitchFamily="34" charset="0"/>
                <a:ea typeface="Calibri" pitchFamily="34" charset="-122"/>
                <a:cs typeface="Calibri" pitchFamily="34" charset="-120"/>
              </a:rPr>
              <a:t>$subscribe vs. watch</a:t>
            </a:r>
            <a:endParaRPr lang="en-US" sz="1400" dirty="0"/>
          </a:p>
        </p:txBody>
      </p:sp>
      <p:sp>
        <p:nvSpPr>
          <p:cNvPr id="14" name="Text 10"/>
          <p:cNvSpPr/>
          <p:nvPr/>
        </p:nvSpPr>
        <p:spPr>
          <a:xfrm>
            <a:off x="1335024" y="4453128"/>
            <a:ext cx="10131552" cy="786384"/>
          </a:xfrm>
          <a:prstGeom prst="rect">
            <a:avLst/>
          </a:prstGeom>
          <a:noFill/>
          <a:ln/>
        </p:spPr>
        <p:txBody>
          <a:bodyPr wrap="square" lIns="0" tIns="0" rIns="0" bIns="0" rtlCol="0" anchor="t"/>
          <a:lstStyle/>
          <a:p>
            <a:pPr marL="0" indent="0" algn="l">
              <a:lnSpc>
                <a:spcPts val="1600"/>
              </a:lnSpc>
              <a:buNone/>
            </a:pPr>
            <a:r>
              <a:rPr lang="en-US" sz="1250" dirty="0">
                <a:solidFill>
                  <a:srgbClr val="2C3E50"/>
                </a:solidFill>
                <a:latin typeface="Calibri" pitchFamily="34" charset="0"/>
                <a:ea typeface="Calibri" pitchFamily="34" charset="-122"/>
                <a:cs typeface="Calibri" pitchFamily="34" charset="-120"/>
              </a:rPr>
              <a:t>Use watch(total, …) for one property. Use cart.$subscribe(…) to react to the whole store — perfect for logging or saving the entire state on every change (a poor-man's persistence, before we reach the real plugin in Session 11).</a:t>
            </a:r>
            <a:endParaRPr lang="en-US" sz="1250" dirty="0"/>
          </a:p>
        </p:txBody>
      </p:sp>
      <p:sp>
        <p:nvSpPr>
          <p:cNvPr id="15" name="Text 11"/>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16" name="Text 12"/>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Consuming</a:t>
            </a:r>
            <a:endParaRPr lang="en-US" sz="900" dirty="0"/>
          </a:p>
        </p:txBody>
      </p:sp>
      <p:sp>
        <p:nvSpPr>
          <p:cNvPr id="17" name="Text 13"/>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A6760C"/>
                </a:solidFill>
                <a:latin typeface="Calibri" pitchFamily="34" charset="0"/>
                <a:ea typeface="Calibri" pitchFamily="34" charset="-122"/>
                <a:cs typeface="Calibri" pitchFamily="34" charset="-120"/>
              </a:rPr>
              <a:t>LIVE CODING DEMO · 55:00–70:00 · TYPE ALONG</a:t>
            </a:r>
            <a:endParaRPr lang="en-US" sz="1200" dirty="0"/>
          </a:p>
        </p:txBody>
      </p:sp>
      <p:sp>
        <p:nvSpPr>
          <p:cNvPr id="5" name="Text 2"/>
          <p:cNvSpPr/>
          <p:nvPr/>
        </p:nvSpPr>
        <p:spPr>
          <a:xfrm>
            <a:off x="1298448" y="713232"/>
            <a:ext cx="10058400" cy="566928"/>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Build a Shopping Cart Store</a:t>
            </a:r>
            <a:endParaRPr lang="en-US" sz="2800" dirty="0"/>
          </a:p>
        </p:txBody>
      </p:sp>
      <p:sp>
        <p:nvSpPr>
          <p:cNvPr id="6" name="Shape 3"/>
          <p:cNvSpPr/>
          <p:nvPr/>
        </p:nvSpPr>
        <p:spPr>
          <a:xfrm>
            <a:off x="548640" y="1463040"/>
            <a:ext cx="11091672" cy="3885946"/>
          </a:xfrm>
          <a:prstGeom prst="roundRect">
            <a:avLst>
              <a:gd name="adj" fmla="val 2118"/>
            </a:avLst>
          </a:prstGeom>
          <a:solidFill>
            <a:srgbClr val="1B2832"/>
          </a:solidFill>
          <a:ln/>
          <a:effectLst>
            <a:outerShdw blurRad="114300" dist="38100" dir="5400000" algn="bl" rotWithShape="0">
              <a:srgbClr val="1E2B38">
                <a:alpha val="16000"/>
              </a:srgbClr>
            </a:outerShdw>
          </a:effectLst>
        </p:spPr>
      </p:sp>
      <p:sp>
        <p:nvSpPr>
          <p:cNvPr id="7" name="Text 4"/>
          <p:cNvSpPr/>
          <p:nvPr/>
        </p:nvSpPr>
        <p:spPr>
          <a:xfrm>
            <a:off x="749808" y="1499616"/>
            <a:ext cx="10689336" cy="3812794"/>
          </a:xfrm>
          <a:prstGeom prst="rect">
            <a:avLst/>
          </a:prstGeom>
          <a:noFill/>
          <a:ln/>
        </p:spPr>
        <p:txBody>
          <a:bodyPr wrap="square" lIns="0" tIns="0" rIns="0" bIns="0" rtlCol="0" anchor="t"/>
          <a:lstStyle/>
          <a:p>
            <a:pPr marL="0" indent="0" algn="l">
              <a:lnSpc>
                <a:spcPts val="1474"/>
              </a:lnSpc>
              <a:buNone/>
            </a:pPr>
            <a:r>
              <a:rPr lang="en-US" sz="1100" dirty="0">
                <a:solidFill>
                  <a:srgbClr val="6E8694"/>
                </a:solidFill>
                <a:latin typeface="Courier New" pitchFamily="34" charset="0"/>
                <a:ea typeface="Courier New" pitchFamily="34" charset="-122"/>
                <a:cs typeface="Courier New" pitchFamily="34" charset="-120"/>
              </a:rPr>
              <a:t>// src/stores/cart.js — Step 1: define the store</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export const useCartStore = defineStore('cart', () =&gt; {</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const items  = ref([])      // [{ id, name, price, qty }]</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const coupon = ref(null)</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const itemCount = computed(() =&gt; items.value.reduce((n,i)=&gt;n+i.qty, 0))</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const subtotal  = computed(() =&gt; items.value.reduce((s,i)=&gt;s+i.price*i.qty, 0))</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const discount  = computed(() =&gt; coupon.value==='SAVE10' ? subtotal.value*0.1 : 0)</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const total     = computed(() =&gt; subtotal.value - discount.value)</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function addItem(p) {</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const found = items.value.find(i =&gt; i.id === p.id)</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found ? found.qty++ : items.value.push({ ...p, qty: 1 })</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function removeItem(id) { items.value = items.value.filter(i =&gt; i.id !== id) }</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function $reset() { items.value = []; coupon.value = null }</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return { items, coupon, itemCount, subtotal, discount, total,</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addItem, removeItem, $reset }</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a:t>
            </a:r>
            <a:endParaRPr lang="en-US" sz="1100" dirty="0"/>
          </a:p>
        </p:txBody>
      </p:sp>
      <p:sp>
        <p:nvSpPr>
          <p:cNvPr id="8" name="Text 5"/>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9" name="Text 6"/>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Live Demo</a:t>
            </a:r>
            <a:endParaRPr lang="en-US" sz="900" dirty="0"/>
          </a:p>
        </p:txBody>
      </p:sp>
      <p:sp>
        <p:nvSpPr>
          <p:cNvPr id="10" name="Text 7"/>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A6760C"/>
                </a:solidFill>
                <a:latin typeface="Calibri" pitchFamily="34" charset="0"/>
                <a:ea typeface="Calibri" pitchFamily="34" charset="-122"/>
                <a:cs typeface="Calibri" pitchFamily="34" charset="-120"/>
              </a:rPr>
              <a:t>LIVE CODING DEMO · 55:00–70:00</a:t>
            </a:r>
            <a:endParaRPr lang="en-US" sz="1200" dirty="0"/>
          </a:p>
        </p:txBody>
      </p:sp>
      <p:sp>
        <p:nvSpPr>
          <p:cNvPr id="5" name="Text 2"/>
          <p:cNvSpPr/>
          <p:nvPr/>
        </p:nvSpPr>
        <p:spPr>
          <a:xfrm>
            <a:off x="1298448" y="713232"/>
            <a:ext cx="10332720" cy="566928"/>
          </a:xfrm>
          <a:prstGeom prst="rect">
            <a:avLst/>
          </a:prstGeom>
          <a:noFill/>
          <a:ln/>
        </p:spPr>
        <p:txBody>
          <a:bodyPr wrap="square" lIns="0" tIns="0" rIns="0" bIns="0" rtlCol="0" anchor="ctr"/>
          <a:lstStyle/>
          <a:p>
            <a:pPr marL="0" indent="0" algn="l">
              <a:buNone/>
            </a:pPr>
            <a:r>
              <a:rPr lang="en-US" sz="2800" b="1" dirty="0">
                <a:solidFill>
                  <a:srgbClr val="2C3E50"/>
                </a:solidFill>
                <a:latin typeface="Cambria" pitchFamily="34" charset="0"/>
                <a:ea typeface="Cambria" pitchFamily="34" charset="-122"/>
                <a:cs typeface="Cambria" pitchFamily="34" charset="-120"/>
              </a:rPr>
              <a:t>One Store, Three Components</a:t>
            </a:r>
            <a:endParaRPr lang="en-US" sz="2800" dirty="0"/>
          </a:p>
        </p:txBody>
      </p:sp>
      <p:sp>
        <p:nvSpPr>
          <p:cNvPr id="6" name="Shape 3"/>
          <p:cNvSpPr/>
          <p:nvPr/>
        </p:nvSpPr>
        <p:spPr>
          <a:xfrm>
            <a:off x="4892040" y="1600200"/>
            <a:ext cx="2423160" cy="914400"/>
          </a:xfrm>
          <a:prstGeom prst="roundRect">
            <a:avLst>
              <a:gd name="adj" fmla="val 10000"/>
            </a:avLst>
          </a:prstGeom>
          <a:solidFill>
            <a:srgbClr val="E0A21B"/>
          </a:solidFill>
          <a:ln/>
          <a:effectLst>
            <a:outerShdw blurRad="114300" dist="38100" dir="5400000" algn="bl" rotWithShape="0">
              <a:srgbClr val="1E2B38">
                <a:alpha val="16000"/>
              </a:srgbClr>
            </a:outerShdw>
          </a:effectLst>
        </p:spPr>
      </p:sp>
      <p:pic>
        <p:nvPicPr>
          <p:cNvPr id="7" name="Image 1" descr="preencoded.png"/>
          <p:cNvPicPr>
            <a:picLocks noChangeAspect="1"/>
          </p:cNvPicPr>
          <p:nvPr/>
        </p:nvPicPr>
        <p:blipFill>
          <a:blip r:embed="rId4"/>
          <a:stretch>
            <a:fillRect/>
          </a:stretch>
        </p:blipFill>
        <p:spPr>
          <a:xfrm>
            <a:off x="5138928" y="1828800"/>
            <a:ext cx="457200" cy="457200"/>
          </a:xfrm>
          <a:prstGeom prst="rect">
            <a:avLst/>
          </a:prstGeom>
        </p:spPr>
      </p:pic>
      <p:sp>
        <p:nvSpPr>
          <p:cNvPr id="8" name="Text 4"/>
          <p:cNvSpPr/>
          <p:nvPr/>
        </p:nvSpPr>
        <p:spPr>
          <a:xfrm>
            <a:off x="5623560" y="1755648"/>
            <a:ext cx="155448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useCartStore</a:t>
            </a:r>
            <a:endParaRPr lang="en-US" sz="1300" dirty="0"/>
          </a:p>
        </p:txBody>
      </p:sp>
      <p:sp>
        <p:nvSpPr>
          <p:cNvPr id="9" name="Text 5"/>
          <p:cNvSpPr/>
          <p:nvPr/>
        </p:nvSpPr>
        <p:spPr>
          <a:xfrm>
            <a:off x="5029200" y="2139696"/>
            <a:ext cx="2148840" cy="310896"/>
          </a:xfrm>
          <a:prstGeom prst="rect">
            <a:avLst/>
          </a:prstGeom>
          <a:noFill/>
          <a:ln/>
        </p:spPr>
        <p:txBody>
          <a:bodyPr wrap="square" lIns="0" tIns="0" rIns="0" bIns="0" rtlCol="0" anchor="ctr"/>
          <a:lstStyle/>
          <a:p>
            <a:pPr marL="0" indent="0" algn="ctr">
              <a:buNone/>
            </a:pPr>
            <a:r>
              <a:rPr lang="en-US" sz="1000" dirty="0">
                <a:solidFill>
                  <a:srgbClr val="FBF3DD"/>
                </a:solidFill>
                <a:latin typeface="Calibri" pitchFamily="34" charset="0"/>
                <a:ea typeface="Calibri" pitchFamily="34" charset="-122"/>
                <a:cs typeface="Calibri" pitchFamily="34" charset="-120"/>
              </a:rPr>
              <a:t>items · total · actions</a:t>
            </a:r>
            <a:endParaRPr lang="en-US" sz="1000" dirty="0"/>
          </a:p>
        </p:txBody>
      </p:sp>
      <p:sp>
        <p:nvSpPr>
          <p:cNvPr id="10" name="Shape 6"/>
          <p:cNvSpPr/>
          <p:nvPr/>
        </p:nvSpPr>
        <p:spPr>
          <a:xfrm>
            <a:off x="777240" y="3977640"/>
            <a:ext cx="3108960" cy="1417320"/>
          </a:xfrm>
          <a:prstGeom prst="roundRect">
            <a:avLst>
              <a:gd name="adj" fmla="val 5806"/>
            </a:avLst>
          </a:prstGeom>
          <a:solidFill>
            <a:srgbClr val="FFFFFF"/>
          </a:solidFill>
          <a:ln w="12700">
            <a:solidFill>
              <a:srgbClr val="DCE5EB"/>
            </a:solidFill>
            <a:prstDash val="solid"/>
          </a:ln>
          <a:effectLst>
            <a:outerShdw blurRad="88900" dist="25400" dir="5400000" algn="bl" rotWithShape="0">
              <a:srgbClr val="35495E">
                <a:alpha val="13000"/>
              </a:srgbClr>
            </a:outerShdw>
          </a:effectLst>
        </p:spPr>
      </p:sp>
      <p:sp>
        <p:nvSpPr>
          <p:cNvPr id="11" name="Shape 7"/>
          <p:cNvSpPr/>
          <p:nvPr/>
        </p:nvSpPr>
        <p:spPr>
          <a:xfrm>
            <a:off x="2039112" y="4178808"/>
            <a:ext cx="585216" cy="585216"/>
          </a:xfrm>
          <a:prstGeom prst="ellipse">
            <a:avLst/>
          </a:prstGeom>
          <a:solidFill>
            <a:srgbClr val="42B883"/>
          </a:solidFill>
          <a:ln/>
        </p:spPr>
      </p:sp>
      <p:pic>
        <p:nvPicPr>
          <p:cNvPr id="12" name="Image 2" descr="preencoded.png"/>
          <p:cNvPicPr>
            <a:picLocks noChangeAspect="1"/>
          </p:cNvPicPr>
          <p:nvPr/>
        </p:nvPicPr>
        <p:blipFill>
          <a:blip r:embed="rId5"/>
          <a:stretch>
            <a:fillRect/>
          </a:stretch>
        </p:blipFill>
        <p:spPr>
          <a:xfrm>
            <a:off x="2167128" y="4306824"/>
            <a:ext cx="329184" cy="329184"/>
          </a:xfrm>
          <a:prstGeom prst="rect">
            <a:avLst/>
          </a:prstGeom>
        </p:spPr>
      </p:pic>
      <p:sp>
        <p:nvSpPr>
          <p:cNvPr id="13" name="Text 8"/>
          <p:cNvSpPr/>
          <p:nvPr/>
        </p:nvSpPr>
        <p:spPr>
          <a:xfrm>
            <a:off x="777240" y="4818888"/>
            <a:ext cx="3108960" cy="310896"/>
          </a:xfrm>
          <a:prstGeom prst="rect">
            <a:avLst/>
          </a:prstGeom>
          <a:noFill/>
          <a:ln/>
        </p:spPr>
        <p:txBody>
          <a:bodyPr wrap="square" lIns="0" tIns="0" rIns="0" bIns="0" rtlCol="0" anchor="ctr"/>
          <a:lstStyle/>
          <a:p>
            <a:pPr marL="0" indent="0" algn="ctr">
              <a:buNone/>
            </a:pPr>
            <a:r>
              <a:rPr lang="en-US" sz="1300" b="1" dirty="0">
                <a:solidFill>
                  <a:srgbClr val="2C3E50"/>
                </a:solidFill>
                <a:latin typeface="Courier New" pitchFamily="34" charset="0"/>
                <a:ea typeface="Courier New" pitchFamily="34" charset="-122"/>
                <a:cs typeface="Courier New" pitchFamily="34" charset="-120"/>
              </a:rPr>
              <a:t>CartIcon.vue</a:t>
            </a:r>
            <a:endParaRPr lang="en-US" sz="1300" dirty="0"/>
          </a:p>
        </p:txBody>
      </p:sp>
      <p:sp>
        <p:nvSpPr>
          <p:cNvPr id="14" name="Text 9"/>
          <p:cNvSpPr/>
          <p:nvPr/>
        </p:nvSpPr>
        <p:spPr>
          <a:xfrm>
            <a:off x="960120" y="5093208"/>
            <a:ext cx="2743200" cy="274320"/>
          </a:xfrm>
          <a:prstGeom prst="rect">
            <a:avLst/>
          </a:prstGeom>
          <a:noFill/>
          <a:ln/>
        </p:spPr>
        <p:txBody>
          <a:bodyPr wrap="square" lIns="0" tIns="0" rIns="0" bIns="0" rtlCol="0" anchor="ctr"/>
          <a:lstStyle/>
          <a:p>
            <a:pPr marL="0" indent="0" algn="ctr">
              <a:buNone/>
            </a:pPr>
            <a:r>
              <a:rPr lang="en-US" sz="1100" dirty="0">
                <a:solidFill>
                  <a:srgbClr val="6B7C8C"/>
                </a:solidFill>
                <a:latin typeface="Calibri" pitchFamily="34" charset="0"/>
                <a:ea typeface="Calibri" pitchFamily="34" charset="-122"/>
                <a:cs typeface="Calibri" pitchFamily="34" charset="-120"/>
              </a:rPr>
              <a:t>reads itemCount → badge</a:t>
            </a:r>
            <a:endParaRPr lang="en-US" sz="1100" dirty="0"/>
          </a:p>
        </p:txBody>
      </p:sp>
      <p:sp>
        <p:nvSpPr>
          <p:cNvPr id="15" name="Shape 10"/>
          <p:cNvSpPr/>
          <p:nvPr/>
        </p:nvSpPr>
        <p:spPr>
          <a:xfrm>
            <a:off x="6099048" y="2514600"/>
            <a:ext cx="0" cy="1463040"/>
          </a:xfrm>
          <a:prstGeom prst="line">
            <a:avLst/>
          </a:prstGeom>
          <a:noFill/>
          <a:ln w="19050">
            <a:solidFill>
              <a:srgbClr val="9AAAB6"/>
            </a:solidFill>
            <a:prstDash val="dash"/>
          </a:ln>
        </p:spPr>
      </p:sp>
      <p:sp>
        <p:nvSpPr>
          <p:cNvPr id="16" name="Shape 11"/>
          <p:cNvSpPr/>
          <p:nvPr/>
        </p:nvSpPr>
        <p:spPr>
          <a:xfrm>
            <a:off x="4572000" y="3977640"/>
            <a:ext cx="3108960" cy="1417320"/>
          </a:xfrm>
          <a:prstGeom prst="roundRect">
            <a:avLst>
              <a:gd name="adj" fmla="val 5806"/>
            </a:avLst>
          </a:prstGeom>
          <a:solidFill>
            <a:srgbClr val="FFFFFF"/>
          </a:solidFill>
          <a:ln w="12700">
            <a:solidFill>
              <a:srgbClr val="DCE5EB"/>
            </a:solidFill>
            <a:prstDash val="solid"/>
          </a:ln>
          <a:effectLst>
            <a:outerShdw blurRad="88900" dist="25400" dir="5400000" algn="bl" rotWithShape="0">
              <a:srgbClr val="35495E">
                <a:alpha val="13000"/>
              </a:srgbClr>
            </a:outerShdw>
          </a:effectLst>
        </p:spPr>
      </p:sp>
      <p:sp>
        <p:nvSpPr>
          <p:cNvPr id="17" name="Shape 12"/>
          <p:cNvSpPr/>
          <p:nvPr/>
        </p:nvSpPr>
        <p:spPr>
          <a:xfrm>
            <a:off x="5833872" y="4178808"/>
            <a:ext cx="585216" cy="585216"/>
          </a:xfrm>
          <a:prstGeom prst="ellipse">
            <a:avLst/>
          </a:prstGeom>
          <a:solidFill>
            <a:srgbClr val="42B883"/>
          </a:solidFill>
          <a:ln/>
        </p:spPr>
      </p:sp>
      <p:pic>
        <p:nvPicPr>
          <p:cNvPr id="18" name="Image 3" descr="preencoded.png"/>
          <p:cNvPicPr>
            <a:picLocks noChangeAspect="1"/>
          </p:cNvPicPr>
          <p:nvPr/>
        </p:nvPicPr>
        <p:blipFill>
          <a:blip r:embed="rId6"/>
          <a:stretch>
            <a:fillRect/>
          </a:stretch>
        </p:blipFill>
        <p:spPr>
          <a:xfrm>
            <a:off x="5961888" y="4306824"/>
            <a:ext cx="329184" cy="329184"/>
          </a:xfrm>
          <a:prstGeom prst="rect">
            <a:avLst/>
          </a:prstGeom>
        </p:spPr>
      </p:pic>
      <p:sp>
        <p:nvSpPr>
          <p:cNvPr id="19" name="Text 13"/>
          <p:cNvSpPr/>
          <p:nvPr/>
        </p:nvSpPr>
        <p:spPr>
          <a:xfrm>
            <a:off x="4572000" y="4818888"/>
            <a:ext cx="3108960" cy="310896"/>
          </a:xfrm>
          <a:prstGeom prst="rect">
            <a:avLst/>
          </a:prstGeom>
          <a:noFill/>
          <a:ln/>
        </p:spPr>
        <p:txBody>
          <a:bodyPr wrap="square" lIns="0" tIns="0" rIns="0" bIns="0" rtlCol="0" anchor="ctr"/>
          <a:lstStyle/>
          <a:p>
            <a:pPr marL="0" indent="0" algn="ctr">
              <a:buNone/>
            </a:pPr>
            <a:r>
              <a:rPr lang="en-US" sz="1300" b="1" dirty="0">
                <a:solidFill>
                  <a:srgbClr val="2C3E50"/>
                </a:solidFill>
                <a:latin typeface="Courier New" pitchFamily="34" charset="0"/>
                <a:ea typeface="Courier New" pitchFamily="34" charset="-122"/>
                <a:cs typeface="Courier New" pitchFamily="34" charset="-120"/>
              </a:rPr>
              <a:t>ProductCard.vue</a:t>
            </a:r>
            <a:endParaRPr lang="en-US" sz="1300" dirty="0"/>
          </a:p>
        </p:txBody>
      </p:sp>
      <p:sp>
        <p:nvSpPr>
          <p:cNvPr id="20" name="Text 14"/>
          <p:cNvSpPr/>
          <p:nvPr/>
        </p:nvSpPr>
        <p:spPr>
          <a:xfrm>
            <a:off x="4754880" y="5093208"/>
            <a:ext cx="2743200" cy="274320"/>
          </a:xfrm>
          <a:prstGeom prst="rect">
            <a:avLst/>
          </a:prstGeom>
          <a:noFill/>
          <a:ln/>
        </p:spPr>
        <p:txBody>
          <a:bodyPr wrap="square" lIns="0" tIns="0" rIns="0" bIns="0" rtlCol="0" anchor="ctr"/>
          <a:lstStyle/>
          <a:p>
            <a:pPr marL="0" indent="0" algn="ctr">
              <a:buNone/>
            </a:pPr>
            <a:r>
              <a:rPr lang="en-US" sz="1100" dirty="0">
                <a:solidFill>
                  <a:srgbClr val="6B7C8C"/>
                </a:solidFill>
                <a:latin typeface="Calibri" pitchFamily="34" charset="0"/>
                <a:ea typeface="Calibri" pitchFamily="34" charset="-122"/>
                <a:cs typeface="Calibri" pitchFamily="34" charset="-120"/>
              </a:rPr>
              <a:t>calls addItem(product)</a:t>
            </a:r>
            <a:endParaRPr lang="en-US" sz="1100" dirty="0"/>
          </a:p>
        </p:txBody>
      </p:sp>
      <p:sp>
        <p:nvSpPr>
          <p:cNvPr id="21" name="Shape 15"/>
          <p:cNvSpPr/>
          <p:nvPr/>
        </p:nvSpPr>
        <p:spPr>
          <a:xfrm>
            <a:off x="6099048" y="2514600"/>
            <a:ext cx="27432" cy="1463040"/>
          </a:xfrm>
          <a:prstGeom prst="line">
            <a:avLst/>
          </a:prstGeom>
          <a:noFill/>
          <a:ln w="19050">
            <a:solidFill>
              <a:srgbClr val="9AAAB6"/>
            </a:solidFill>
            <a:prstDash val="dash"/>
          </a:ln>
        </p:spPr>
      </p:sp>
      <p:sp>
        <p:nvSpPr>
          <p:cNvPr id="22" name="Shape 16"/>
          <p:cNvSpPr/>
          <p:nvPr/>
        </p:nvSpPr>
        <p:spPr>
          <a:xfrm>
            <a:off x="8366760" y="3977640"/>
            <a:ext cx="3108960" cy="1417320"/>
          </a:xfrm>
          <a:prstGeom prst="roundRect">
            <a:avLst>
              <a:gd name="adj" fmla="val 5806"/>
            </a:avLst>
          </a:prstGeom>
          <a:solidFill>
            <a:srgbClr val="FFFFFF"/>
          </a:solidFill>
          <a:ln w="12700">
            <a:solidFill>
              <a:srgbClr val="DCE5EB"/>
            </a:solidFill>
            <a:prstDash val="solid"/>
          </a:ln>
          <a:effectLst>
            <a:outerShdw blurRad="88900" dist="25400" dir="5400000" algn="bl" rotWithShape="0">
              <a:srgbClr val="35495E">
                <a:alpha val="13000"/>
              </a:srgbClr>
            </a:outerShdw>
          </a:effectLst>
        </p:spPr>
      </p:sp>
      <p:sp>
        <p:nvSpPr>
          <p:cNvPr id="23" name="Shape 17"/>
          <p:cNvSpPr/>
          <p:nvPr/>
        </p:nvSpPr>
        <p:spPr>
          <a:xfrm>
            <a:off x="9628632" y="4178808"/>
            <a:ext cx="585216" cy="585216"/>
          </a:xfrm>
          <a:prstGeom prst="ellipse">
            <a:avLst/>
          </a:prstGeom>
          <a:solidFill>
            <a:srgbClr val="42B883"/>
          </a:solidFill>
          <a:ln/>
        </p:spPr>
      </p:sp>
      <p:pic>
        <p:nvPicPr>
          <p:cNvPr id="24" name="Image 4" descr="preencoded.png"/>
          <p:cNvPicPr>
            <a:picLocks noChangeAspect="1"/>
          </p:cNvPicPr>
          <p:nvPr/>
        </p:nvPicPr>
        <p:blipFill>
          <a:blip r:embed="rId7"/>
          <a:stretch>
            <a:fillRect/>
          </a:stretch>
        </p:blipFill>
        <p:spPr>
          <a:xfrm>
            <a:off x="9756648" y="4306824"/>
            <a:ext cx="329184" cy="329184"/>
          </a:xfrm>
          <a:prstGeom prst="rect">
            <a:avLst/>
          </a:prstGeom>
        </p:spPr>
      </p:pic>
      <p:sp>
        <p:nvSpPr>
          <p:cNvPr id="25" name="Text 18"/>
          <p:cNvSpPr/>
          <p:nvPr/>
        </p:nvSpPr>
        <p:spPr>
          <a:xfrm>
            <a:off x="8366760" y="4818888"/>
            <a:ext cx="3108960" cy="310896"/>
          </a:xfrm>
          <a:prstGeom prst="rect">
            <a:avLst/>
          </a:prstGeom>
          <a:noFill/>
          <a:ln/>
        </p:spPr>
        <p:txBody>
          <a:bodyPr wrap="square" lIns="0" tIns="0" rIns="0" bIns="0" rtlCol="0" anchor="ctr"/>
          <a:lstStyle/>
          <a:p>
            <a:pPr marL="0" indent="0" algn="ctr">
              <a:buNone/>
            </a:pPr>
            <a:r>
              <a:rPr lang="en-US" sz="1300" b="1" dirty="0">
                <a:solidFill>
                  <a:srgbClr val="2C3E50"/>
                </a:solidFill>
                <a:latin typeface="Courier New" pitchFamily="34" charset="0"/>
                <a:ea typeface="Courier New" pitchFamily="34" charset="-122"/>
                <a:cs typeface="Courier New" pitchFamily="34" charset="-120"/>
              </a:rPr>
              <a:t>CartSidebar.vue</a:t>
            </a:r>
            <a:endParaRPr lang="en-US" sz="1300" dirty="0"/>
          </a:p>
        </p:txBody>
      </p:sp>
      <p:sp>
        <p:nvSpPr>
          <p:cNvPr id="26" name="Text 19"/>
          <p:cNvSpPr/>
          <p:nvPr/>
        </p:nvSpPr>
        <p:spPr>
          <a:xfrm>
            <a:off x="8549640" y="5093208"/>
            <a:ext cx="2743200" cy="274320"/>
          </a:xfrm>
          <a:prstGeom prst="rect">
            <a:avLst/>
          </a:prstGeom>
          <a:noFill/>
          <a:ln/>
        </p:spPr>
        <p:txBody>
          <a:bodyPr wrap="square" lIns="0" tIns="0" rIns="0" bIns="0" rtlCol="0" anchor="ctr"/>
          <a:lstStyle/>
          <a:p>
            <a:pPr marL="0" indent="0" algn="ctr">
              <a:buNone/>
            </a:pPr>
            <a:r>
              <a:rPr lang="en-US" sz="1100" dirty="0">
                <a:solidFill>
                  <a:srgbClr val="6B7C8C"/>
                </a:solidFill>
                <a:latin typeface="Calibri" pitchFamily="34" charset="0"/>
                <a:ea typeface="Calibri" pitchFamily="34" charset="-122"/>
                <a:cs typeface="Calibri" pitchFamily="34" charset="-120"/>
              </a:rPr>
              <a:t>reads + edits the cart</a:t>
            </a:r>
            <a:endParaRPr lang="en-US" sz="1100" dirty="0"/>
          </a:p>
        </p:txBody>
      </p:sp>
      <p:sp>
        <p:nvSpPr>
          <p:cNvPr id="27" name="Shape 20"/>
          <p:cNvSpPr/>
          <p:nvPr/>
        </p:nvSpPr>
        <p:spPr>
          <a:xfrm>
            <a:off x="6099048" y="2514600"/>
            <a:ext cx="3822192" cy="1463040"/>
          </a:xfrm>
          <a:prstGeom prst="line">
            <a:avLst/>
          </a:prstGeom>
          <a:noFill/>
          <a:ln w="19050">
            <a:solidFill>
              <a:srgbClr val="9AAAB6"/>
            </a:solidFill>
            <a:prstDash val="dash"/>
          </a:ln>
        </p:spPr>
      </p:sp>
      <p:sp>
        <p:nvSpPr>
          <p:cNvPr id="28" name="Shape 21"/>
          <p:cNvSpPr/>
          <p:nvPr/>
        </p:nvSpPr>
        <p:spPr>
          <a:xfrm>
            <a:off x="548640" y="5623560"/>
            <a:ext cx="11091672" cy="1152144"/>
          </a:xfrm>
          <a:prstGeom prst="roundRect">
            <a:avLst>
              <a:gd name="adj" fmla="val 5556"/>
            </a:avLst>
          </a:prstGeom>
          <a:solidFill>
            <a:srgbClr val="E9F6EF"/>
          </a:solidFill>
          <a:ln/>
          <a:effectLst>
            <a:outerShdw blurRad="88900" dist="25400" dir="5400000" algn="bl" rotWithShape="0">
              <a:srgbClr val="35495E">
                <a:alpha val="13000"/>
              </a:srgbClr>
            </a:outerShdw>
          </a:effectLst>
        </p:spPr>
      </p:sp>
      <p:sp>
        <p:nvSpPr>
          <p:cNvPr id="29" name="Shape 22"/>
          <p:cNvSpPr/>
          <p:nvPr/>
        </p:nvSpPr>
        <p:spPr>
          <a:xfrm>
            <a:off x="749808" y="5824728"/>
            <a:ext cx="457200" cy="457200"/>
          </a:xfrm>
          <a:prstGeom prst="ellipse">
            <a:avLst/>
          </a:prstGeom>
          <a:solidFill>
            <a:srgbClr val="2FA36B"/>
          </a:solidFill>
          <a:ln/>
          <a:effectLst>
            <a:outerShdw blurRad="88900" dist="25400" dir="5400000" algn="bl" rotWithShape="0">
              <a:srgbClr val="35495E">
                <a:alpha val="13000"/>
              </a:srgbClr>
            </a:outerShdw>
          </a:effectLst>
        </p:spPr>
      </p:sp>
      <p:pic>
        <p:nvPicPr>
          <p:cNvPr id="30" name="Image 5" descr="preencoded.png"/>
          <p:cNvPicPr>
            <a:picLocks noChangeAspect="1"/>
          </p:cNvPicPr>
          <p:nvPr/>
        </p:nvPicPr>
        <p:blipFill>
          <a:blip r:embed="rId8"/>
          <a:stretch>
            <a:fillRect/>
          </a:stretch>
        </p:blipFill>
        <p:spPr>
          <a:xfrm>
            <a:off x="873252" y="5948172"/>
            <a:ext cx="210312" cy="210312"/>
          </a:xfrm>
          <a:prstGeom prst="rect">
            <a:avLst/>
          </a:prstGeom>
        </p:spPr>
      </p:pic>
      <p:sp>
        <p:nvSpPr>
          <p:cNvPr id="31" name="Text 23"/>
          <p:cNvSpPr/>
          <p:nvPr/>
        </p:nvSpPr>
        <p:spPr>
          <a:xfrm>
            <a:off x="1335024" y="5788152"/>
            <a:ext cx="10131552" cy="310896"/>
          </a:xfrm>
          <a:prstGeom prst="rect">
            <a:avLst/>
          </a:prstGeom>
          <a:noFill/>
          <a:ln/>
        </p:spPr>
        <p:txBody>
          <a:bodyPr wrap="square" lIns="0" tIns="0" rIns="0" bIns="0" rtlCol="0" anchor="ctr"/>
          <a:lstStyle/>
          <a:p>
            <a:pPr marL="0" indent="0" algn="l">
              <a:buNone/>
            </a:pPr>
            <a:r>
              <a:rPr lang="en-US" sz="1400" b="1" dirty="0">
                <a:solidFill>
                  <a:srgbClr val="1F7A4D"/>
                </a:solidFill>
                <a:latin typeface="Calibri" pitchFamily="34" charset="0"/>
                <a:ea typeface="Calibri" pitchFamily="34" charset="-122"/>
                <a:cs typeface="Calibri" pitchFamily="34" charset="-120"/>
              </a:rPr>
              <a:t>The Pinia “wow moment”</a:t>
            </a:r>
            <a:endParaRPr lang="en-US" sz="1400" dirty="0"/>
          </a:p>
        </p:txBody>
      </p:sp>
      <p:sp>
        <p:nvSpPr>
          <p:cNvPr id="32" name="Text 24"/>
          <p:cNvSpPr/>
          <p:nvPr/>
        </p:nvSpPr>
        <p:spPr>
          <a:xfrm>
            <a:off x="1335024" y="6099048"/>
            <a:ext cx="10131552" cy="548640"/>
          </a:xfrm>
          <a:prstGeom prst="rect">
            <a:avLst/>
          </a:prstGeom>
          <a:noFill/>
          <a:ln/>
        </p:spPr>
        <p:txBody>
          <a:bodyPr wrap="square" lIns="0" tIns="0" rIns="0" bIns="0" rtlCol="0" anchor="t"/>
          <a:lstStyle/>
          <a:p>
            <a:pPr marL="0" indent="0" algn="l">
              <a:lnSpc>
                <a:spcPts val="1600"/>
              </a:lnSpc>
              <a:buNone/>
            </a:pPr>
            <a:r>
              <a:rPr lang="en-US" sz="1250" dirty="0">
                <a:solidFill>
                  <a:srgbClr val="2C3E50"/>
                </a:solidFill>
                <a:latin typeface="Calibri" pitchFamily="34" charset="0"/>
                <a:ea typeface="Calibri" pitchFamily="34" charset="-122"/>
                <a:cs typeface="Calibri" pitchFamily="34" charset="-120"/>
              </a:rPr>
              <a:t>Click Add to Cart in ProductCard → the badge in CartIcon updates instantly — no props, no emits between them. Then open Vue DevTools › Pinia and watch the live state tree.</a:t>
            </a:r>
            <a:endParaRPr lang="en-US" sz="1250" dirty="0"/>
          </a:p>
        </p:txBody>
      </p:sp>
      <p:sp>
        <p:nvSpPr>
          <p:cNvPr id="33" name="Text 25"/>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34" name="Text 26"/>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Live Demo</a:t>
            </a:r>
            <a:endParaRPr lang="en-US" sz="900" dirty="0"/>
          </a:p>
        </p:txBody>
      </p:sp>
      <p:sp>
        <p:nvSpPr>
          <p:cNvPr id="35" name="Text 27"/>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42B883"/>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35A06A"/>
                </a:solidFill>
                <a:latin typeface="Calibri" pitchFamily="34" charset="0"/>
                <a:ea typeface="Calibri" pitchFamily="34" charset="-122"/>
                <a:cs typeface="Calibri" pitchFamily="34" charset="-120"/>
              </a:rPr>
              <a:t>PRACTICE · 70:00–82:00 · SOLO OR PAIRS</a:t>
            </a:r>
            <a:endParaRPr lang="en-US" sz="1200" dirty="0"/>
          </a:p>
        </p:txBody>
      </p:sp>
      <p:sp>
        <p:nvSpPr>
          <p:cNvPr id="5" name="Text 2"/>
          <p:cNvSpPr/>
          <p:nvPr/>
        </p:nvSpPr>
        <p:spPr>
          <a:xfrm>
            <a:off x="1298448" y="713232"/>
            <a:ext cx="10058400" cy="566928"/>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Build useNotificationStore</a:t>
            </a:r>
            <a:endParaRPr lang="en-US" sz="2800" dirty="0"/>
          </a:p>
        </p:txBody>
      </p:sp>
      <p:sp>
        <p:nvSpPr>
          <p:cNvPr id="6" name="Text 3"/>
          <p:cNvSpPr/>
          <p:nvPr/>
        </p:nvSpPr>
        <p:spPr>
          <a:xfrm>
            <a:off x="548640" y="1325880"/>
            <a:ext cx="11064240" cy="365760"/>
          </a:xfrm>
          <a:prstGeom prst="rect">
            <a:avLst/>
          </a:prstGeom>
          <a:noFill/>
          <a:ln/>
        </p:spPr>
        <p:txBody>
          <a:bodyPr wrap="square" lIns="0" tIns="0" rIns="0" bIns="0" rtlCol="0" anchor="ctr"/>
          <a:lstStyle/>
          <a:p>
            <a:pPr marL="0" indent="0">
              <a:buNone/>
            </a:pPr>
            <a:r>
              <a:rPr lang="en-US" sz="1300" dirty="0">
                <a:solidFill>
                  <a:srgbClr val="6B7C8C"/>
                </a:solidFill>
                <a:latin typeface="Calibri" pitchFamily="34" charset="0"/>
                <a:ea typeface="Calibri" pitchFamily="34" charset="-122"/>
                <a:cs typeface="Calibri" pitchFamily="34" charset="-120"/>
              </a:rPr>
              <a:t>A global toast system: one store holds the notifications; any component can trigger one without prop drilling.</a:t>
            </a:r>
            <a:endParaRPr lang="en-US" sz="1300" dirty="0"/>
          </a:p>
        </p:txBody>
      </p:sp>
      <p:sp>
        <p:nvSpPr>
          <p:cNvPr id="7" name="Shape 4"/>
          <p:cNvSpPr/>
          <p:nvPr/>
        </p:nvSpPr>
        <p:spPr>
          <a:xfrm>
            <a:off x="548640" y="1828800"/>
            <a:ext cx="5486400" cy="3566160"/>
          </a:xfrm>
          <a:prstGeom prst="roundRect">
            <a:avLst>
              <a:gd name="adj" fmla="val 2308"/>
            </a:avLst>
          </a:prstGeom>
          <a:solidFill>
            <a:srgbClr val="F4F7F9"/>
          </a:solidFill>
          <a:ln w="12700">
            <a:solidFill>
              <a:srgbClr val="DCE5EB"/>
            </a:solidFill>
            <a:prstDash val="solid"/>
          </a:ln>
          <a:effectLst>
            <a:outerShdw blurRad="88900" dist="25400" dir="5400000" algn="bl" rotWithShape="0">
              <a:srgbClr val="35495E">
                <a:alpha val="13000"/>
              </a:srgbClr>
            </a:outerShdw>
          </a:effectLst>
        </p:spPr>
      </p:sp>
      <p:sp>
        <p:nvSpPr>
          <p:cNvPr id="8" name="Text 5"/>
          <p:cNvSpPr/>
          <p:nvPr/>
        </p:nvSpPr>
        <p:spPr>
          <a:xfrm>
            <a:off x="777240" y="1993392"/>
            <a:ext cx="5029200" cy="329184"/>
          </a:xfrm>
          <a:prstGeom prst="rect">
            <a:avLst/>
          </a:prstGeom>
          <a:noFill/>
          <a:ln/>
        </p:spPr>
        <p:txBody>
          <a:bodyPr wrap="square" lIns="0" tIns="0" rIns="0" bIns="0" rtlCol="0" anchor="ctr"/>
          <a:lstStyle/>
          <a:p>
            <a:pPr marL="0" indent="0">
              <a:buNone/>
            </a:pPr>
            <a:r>
              <a:rPr lang="en-US" sz="1350" b="1" dirty="0">
                <a:solidFill>
                  <a:srgbClr val="A6760C"/>
                </a:solidFill>
                <a:latin typeface="Calibri" pitchFamily="34" charset="0"/>
                <a:ea typeface="Calibri" pitchFamily="34" charset="-122"/>
                <a:cs typeface="Calibri" pitchFamily="34" charset="-120"/>
              </a:rPr>
              <a:t>Store — stores/notifications.js</a:t>
            </a:r>
            <a:endParaRPr lang="en-US" sz="1350" dirty="0"/>
          </a:p>
        </p:txBody>
      </p:sp>
      <p:sp>
        <p:nvSpPr>
          <p:cNvPr id="9" name="Shape 6"/>
          <p:cNvSpPr/>
          <p:nvPr/>
        </p:nvSpPr>
        <p:spPr>
          <a:xfrm>
            <a:off x="822960" y="2441448"/>
            <a:ext cx="109728" cy="109728"/>
          </a:xfrm>
          <a:prstGeom prst="ellipse">
            <a:avLst/>
          </a:prstGeom>
          <a:solidFill>
            <a:srgbClr val="E0A21B"/>
          </a:solidFill>
          <a:ln/>
        </p:spPr>
      </p:sp>
      <p:sp>
        <p:nvSpPr>
          <p:cNvPr id="10" name="Text 7"/>
          <p:cNvSpPr/>
          <p:nvPr/>
        </p:nvSpPr>
        <p:spPr>
          <a:xfrm>
            <a:off x="1060704" y="2350008"/>
            <a:ext cx="4800600" cy="384048"/>
          </a:xfrm>
          <a:prstGeom prst="rect">
            <a:avLst/>
          </a:prstGeom>
          <a:noFill/>
          <a:ln/>
        </p:spPr>
        <p:txBody>
          <a:bodyPr wrap="square" lIns="0" tIns="0" rIns="0" bIns="0" rtlCol="0" anchor="t"/>
          <a:lstStyle/>
          <a:p>
            <a:pPr marL="0" indent="0">
              <a:lnSpc>
                <a:spcPts val="1300"/>
              </a:lnSpc>
              <a:buNone/>
            </a:pPr>
            <a:r>
              <a:rPr lang="en-US" sz="1150" dirty="0">
                <a:solidFill>
                  <a:srgbClr val="2C3E50"/>
                </a:solidFill>
                <a:latin typeface="Calibri" pitchFamily="34" charset="0"/>
                <a:ea typeface="Calibri" pitchFamily="34" charset="-122"/>
                <a:cs typeface="Calibri" pitchFamily="34" charset="-120"/>
              </a:rPr>
              <a:t>notifications: ref([]) of { id, message, type, duration }</a:t>
            </a:r>
            <a:endParaRPr lang="en-US" sz="1150" dirty="0"/>
          </a:p>
        </p:txBody>
      </p:sp>
      <p:sp>
        <p:nvSpPr>
          <p:cNvPr id="11" name="Shape 8"/>
          <p:cNvSpPr/>
          <p:nvPr/>
        </p:nvSpPr>
        <p:spPr>
          <a:xfrm>
            <a:off x="822960" y="2852928"/>
            <a:ext cx="109728" cy="109728"/>
          </a:xfrm>
          <a:prstGeom prst="ellipse">
            <a:avLst/>
          </a:prstGeom>
          <a:solidFill>
            <a:srgbClr val="E0A21B"/>
          </a:solidFill>
          <a:ln/>
        </p:spPr>
      </p:sp>
      <p:sp>
        <p:nvSpPr>
          <p:cNvPr id="12" name="Text 9"/>
          <p:cNvSpPr/>
          <p:nvPr/>
        </p:nvSpPr>
        <p:spPr>
          <a:xfrm>
            <a:off x="1060704" y="2761488"/>
            <a:ext cx="4800600" cy="384048"/>
          </a:xfrm>
          <a:prstGeom prst="rect">
            <a:avLst/>
          </a:prstGeom>
          <a:noFill/>
          <a:ln/>
        </p:spPr>
        <p:txBody>
          <a:bodyPr wrap="square" lIns="0" tIns="0" rIns="0" bIns="0" rtlCol="0" anchor="t"/>
          <a:lstStyle/>
          <a:p>
            <a:pPr marL="0" indent="0">
              <a:lnSpc>
                <a:spcPts val="1300"/>
              </a:lnSpc>
              <a:buNone/>
            </a:pPr>
            <a:r>
              <a:rPr lang="en-US" sz="1150" dirty="0">
                <a:solidFill>
                  <a:srgbClr val="2C3E50"/>
                </a:solidFill>
                <a:latin typeface="Calibri" pitchFamily="34" charset="0"/>
                <a:ea typeface="Calibri" pitchFamily="34" charset="-122"/>
                <a:cs typeface="Calibri" pitchFamily="34" charset="-120"/>
              </a:rPr>
              <a:t>type ∈ success | error | warning | info</a:t>
            </a:r>
            <a:endParaRPr lang="en-US" sz="1150" dirty="0"/>
          </a:p>
        </p:txBody>
      </p:sp>
      <p:sp>
        <p:nvSpPr>
          <p:cNvPr id="13" name="Shape 10"/>
          <p:cNvSpPr/>
          <p:nvPr/>
        </p:nvSpPr>
        <p:spPr>
          <a:xfrm>
            <a:off x="822960" y="3264408"/>
            <a:ext cx="109728" cy="109728"/>
          </a:xfrm>
          <a:prstGeom prst="ellipse">
            <a:avLst/>
          </a:prstGeom>
          <a:solidFill>
            <a:srgbClr val="E0A21B"/>
          </a:solidFill>
          <a:ln/>
        </p:spPr>
      </p:sp>
      <p:sp>
        <p:nvSpPr>
          <p:cNvPr id="14" name="Text 11"/>
          <p:cNvSpPr/>
          <p:nvPr/>
        </p:nvSpPr>
        <p:spPr>
          <a:xfrm>
            <a:off x="1060704" y="3172968"/>
            <a:ext cx="4800600" cy="384048"/>
          </a:xfrm>
          <a:prstGeom prst="rect">
            <a:avLst/>
          </a:prstGeom>
          <a:noFill/>
          <a:ln/>
        </p:spPr>
        <p:txBody>
          <a:bodyPr wrap="square" lIns="0" tIns="0" rIns="0" bIns="0" rtlCol="0" anchor="t"/>
          <a:lstStyle/>
          <a:p>
            <a:pPr marL="0" indent="0">
              <a:lnSpc>
                <a:spcPts val="1300"/>
              </a:lnSpc>
              <a:buNone/>
            </a:pPr>
            <a:r>
              <a:rPr lang="en-US" sz="1150" dirty="0">
                <a:solidFill>
                  <a:srgbClr val="2C3E50"/>
                </a:solidFill>
                <a:latin typeface="Calibri" pitchFamily="34" charset="0"/>
                <a:ea typeface="Calibri" pitchFamily="34" charset="-122"/>
                <a:cs typeface="Calibri" pitchFamily="34" charset="-120"/>
              </a:rPr>
              <a:t>unreadCount: computed of unread items</a:t>
            </a:r>
            <a:endParaRPr lang="en-US" sz="1150" dirty="0"/>
          </a:p>
        </p:txBody>
      </p:sp>
      <p:sp>
        <p:nvSpPr>
          <p:cNvPr id="15" name="Shape 12"/>
          <p:cNvSpPr/>
          <p:nvPr/>
        </p:nvSpPr>
        <p:spPr>
          <a:xfrm>
            <a:off x="822960" y="3675888"/>
            <a:ext cx="109728" cy="109728"/>
          </a:xfrm>
          <a:prstGeom prst="ellipse">
            <a:avLst/>
          </a:prstGeom>
          <a:solidFill>
            <a:srgbClr val="E0A21B"/>
          </a:solidFill>
          <a:ln/>
        </p:spPr>
      </p:sp>
      <p:sp>
        <p:nvSpPr>
          <p:cNvPr id="16" name="Text 13"/>
          <p:cNvSpPr/>
          <p:nvPr/>
        </p:nvSpPr>
        <p:spPr>
          <a:xfrm>
            <a:off x="1060704" y="3584448"/>
            <a:ext cx="4800600" cy="384048"/>
          </a:xfrm>
          <a:prstGeom prst="rect">
            <a:avLst/>
          </a:prstGeom>
          <a:noFill/>
          <a:ln/>
        </p:spPr>
        <p:txBody>
          <a:bodyPr wrap="square" lIns="0" tIns="0" rIns="0" bIns="0" rtlCol="0" anchor="t"/>
          <a:lstStyle/>
          <a:p>
            <a:pPr marL="0" indent="0">
              <a:lnSpc>
                <a:spcPts val="1300"/>
              </a:lnSpc>
              <a:buNone/>
            </a:pPr>
            <a:r>
              <a:rPr lang="en-US" sz="1150" dirty="0">
                <a:solidFill>
                  <a:srgbClr val="2C3E50"/>
                </a:solidFill>
                <a:latin typeface="Calibri" pitchFamily="34" charset="0"/>
                <a:ea typeface="Calibri" pitchFamily="34" charset="-122"/>
                <a:cs typeface="Calibri" pitchFamily="34" charset="-120"/>
              </a:rPr>
              <a:t>byType(type): a getter function that filters</a:t>
            </a:r>
            <a:endParaRPr lang="en-US" sz="1150" dirty="0"/>
          </a:p>
        </p:txBody>
      </p:sp>
      <p:sp>
        <p:nvSpPr>
          <p:cNvPr id="17" name="Shape 14"/>
          <p:cNvSpPr/>
          <p:nvPr/>
        </p:nvSpPr>
        <p:spPr>
          <a:xfrm>
            <a:off x="822960" y="4087368"/>
            <a:ext cx="109728" cy="109728"/>
          </a:xfrm>
          <a:prstGeom prst="ellipse">
            <a:avLst/>
          </a:prstGeom>
          <a:solidFill>
            <a:srgbClr val="E0A21B"/>
          </a:solidFill>
          <a:ln/>
        </p:spPr>
      </p:sp>
      <p:sp>
        <p:nvSpPr>
          <p:cNvPr id="18" name="Text 15"/>
          <p:cNvSpPr/>
          <p:nvPr/>
        </p:nvSpPr>
        <p:spPr>
          <a:xfrm>
            <a:off x="1060704" y="3995928"/>
            <a:ext cx="4800600" cy="384048"/>
          </a:xfrm>
          <a:prstGeom prst="rect">
            <a:avLst/>
          </a:prstGeom>
          <a:noFill/>
          <a:ln/>
        </p:spPr>
        <p:txBody>
          <a:bodyPr wrap="square" lIns="0" tIns="0" rIns="0" bIns="0" rtlCol="0" anchor="t"/>
          <a:lstStyle/>
          <a:p>
            <a:pPr marL="0" indent="0">
              <a:lnSpc>
                <a:spcPts val="1300"/>
              </a:lnSpc>
              <a:buNone/>
            </a:pPr>
            <a:r>
              <a:rPr lang="en-US" sz="1150" dirty="0">
                <a:solidFill>
                  <a:srgbClr val="2C3E50"/>
                </a:solidFill>
                <a:latin typeface="Calibri" pitchFamily="34" charset="0"/>
                <a:ea typeface="Calibri" pitchFamily="34" charset="-122"/>
                <a:cs typeface="Calibri" pitchFamily="34" charset="-120"/>
              </a:rPr>
              <a:t>add(msg, type, duration): push + auto-remove via setTimeout</a:t>
            </a:r>
            <a:endParaRPr lang="en-US" sz="1150" dirty="0"/>
          </a:p>
        </p:txBody>
      </p:sp>
      <p:sp>
        <p:nvSpPr>
          <p:cNvPr id="19" name="Shape 16"/>
          <p:cNvSpPr/>
          <p:nvPr/>
        </p:nvSpPr>
        <p:spPr>
          <a:xfrm>
            <a:off x="822960" y="4498848"/>
            <a:ext cx="109728" cy="109728"/>
          </a:xfrm>
          <a:prstGeom prst="ellipse">
            <a:avLst/>
          </a:prstGeom>
          <a:solidFill>
            <a:srgbClr val="E0A21B"/>
          </a:solidFill>
          <a:ln/>
        </p:spPr>
      </p:sp>
      <p:sp>
        <p:nvSpPr>
          <p:cNvPr id="20" name="Text 17"/>
          <p:cNvSpPr/>
          <p:nvPr/>
        </p:nvSpPr>
        <p:spPr>
          <a:xfrm>
            <a:off x="1060704" y="4407408"/>
            <a:ext cx="4800600" cy="384048"/>
          </a:xfrm>
          <a:prstGeom prst="rect">
            <a:avLst/>
          </a:prstGeom>
          <a:noFill/>
          <a:ln/>
        </p:spPr>
        <p:txBody>
          <a:bodyPr wrap="square" lIns="0" tIns="0" rIns="0" bIns="0" rtlCol="0" anchor="t"/>
          <a:lstStyle/>
          <a:p>
            <a:pPr marL="0" indent="0">
              <a:lnSpc>
                <a:spcPts val="1300"/>
              </a:lnSpc>
              <a:buNone/>
            </a:pPr>
            <a:r>
              <a:rPr lang="en-US" sz="1150" dirty="0">
                <a:solidFill>
                  <a:srgbClr val="2C3E50"/>
                </a:solidFill>
                <a:latin typeface="Calibri" pitchFamily="34" charset="0"/>
                <a:ea typeface="Calibri" pitchFamily="34" charset="-122"/>
                <a:cs typeface="Calibri" pitchFamily="34" charset="-120"/>
              </a:rPr>
              <a:t>remove(id) · markRead(id) · clearAll()</a:t>
            </a:r>
            <a:endParaRPr lang="en-US" sz="1150" dirty="0"/>
          </a:p>
        </p:txBody>
      </p:sp>
      <p:sp>
        <p:nvSpPr>
          <p:cNvPr id="21" name="Shape 18"/>
          <p:cNvSpPr/>
          <p:nvPr/>
        </p:nvSpPr>
        <p:spPr>
          <a:xfrm>
            <a:off x="822960" y="4910328"/>
            <a:ext cx="109728" cy="109728"/>
          </a:xfrm>
          <a:prstGeom prst="ellipse">
            <a:avLst/>
          </a:prstGeom>
          <a:solidFill>
            <a:srgbClr val="E0A21B"/>
          </a:solidFill>
          <a:ln/>
        </p:spPr>
      </p:sp>
      <p:sp>
        <p:nvSpPr>
          <p:cNvPr id="22" name="Text 19"/>
          <p:cNvSpPr/>
          <p:nvPr/>
        </p:nvSpPr>
        <p:spPr>
          <a:xfrm>
            <a:off x="1060704" y="4818888"/>
            <a:ext cx="4800600" cy="384048"/>
          </a:xfrm>
          <a:prstGeom prst="rect">
            <a:avLst/>
          </a:prstGeom>
          <a:noFill/>
          <a:ln/>
        </p:spPr>
        <p:txBody>
          <a:bodyPr wrap="square" lIns="0" tIns="0" rIns="0" bIns="0" rtlCol="0" anchor="t"/>
          <a:lstStyle/>
          <a:p>
            <a:pPr marL="0" indent="0">
              <a:lnSpc>
                <a:spcPts val="1300"/>
              </a:lnSpc>
              <a:buNone/>
            </a:pPr>
            <a:r>
              <a:rPr lang="en-US" sz="1150" dirty="0">
                <a:solidFill>
                  <a:srgbClr val="2C3E50"/>
                </a:solidFill>
                <a:latin typeface="Calibri" pitchFamily="34" charset="0"/>
                <a:ea typeface="Calibri" pitchFamily="34" charset="-122"/>
                <a:cs typeface="Calibri" pitchFamily="34" charset="-120"/>
              </a:rPr>
              <a:t>$subscribe: log every change to the console</a:t>
            </a:r>
            <a:endParaRPr lang="en-US" sz="1150" dirty="0"/>
          </a:p>
        </p:txBody>
      </p:sp>
      <p:sp>
        <p:nvSpPr>
          <p:cNvPr id="23" name="Shape 20"/>
          <p:cNvSpPr/>
          <p:nvPr/>
        </p:nvSpPr>
        <p:spPr>
          <a:xfrm>
            <a:off x="6172200" y="1828800"/>
            <a:ext cx="5468112" cy="3566160"/>
          </a:xfrm>
          <a:prstGeom prst="roundRect">
            <a:avLst>
              <a:gd name="adj" fmla="val 2308"/>
            </a:avLst>
          </a:prstGeom>
          <a:solidFill>
            <a:srgbClr val="FCF4E0"/>
          </a:solidFill>
          <a:ln w="12700">
            <a:solidFill>
              <a:srgbClr val="DCE5EB"/>
            </a:solidFill>
            <a:prstDash val="solid"/>
          </a:ln>
          <a:effectLst>
            <a:outerShdw blurRad="88900" dist="25400" dir="5400000" algn="bl" rotWithShape="0">
              <a:srgbClr val="35495E">
                <a:alpha val="13000"/>
              </a:srgbClr>
            </a:outerShdw>
          </a:effectLst>
        </p:spPr>
      </p:sp>
      <p:sp>
        <p:nvSpPr>
          <p:cNvPr id="24" name="Text 21"/>
          <p:cNvSpPr/>
          <p:nvPr/>
        </p:nvSpPr>
        <p:spPr>
          <a:xfrm>
            <a:off x="6400800" y="1993392"/>
            <a:ext cx="5029200" cy="329184"/>
          </a:xfrm>
          <a:prstGeom prst="rect">
            <a:avLst/>
          </a:prstGeom>
          <a:noFill/>
          <a:ln/>
        </p:spPr>
        <p:txBody>
          <a:bodyPr wrap="square" lIns="0" tIns="0" rIns="0" bIns="0" rtlCol="0" anchor="ctr"/>
          <a:lstStyle/>
          <a:p>
            <a:pPr marL="0" indent="0">
              <a:buNone/>
            </a:pPr>
            <a:r>
              <a:rPr lang="en-US" sz="1350" b="1" dirty="0">
                <a:solidFill>
                  <a:srgbClr val="35A06A"/>
                </a:solidFill>
                <a:latin typeface="Calibri" pitchFamily="34" charset="0"/>
                <a:ea typeface="Calibri" pitchFamily="34" charset="-122"/>
                <a:cs typeface="Calibri" pitchFamily="34" charset="-120"/>
              </a:rPr>
              <a:t>Components</a:t>
            </a:r>
            <a:endParaRPr lang="en-US" sz="1350" dirty="0"/>
          </a:p>
        </p:txBody>
      </p:sp>
      <p:sp>
        <p:nvSpPr>
          <p:cNvPr id="25" name="Text 22"/>
          <p:cNvSpPr/>
          <p:nvPr/>
        </p:nvSpPr>
        <p:spPr>
          <a:xfrm>
            <a:off x="6400800" y="2395728"/>
            <a:ext cx="5029200" cy="292608"/>
          </a:xfrm>
          <a:prstGeom prst="rect">
            <a:avLst/>
          </a:prstGeom>
          <a:noFill/>
          <a:ln/>
        </p:spPr>
        <p:txBody>
          <a:bodyPr wrap="square" lIns="0" tIns="0" rIns="0" bIns="0" rtlCol="0" anchor="ctr"/>
          <a:lstStyle/>
          <a:p>
            <a:pPr marL="0" indent="0">
              <a:buNone/>
            </a:pPr>
            <a:r>
              <a:rPr lang="en-US" sz="1200" b="1" dirty="0">
                <a:solidFill>
                  <a:srgbClr val="2C3E50"/>
                </a:solidFill>
                <a:latin typeface="Courier New" pitchFamily="34" charset="0"/>
                <a:ea typeface="Courier New" pitchFamily="34" charset="-122"/>
                <a:cs typeface="Courier New" pitchFamily="34" charset="-120"/>
              </a:rPr>
              <a:t>NotificationContainer.vue</a:t>
            </a:r>
            <a:endParaRPr lang="en-US" sz="1200" dirty="0"/>
          </a:p>
        </p:txBody>
      </p:sp>
      <p:sp>
        <p:nvSpPr>
          <p:cNvPr id="26" name="Text 23"/>
          <p:cNvSpPr/>
          <p:nvPr/>
        </p:nvSpPr>
        <p:spPr>
          <a:xfrm>
            <a:off x="6400800" y="2670048"/>
            <a:ext cx="5074920" cy="548640"/>
          </a:xfrm>
          <a:prstGeom prst="rect">
            <a:avLst/>
          </a:prstGeom>
          <a:noFill/>
          <a:ln/>
        </p:spPr>
        <p:txBody>
          <a:bodyPr wrap="square" lIns="0" tIns="0" rIns="0" bIns="0" rtlCol="0" anchor="t"/>
          <a:lstStyle/>
          <a:p>
            <a:pPr marL="0" indent="0">
              <a:lnSpc>
                <a:spcPts val="1300"/>
              </a:lnSpc>
              <a:buNone/>
            </a:pPr>
            <a:r>
              <a:rPr lang="en-US" sz="1150" dirty="0">
                <a:solidFill>
                  <a:srgbClr val="6B7C8C"/>
                </a:solidFill>
                <a:latin typeface="Calibri" pitchFamily="34" charset="0"/>
                <a:ea typeface="Calibri" pitchFamily="34" charset="-122"/>
                <a:cs typeface="Calibri" pitchFamily="34" charset="-120"/>
              </a:rPr>
              <a:t>fixed overlay; renders all toasts with icon + close button; Vue &lt;Transition&gt; in/out</a:t>
            </a:r>
            <a:endParaRPr lang="en-US" sz="1150" dirty="0"/>
          </a:p>
        </p:txBody>
      </p:sp>
      <p:sp>
        <p:nvSpPr>
          <p:cNvPr id="27" name="Text 24"/>
          <p:cNvSpPr/>
          <p:nvPr/>
        </p:nvSpPr>
        <p:spPr>
          <a:xfrm>
            <a:off x="6400800" y="3355848"/>
            <a:ext cx="5029200" cy="292608"/>
          </a:xfrm>
          <a:prstGeom prst="rect">
            <a:avLst/>
          </a:prstGeom>
          <a:noFill/>
          <a:ln/>
        </p:spPr>
        <p:txBody>
          <a:bodyPr wrap="square" lIns="0" tIns="0" rIns="0" bIns="0" rtlCol="0" anchor="ctr"/>
          <a:lstStyle/>
          <a:p>
            <a:pPr marL="0" indent="0">
              <a:buNone/>
            </a:pPr>
            <a:r>
              <a:rPr lang="en-US" sz="1200" b="1" dirty="0">
                <a:solidFill>
                  <a:srgbClr val="2C3E50"/>
                </a:solidFill>
                <a:latin typeface="Courier New" pitchFamily="34" charset="0"/>
                <a:ea typeface="Courier New" pitchFamily="34" charset="-122"/>
                <a:cs typeface="Courier New" pitchFamily="34" charset="-120"/>
              </a:rPr>
              <a:t>NotificationTrigger.vue</a:t>
            </a:r>
            <a:endParaRPr lang="en-US" sz="1200" dirty="0"/>
          </a:p>
        </p:txBody>
      </p:sp>
      <p:sp>
        <p:nvSpPr>
          <p:cNvPr id="28" name="Text 25"/>
          <p:cNvSpPr/>
          <p:nvPr/>
        </p:nvSpPr>
        <p:spPr>
          <a:xfrm>
            <a:off x="6400800" y="3630168"/>
            <a:ext cx="5074920" cy="548640"/>
          </a:xfrm>
          <a:prstGeom prst="rect">
            <a:avLst/>
          </a:prstGeom>
          <a:noFill/>
          <a:ln/>
        </p:spPr>
        <p:txBody>
          <a:bodyPr wrap="square" lIns="0" tIns="0" rIns="0" bIns="0" rtlCol="0" anchor="t"/>
          <a:lstStyle/>
          <a:p>
            <a:pPr marL="0" indent="0">
              <a:lnSpc>
                <a:spcPts val="1300"/>
              </a:lnSpc>
              <a:buNone/>
            </a:pPr>
            <a:r>
              <a:rPr lang="en-US" sz="1150" dirty="0">
                <a:solidFill>
                  <a:srgbClr val="6B7C8C"/>
                </a:solidFill>
                <a:latin typeface="Calibri" pitchFamily="34" charset="0"/>
                <a:ea typeface="Calibri" pitchFamily="34" charset="-122"/>
                <a:cs typeface="Calibri" pitchFamily="34" charset="-120"/>
              </a:rPr>
              <a:t>dev panel: 4 buttons (one per type) call add(); shows unreadCount badge</a:t>
            </a:r>
            <a:endParaRPr lang="en-US" sz="1150" dirty="0"/>
          </a:p>
        </p:txBody>
      </p:sp>
      <p:sp>
        <p:nvSpPr>
          <p:cNvPr id="29" name="Text 26"/>
          <p:cNvSpPr/>
          <p:nvPr/>
        </p:nvSpPr>
        <p:spPr>
          <a:xfrm>
            <a:off x="6400800" y="4315968"/>
            <a:ext cx="5029200" cy="292608"/>
          </a:xfrm>
          <a:prstGeom prst="rect">
            <a:avLst/>
          </a:prstGeom>
          <a:noFill/>
          <a:ln/>
        </p:spPr>
        <p:txBody>
          <a:bodyPr wrap="square" lIns="0" tIns="0" rIns="0" bIns="0" rtlCol="0" anchor="ctr"/>
          <a:lstStyle/>
          <a:p>
            <a:pPr marL="0" indent="0">
              <a:buNone/>
            </a:pPr>
            <a:r>
              <a:rPr lang="en-US" sz="1200" b="1" dirty="0">
                <a:solidFill>
                  <a:srgbClr val="2C3E50"/>
                </a:solidFill>
                <a:latin typeface="Courier New" pitchFamily="34" charset="0"/>
                <a:ea typeface="Courier New" pitchFamily="34" charset="-122"/>
                <a:cs typeface="Courier New" pitchFamily="34" charset="-120"/>
              </a:rPr>
              <a:t>Any form</a:t>
            </a:r>
            <a:endParaRPr lang="en-US" sz="1200" dirty="0"/>
          </a:p>
        </p:txBody>
      </p:sp>
      <p:sp>
        <p:nvSpPr>
          <p:cNvPr id="30" name="Text 27"/>
          <p:cNvSpPr/>
          <p:nvPr/>
        </p:nvSpPr>
        <p:spPr>
          <a:xfrm>
            <a:off x="6400800" y="4590288"/>
            <a:ext cx="5074920" cy="548640"/>
          </a:xfrm>
          <a:prstGeom prst="rect">
            <a:avLst/>
          </a:prstGeom>
          <a:noFill/>
          <a:ln/>
        </p:spPr>
        <p:txBody>
          <a:bodyPr wrap="square" lIns="0" tIns="0" rIns="0" bIns="0" rtlCol="0" anchor="t"/>
          <a:lstStyle/>
          <a:p>
            <a:pPr marL="0" indent="0">
              <a:lnSpc>
                <a:spcPts val="1300"/>
              </a:lnSpc>
              <a:buNone/>
            </a:pPr>
            <a:r>
              <a:rPr lang="en-US" sz="1150" dirty="0">
                <a:solidFill>
                  <a:srgbClr val="6B7C8C"/>
                </a:solidFill>
                <a:latin typeface="Calibri" pitchFamily="34" charset="0"/>
                <a:ea typeface="Calibri" pitchFamily="34" charset="-122"/>
                <a:cs typeface="Calibri" pitchFamily="34" charset="-120"/>
              </a:rPr>
              <a:t>calls add('Saved!', 'success') on submit</a:t>
            </a:r>
            <a:endParaRPr lang="en-US" sz="1150" dirty="0"/>
          </a:p>
        </p:txBody>
      </p:sp>
      <p:sp>
        <p:nvSpPr>
          <p:cNvPr id="31" name="Shape 28"/>
          <p:cNvSpPr/>
          <p:nvPr/>
        </p:nvSpPr>
        <p:spPr>
          <a:xfrm>
            <a:off x="548640" y="5532120"/>
            <a:ext cx="11091672" cy="1152144"/>
          </a:xfrm>
          <a:prstGeom prst="roundRect">
            <a:avLst>
              <a:gd name="adj" fmla="val 5556"/>
            </a:avLst>
          </a:prstGeom>
          <a:solidFill>
            <a:srgbClr val="FCF4E0"/>
          </a:solidFill>
          <a:ln/>
          <a:effectLst>
            <a:outerShdw blurRad="88900" dist="25400" dir="5400000" algn="bl" rotWithShape="0">
              <a:srgbClr val="35495E">
                <a:alpha val="13000"/>
              </a:srgbClr>
            </a:outerShdw>
          </a:effectLst>
        </p:spPr>
      </p:sp>
      <p:sp>
        <p:nvSpPr>
          <p:cNvPr id="32" name="Shape 29"/>
          <p:cNvSpPr/>
          <p:nvPr/>
        </p:nvSpPr>
        <p:spPr>
          <a:xfrm>
            <a:off x="749808" y="5733288"/>
            <a:ext cx="457200" cy="457200"/>
          </a:xfrm>
          <a:prstGeom prst="ellipse">
            <a:avLst/>
          </a:prstGeom>
          <a:solidFill>
            <a:srgbClr val="E0A21B"/>
          </a:solidFill>
          <a:ln/>
          <a:effectLst>
            <a:outerShdw blurRad="88900" dist="25400" dir="5400000" algn="bl" rotWithShape="0">
              <a:srgbClr val="35495E">
                <a:alpha val="13000"/>
              </a:srgbClr>
            </a:outerShdw>
          </a:effectLst>
        </p:spPr>
      </p:sp>
      <p:pic>
        <p:nvPicPr>
          <p:cNvPr id="33" name="Image 1" descr="preencoded.png"/>
          <p:cNvPicPr>
            <a:picLocks noChangeAspect="1"/>
          </p:cNvPicPr>
          <p:nvPr/>
        </p:nvPicPr>
        <p:blipFill>
          <a:blip r:embed="rId4"/>
          <a:stretch>
            <a:fillRect/>
          </a:stretch>
        </p:blipFill>
        <p:spPr>
          <a:xfrm>
            <a:off x="873252" y="5856732"/>
            <a:ext cx="210312" cy="210312"/>
          </a:xfrm>
          <a:prstGeom prst="rect">
            <a:avLst/>
          </a:prstGeom>
        </p:spPr>
      </p:pic>
      <p:sp>
        <p:nvSpPr>
          <p:cNvPr id="34" name="Text 30"/>
          <p:cNvSpPr/>
          <p:nvPr/>
        </p:nvSpPr>
        <p:spPr>
          <a:xfrm>
            <a:off x="1335024" y="5696712"/>
            <a:ext cx="10131552" cy="310896"/>
          </a:xfrm>
          <a:prstGeom prst="rect">
            <a:avLst/>
          </a:prstGeom>
          <a:noFill/>
          <a:ln/>
        </p:spPr>
        <p:txBody>
          <a:bodyPr wrap="square" lIns="0" tIns="0" rIns="0" bIns="0" rtlCol="0" anchor="ctr"/>
          <a:lstStyle/>
          <a:p>
            <a:pPr marL="0" indent="0" algn="l">
              <a:buNone/>
            </a:pPr>
            <a:r>
              <a:rPr lang="en-US" sz="1400" b="1" dirty="0">
                <a:solidFill>
                  <a:srgbClr val="A6760C"/>
                </a:solidFill>
                <a:latin typeface="Calibri" pitchFamily="34" charset="0"/>
                <a:ea typeface="Calibri" pitchFamily="34" charset="-122"/>
                <a:cs typeface="Calibri" pitchFamily="34" charset="-120"/>
              </a:rPr>
              <a:t>Stretch goal</a:t>
            </a:r>
            <a:endParaRPr lang="en-US" sz="1400" dirty="0"/>
          </a:p>
        </p:txBody>
      </p:sp>
      <p:sp>
        <p:nvSpPr>
          <p:cNvPr id="35" name="Text 31"/>
          <p:cNvSpPr/>
          <p:nvPr/>
        </p:nvSpPr>
        <p:spPr>
          <a:xfrm>
            <a:off x="1335024" y="6007608"/>
            <a:ext cx="10131552" cy="548640"/>
          </a:xfrm>
          <a:prstGeom prst="rect">
            <a:avLst/>
          </a:prstGeom>
          <a:noFill/>
          <a:ln/>
        </p:spPr>
        <p:txBody>
          <a:bodyPr wrap="square" lIns="0" tIns="0" rIns="0" bIns="0" rtlCol="0" anchor="t"/>
          <a:lstStyle/>
          <a:p>
            <a:pPr marL="0" indent="0" algn="l">
              <a:lnSpc>
                <a:spcPts val="1600"/>
              </a:lnSpc>
              <a:buNone/>
            </a:pPr>
            <a:r>
              <a:rPr lang="en-US" sz="1250" dirty="0">
                <a:solidFill>
                  <a:srgbClr val="2C3E50"/>
                </a:solidFill>
                <a:latin typeface="Calibri" pitchFamily="34" charset="0"/>
                <a:ea typeface="Calibri" pitchFamily="34" charset="-122"/>
                <a:cs typeface="Calibri" pitchFamily="34" charset="-120"/>
              </a:rPr>
              <a:t>Add a $onAction listener that logs every action call with its arguments into a history ref, shown in a collapsible debug panel inside NotificationTrigger.</a:t>
            </a:r>
            <a:endParaRPr lang="en-US" sz="1250" dirty="0"/>
          </a:p>
        </p:txBody>
      </p:sp>
      <p:sp>
        <p:nvSpPr>
          <p:cNvPr id="36" name="Text 32"/>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37" name="Text 33"/>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Practice</a:t>
            </a:r>
            <a:endParaRPr lang="en-US" sz="900" dirty="0"/>
          </a:p>
        </p:txBody>
      </p:sp>
      <p:sp>
        <p:nvSpPr>
          <p:cNvPr id="38" name="Text 34"/>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D7574B"/>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D7574B"/>
                </a:solidFill>
                <a:latin typeface="Calibri" pitchFamily="34" charset="0"/>
                <a:ea typeface="Calibri" pitchFamily="34" charset="-122"/>
                <a:cs typeface="Calibri" pitchFamily="34" charset="-120"/>
              </a:rPr>
              <a:t>COMMON MISTAKES · 82:00–87:00</a:t>
            </a:r>
            <a:endParaRPr lang="en-US" sz="1200" dirty="0"/>
          </a:p>
        </p:txBody>
      </p:sp>
      <p:sp>
        <p:nvSpPr>
          <p:cNvPr id="5" name="Text 2"/>
          <p:cNvSpPr/>
          <p:nvPr/>
        </p:nvSpPr>
        <p:spPr>
          <a:xfrm>
            <a:off x="1298448" y="713232"/>
            <a:ext cx="10058400" cy="566928"/>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Three Traps to Avoid</a:t>
            </a:r>
            <a:endParaRPr lang="en-US" sz="2800" dirty="0"/>
          </a:p>
        </p:txBody>
      </p:sp>
      <p:sp>
        <p:nvSpPr>
          <p:cNvPr id="6" name="Shape 3"/>
          <p:cNvSpPr/>
          <p:nvPr/>
        </p:nvSpPr>
        <p:spPr>
          <a:xfrm>
            <a:off x="548640" y="1600200"/>
            <a:ext cx="11091672" cy="1371600"/>
          </a:xfrm>
          <a:prstGeom prst="roundRect">
            <a:avLst>
              <a:gd name="adj" fmla="val 5333"/>
            </a:avLst>
          </a:prstGeom>
          <a:solidFill>
            <a:srgbClr val="FBEDEC"/>
          </a:solidFill>
          <a:ln w="12700">
            <a:solidFill>
              <a:srgbClr val="F1C9C4"/>
            </a:solidFill>
            <a:prstDash val="solid"/>
          </a:ln>
        </p:spPr>
      </p:sp>
      <p:sp>
        <p:nvSpPr>
          <p:cNvPr id="7" name="Shape 4"/>
          <p:cNvSpPr/>
          <p:nvPr/>
        </p:nvSpPr>
        <p:spPr>
          <a:xfrm>
            <a:off x="777240" y="1911096"/>
            <a:ext cx="731520" cy="731520"/>
          </a:xfrm>
          <a:prstGeom prst="ellipse">
            <a:avLst/>
          </a:prstGeom>
          <a:solidFill>
            <a:srgbClr val="D7574B"/>
          </a:solidFill>
          <a:ln/>
        </p:spPr>
      </p:sp>
      <p:sp>
        <p:nvSpPr>
          <p:cNvPr id="8" name="Text 5"/>
          <p:cNvSpPr/>
          <p:nvPr/>
        </p:nvSpPr>
        <p:spPr>
          <a:xfrm>
            <a:off x="777240" y="1911096"/>
            <a:ext cx="731520" cy="7315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9" name="Text 6"/>
          <p:cNvSpPr/>
          <p:nvPr/>
        </p:nvSpPr>
        <p:spPr>
          <a:xfrm>
            <a:off x="1783080" y="1801368"/>
            <a:ext cx="9601200" cy="384048"/>
          </a:xfrm>
          <a:prstGeom prst="rect">
            <a:avLst/>
          </a:prstGeom>
          <a:noFill/>
          <a:ln/>
        </p:spPr>
        <p:txBody>
          <a:bodyPr wrap="square" lIns="0" tIns="0" rIns="0" bIns="0" rtlCol="0" anchor="ctr"/>
          <a:lstStyle/>
          <a:p>
            <a:pPr marL="0" indent="0">
              <a:buNone/>
            </a:pPr>
            <a:r>
              <a:rPr lang="en-US" sz="1600" b="1" dirty="0">
                <a:solidFill>
                  <a:srgbClr val="B43A2E"/>
                </a:solidFill>
                <a:latin typeface="Calibri" pitchFamily="34" charset="0"/>
                <a:ea typeface="Calibri" pitchFamily="34" charset="-122"/>
                <a:cs typeface="Calibri" pitchFamily="34" charset="-120"/>
              </a:rPr>
              <a:t>Destructuring without storeToRefs</a:t>
            </a:r>
            <a:endParaRPr lang="en-US" sz="1600" dirty="0"/>
          </a:p>
        </p:txBody>
      </p:sp>
      <p:sp>
        <p:nvSpPr>
          <p:cNvPr id="10" name="Text 7"/>
          <p:cNvSpPr/>
          <p:nvPr/>
        </p:nvSpPr>
        <p:spPr>
          <a:xfrm>
            <a:off x="1783080" y="2185416"/>
            <a:ext cx="9646920" cy="685800"/>
          </a:xfrm>
          <a:prstGeom prst="rect">
            <a:avLst/>
          </a:prstGeom>
          <a:noFill/>
          <a:ln/>
        </p:spPr>
        <p:txBody>
          <a:bodyPr wrap="square" lIns="0" tIns="0" rIns="0" bIns="0" rtlCol="0" anchor="t"/>
          <a:lstStyle/>
          <a:p>
            <a:pPr marL="0" indent="0">
              <a:lnSpc>
                <a:spcPts val="1500"/>
              </a:lnSpc>
              <a:buNone/>
            </a:pPr>
            <a:r>
              <a:rPr lang="en-US" sz="1250" dirty="0">
                <a:solidFill>
                  <a:srgbClr val="2C3E50"/>
                </a:solidFill>
                <a:latin typeface="Calibri" pitchFamily="34" charset="0"/>
                <a:ea typeface="Calibri" pitchFamily="34" charset="-122"/>
                <a:cs typeface="Calibri" pitchFamily="34" charset="-120"/>
              </a:rPr>
              <a:t>const { items } = store strips reactivity — the template never updates. Use storeToRefs() for state &amp; getters; destructure actions directly.</a:t>
            </a:r>
            <a:endParaRPr lang="en-US" sz="1250" dirty="0"/>
          </a:p>
        </p:txBody>
      </p:sp>
      <p:sp>
        <p:nvSpPr>
          <p:cNvPr id="11" name="Shape 8"/>
          <p:cNvSpPr/>
          <p:nvPr/>
        </p:nvSpPr>
        <p:spPr>
          <a:xfrm>
            <a:off x="548640" y="3136392"/>
            <a:ext cx="11091672" cy="1371600"/>
          </a:xfrm>
          <a:prstGeom prst="roundRect">
            <a:avLst>
              <a:gd name="adj" fmla="val 5333"/>
            </a:avLst>
          </a:prstGeom>
          <a:solidFill>
            <a:srgbClr val="FBEDEC"/>
          </a:solidFill>
          <a:ln w="12700">
            <a:solidFill>
              <a:srgbClr val="F1C9C4"/>
            </a:solidFill>
            <a:prstDash val="solid"/>
          </a:ln>
        </p:spPr>
      </p:sp>
      <p:sp>
        <p:nvSpPr>
          <p:cNvPr id="12" name="Shape 9"/>
          <p:cNvSpPr/>
          <p:nvPr/>
        </p:nvSpPr>
        <p:spPr>
          <a:xfrm>
            <a:off x="777240" y="3447288"/>
            <a:ext cx="731520" cy="731520"/>
          </a:xfrm>
          <a:prstGeom prst="ellipse">
            <a:avLst/>
          </a:prstGeom>
          <a:solidFill>
            <a:srgbClr val="D7574B"/>
          </a:solidFill>
          <a:ln/>
        </p:spPr>
      </p:sp>
      <p:sp>
        <p:nvSpPr>
          <p:cNvPr id="13" name="Text 10"/>
          <p:cNvSpPr/>
          <p:nvPr/>
        </p:nvSpPr>
        <p:spPr>
          <a:xfrm>
            <a:off x="777240" y="3447288"/>
            <a:ext cx="731520" cy="7315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4" name="Text 11"/>
          <p:cNvSpPr/>
          <p:nvPr/>
        </p:nvSpPr>
        <p:spPr>
          <a:xfrm>
            <a:off x="1783080" y="3337560"/>
            <a:ext cx="9601200" cy="384048"/>
          </a:xfrm>
          <a:prstGeom prst="rect">
            <a:avLst/>
          </a:prstGeom>
          <a:noFill/>
          <a:ln/>
        </p:spPr>
        <p:txBody>
          <a:bodyPr wrap="square" lIns="0" tIns="0" rIns="0" bIns="0" rtlCol="0" anchor="ctr"/>
          <a:lstStyle/>
          <a:p>
            <a:pPr marL="0" indent="0">
              <a:buNone/>
            </a:pPr>
            <a:r>
              <a:rPr lang="en-US" sz="1600" b="1" dirty="0">
                <a:solidFill>
                  <a:srgbClr val="B43A2E"/>
                </a:solidFill>
                <a:latin typeface="Calibri" pitchFamily="34" charset="0"/>
                <a:ea typeface="Calibri" pitchFamily="34" charset="-122"/>
                <a:cs typeface="Calibri" pitchFamily="34" charset="-120"/>
              </a:rPr>
              <a:t>Calling useXxxStore() at module level</a:t>
            </a:r>
            <a:endParaRPr lang="en-US" sz="1600" dirty="0"/>
          </a:p>
        </p:txBody>
      </p:sp>
      <p:sp>
        <p:nvSpPr>
          <p:cNvPr id="15" name="Text 12"/>
          <p:cNvSpPr/>
          <p:nvPr/>
        </p:nvSpPr>
        <p:spPr>
          <a:xfrm>
            <a:off x="1783080" y="3721608"/>
            <a:ext cx="9646920" cy="685800"/>
          </a:xfrm>
          <a:prstGeom prst="rect">
            <a:avLst/>
          </a:prstGeom>
          <a:noFill/>
          <a:ln/>
        </p:spPr>
        <p:txBody>
          <a:bodyPr wrap="square" lIns="0" tIns="0" rIns="0" bIns="0" rtlCol="0" anchor="t"/>
          <a:lstStyle/>
          <a:p>
            <a:pPr marL="0" indent="0">
              <a:lnSpc>
                <a:spcPts val="1500"/>
              </a:lnSpc>
              <a:buNone/>
            </a:pPr>
            <a:r>
              <a:rPr lang="en-US" sz="1250" dirty="0">
                <a:solidFill>
                  <a:srgbClr val="2C3E50"/>
                </a:solidFill>
                <a:latin typeface="Calibri" pitchFamily="34" charset="0"/>
                <a:ea typeface="Calibri" pitchFamily="34" charset="-122"/>
                <a:cs typeface="Calibri" pitchFamily="34" charset="-120"/>
              </a:rPr>
              <a:t>Running it at the top of a file fires before createPinia(). Call it inside setup, a composable, or a guard — anywhere Pinia is active.</a:t>
            </a:r>
            <a:endParaRPr lang="en-US" sz="1250" dirty="0"/>
          </a:p>
        </p:txBody>
      </p:sp>
      <p:sp>
        <p:nvSpPr>
          <p:cNvPr id="16" name="Shape 13"/>
          <p:cNvSpPr/>
          <p:nvPr/>
        </p:nvSpPr>
        <p:spPr>
          <a:xfrm>
            <a:off x="548640" y="4672584"/>
            <a:ext cx="11091672" cy="1371600"/>
          </a:xfrm>
          <a:prstGeom prst="roundRect">
            <a:avLst>
              <a:gd name="adj" fmla="val 5333"/>
            </a:avLst>
          </a:prstGeom>
          <a:solidFill>
            <a:srgbClr val="FBEDEC"/>
          </a:solidFill>
          <a:ln w="12700">
            <a:solidFill>
              <a:srgbClr val="F1C9C4"/>
            </a:solidFill>
            <a:prstDash val="solid"/>
          </a:ln>
        </p:spPr>
      </p:sp>
      <p:sp>
        <p:nvSpPr>
          <p:cNvPr id="17" name="Shape 14"/>
          <p:cNvSpPr/>
          <p:nvPr/>
        </p:nvSpPr>
        <p:spPr>
          <a:xfrm>
            <a:off x="777240" y="4983480"/>
            <a:ext cx="731520" cy="731520"/>
          </a:xfrm>
          <a:prstGeom prst="ellipse">
            <a:avLst/>
          </a:prstGeom>
          <a:solidFill>
            <a:srgbClr val="D7574B"/>
          </a:solidFill>
          <a:ln/>
        </p:spPr>
      </p:sp>
      <p:sp>
        <p:nvSpPr>
          <p:cNvPr id="18" name="Text 15"/>
          <p:cNvSpPr/>
          <p:nvPr/>
        </p:nvSpPr>
        <p:spPr>
          <a:xfrm>
            <a:off x="777240" y="4983480"/>
            <a:ext cx="731520" cy="7315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19" name="Text 16"/>
          <p:cNvSpPr/>
          <p:nvPr/>
        </p:nvSpPr>
        <p:spPr>
          <a:xfrm>
            <a:off x="1783080" y="4873752"/>
            <a:ext cx="9601200" cy="384048"/>
          </a:xfrm>
          <a:prstGeom prst="rect">
            <a:avLst/>
          </a:prstGeom>
          <a:noFill/>
          <a:ln/>
        </p:spPr>
        <p:txBody>
          <a:bodyPr wrap="square" lIns="0" tIns="0" rIns="0" bIns="0" rtlCol="0" anchor="ctr"/>
          <a:lstStyle/>
          <a:p>
            <a:pPr marL="0" indent="0">
              <a:buNone/>
            </a:pPr>
            <a:r>
              <a:rPr lang="en-US" sz="1600" b="1" dirty="0">
                <a:solidFill>
                  <a:srgbClr val="B43A2E"/>
                </a:solidFill>
                <a:latin typeface="Calibri" pitchFamily="34" charset="0"/>
                <a:ea typeface="Calibri" pitchFamily="34" charset="-122"/>
                <a:cs typeface="Calibri" pitchFamily="34" charset="-120"/>
              </a:rPr>
              <a:t>Mutating state, skipping actions</a:t>
            </a:r>
            <a:endParaRPr lang="en-US" sz="1600" dirty="0"/>
          </a:p>
        </p:txBody>
      </p:sp>
      <p:sp>
        <p:nvSpPr>
          <p:cNvPr id="20" name="Text 17"/>
          <p:cNvSpPr/>
          <p:nvPr/>
        </p:nvSpPr>
        <p:spPr>
          <a:xfrm>
            <a:off x="1783080" y="5257800"/>
            <a:ext cx="9646920" cy="685800"/>
          </a:xfrm>
          <a:prstGeom prst="rect">
            <a:avLst/>
          </a:prstGeom>
          <a:noFill/>
          <a:ln/>
        </p:spPr>
        <p:txBody>
          <a:bodyPr wrap="square" lIns="0" tIns="0" rIns="0" bIns="0" rtlCol="0" anchor="t"/>
          <a:lstStyle/>
          <a:p>
            <a:pPr marL="0" indent="0">
              <a:lnSpc>
                <a:spcPts val="1500"/>
              </a:lnSpc>
              <a:buNone/>
            </a:pPr>
            <a:r>
              <a:rPr lang="en-US" sz="1250" dirty="0">
                <a:solidFill>
                  <a:srgbClr val="2C3E50"/>
                </a:solidFill>
                <a:latin typeface="Calibri" pitchFamily="34" charset="0"/>
                <a:ea typeface="Calibri" pitchFamily="34" charset="-122"/>
                <a:cs typeface="Calibri" pitchFamily="34" charset="-120"/>
              </a:rPr>
              <a:t>store.items.push(x) works but isn't tracked in devtools. Route changes through actions for time-travel, $onAction hooks, and testability.</a:t>
            </a:r>
            <a:endParaRPr lang="en-US" sz="1250" dirty="0"/>
          </a:p>
        </p:txBody>
      </p:sp>
      <p:sp>
        <p:nvSpPr>
          <p:cNvPr id="21" name="Text 18"/>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22" name="Text 19"/>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Pitfalls</a:t>
            </a:r>
            <a:endParaRPr lang="en-US" sz="900" dirty="0"/>
          </a:p>
        </p:txBody>
      </p:sp>
      <p:sp>
        <p:nvSpPr>
          <p:cNvPr id="23" name="Text 20"/>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B38"/>
        </a:solidFill>
        <a:effectLst/>
      </p:bgPr>
    </p:bg>
    <p:spTree>
      <p:nvGrpSpPr>
        <p:cNvPr id="1" name=""/>
        <p:cNvGrpSpPr/>
        <p:nvPr/>
      </p:nvGrpSpPr>
      <p:grpSpPr>
        <a:xfrm>
          <a:off x="0" y="0"/>
          <a:ext cx="0" cy="0"/>
          <a:chOff x="0" y="0"/>
          <a:chExt cx="0" cy="0"/>
        </a:xfrm>
      </p:grpSpPr>
      <p:sp>
        <p:nvSpPr>
          <p:cNvPr id="2" name="Shape 0"/>
          <p:cNvSpPr/>
          <p:nvPr/>
        </p:nvSpPr>
        <p:spPr>
          <a:xfrm>
            <a:off x="10058400" y="-1280160"/>
            <a:ext cx="3840480" cy="3840480"/>
          </a:xfrm>
          <a:prstGeom prst="ellipse">
            <a:avLst/>
          </a:prstGeom>
          <a:solidFill>
            <a:srgbClr val="E0A21B">
              <a:alpha val="12000"/>
            </a:srgbClr>
          </a:solidFill>
          <a:ln/>
        </p:spPr>
      </p:sp>
      <p:sp>
        <p:nvSpPr>
          <p:cNvPr id="3" name="Shape 1"/>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4"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5" name="Text 2"/>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F2C94C"/>
                </a:solidFill>
                <a:latin typeface="Calibri" pitchFamily="34" charset="0"/>
                <a:ea typeface="Calibri" pitchFamily="34" charset="-122"/>
                <a:cs typeface="Calibri" pitchFamily="34" charset="-120"/>
              </a:rPr>
              <a:t>QUIZ · 87:00–90:00 · 45S EACH</a:t>
            </a:r>
            <a:endParaRPr lang="en-US" sz="1200" dirty="0"/>
          </a:p>
        </p:txBody>
      </p:sp>
      <p:sp>
        <p:nvSpPr>
          <p:cNvPr id="6" name="Text 3"/>
          <p:cNvSpPr/>
          <p:nvPr/>
        </p:nvSpPr>
        <p:spPr>
          <a:xfrm>
            <a:off x="1298448" y="713232"/>
            <a:ext cx="10058400" cy="566928"/>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Quick Check — Session 10</a:t>
            </a:r>
            <a:endParaRPr lang="en-US" sz="2800" dirty="0"/>
          </a:p>
        </p:txBody>
      </p:sp>
      <p:sp>
        <p:nvSpPr>
          <p:cNvPr id="7" name="Shape 4"/>
          <p:cNvSpPr/>
          <p:nvPr/>
        </p:nvSpPr>
        <p:spPr>
          <a:xfrm>
            <a:off x="548640" y="1600200"/>
            <a:ext cx="11091672" cy="841248"/>
          </a:xfrm>
          <a:prstGeom prst="roundRect">
            <a:avLst>
              <a:gd name="adj" fmla="val 7609"/>
            </a:avLst>
          </a:prstGeom>
          <a:solidFill>
            <a:srgbClr val="243748"/>
          </a:solidFill>
          <a:ln w="12700">
            <a:solidFill>
              <a:srgbClr val="37506A"/>
            </a:solidFill>
            <a:prstDash val="solid"/>
          </a:ln>
        </p:spPr>
      </p:sp>
      <p:sp>
        <p:nvSpPr>
          <p:cNvPr id="8" name="Shape 5"/>
          <p:cNvSpPr/>
          <p:nvPr/>
        </p:nvSpPr>
        <p:spPr>
          <a:xfrm>
            <a:off x="713232" y="1819656"/>
            <a:ext cx="566928" cy="402336"/>
          </a:xfrm>
          <a:prstGeom prst="roundRect">
            <a:avLst>
              <a:gd name="adj" fmla="val 18182"/>
            </a:avLst>
          </a:prstGeom>
          <a:solidFill>
            <a:srgbClr val="E0A21B"/>
          </a:solidFill>
          <a:ln/>
        </p:spPr>
      </p:sp>
      <p:sp>
        <p:nvSpPr>
          <p:cNvPr id="9" name="Text 6"/>
          <p:cNvSpPr/>
          <p:nvPr/>
        </p:nvSpPr>
        <p:spPr>
          <a:xfrm>
            <a:off x="713232" y="1819656"/>
            <a:ext cx="56692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Q1</a:t>
            </a:r>
            <a:endParaRPr lang="en-US" sz="1300" dirty="0"/>
          </a:p>
        </p:txBody>
      </p:sp>
      <p:sp>
        <p:nvSpPr>
          <p:cNvPr id="10" name="Text 7"/>
          <p:cNvSpPr/>
          <p:nvPr/>
        </p:nvSpPr>
        <p:spPr>
          <a:xfrm>
            <a:off x="1463040" y="1691640"/>
            <a:ext cx="6035040" cy="658368"/>
          </a:xfrm>
          <a:prstGeom prst="rect">
            <a:avLst/>
          </a:prstGeom>
          <a:noFill/>
          <a:ln/>
        </p:spPr>
        <p:txBody>
          <a:bodyPr wrap="square" lIns="0" tIns="0" rIns="0" bIns="0" rtlCol="0" anchor="ctr"/>
          <a:lstStyle/>
          <a:p>
            <a:pPr marL="0" indent="0">
              <a:lnSpc>
                <a:spcPts val="1400"/>
              </a:lnSpc>
              <a:buNone/>
            </a:pPr>
            <a:r>
              <a:rPr lang="en-US" sz="1250" dirty="0">
                <a:solidFill>
                  <a:srgbClr val="E4EBF1"/>
                </a:solidFill>
                <a:latin typeface="Calibri" pitchFamily="34" charset="0"/>
                <a:ea typeface="Calibri" pitchFamily="34" charset="-122"/>
                <a:cs typeface="Calibri" pitchFamily="34" charset="-120"/>
              </a:rPr>
              <a:t>What is the first argument to defineStore()?</a:t>
            </a:r>
            <a:endParaRPr lang="en-US" sz="1250" dirty="0"/>
          </a:p>
        </p:txBody>
      </p:sp>
      <p:sp>
        <p:nvSpPr>
          <p:cNvPr id="11" name="Shape 8"/>
          <p:cNvSpPr/>
          <p:nvPr/>
        </p:nvSpPr>
        <p:spPr>
          <a:xfrm>
            <a:off x="7726680" y="1746504"/>
            <a:ext cx="0" cy="548640"/>
          </a:xfrm>
          <a:prstGeom prst="line">
            <a:avLst/>
          </a:prstGeom>
          <a:noFill/>
          <a:ln w="12700">
            <a:solidFill>
              <a:srgbClr val="37506A"/>
            </a:solidFill>
            <a:prstDash val="solid"/>
          </a:ln>
        </p:spPr>
      </p:sp>
      <p:sp>
        <p:nvSpPr>
          <p:cNvPr id="12" name="Text 9"/>
          <p:cNvSpPr/>
          <p:nvPr/>
        </p:nvSpPr>
        <p:spPr>
          <a:xfrm>
            <a:off x="7909560" y="1691640"/>
            <a:ext cx="3566160" cy="658368"/>
          </a:xfrm>
          <a:prstGeom prst="rect">
            <a:avLst/>
          </a:prstGeom>
          <a:noFill/>
          <a:ln/>
        </p:spPr>
        <p:txBody>
          <a:bodyPr wrap="square" lIns="0" tIns="0" rIns="0" bIns="0" rtlCol="0" anchor="ctr"/>
          <a:lstStyle/>
          <a:p>
            <a:pPr marL="0" indent="0">
              <a:lnSpc>
                <a:spcPts val="1300"/>
              </a:lnSpc>
              <a:buNone/>
            </a:pPr>
            <a:r>
              <a:rPr lang="en-US" sz="1150" b="1" dirty="0">
                <a:solidFill>
                  <a:srgbClr val="F2C94C"/>
                </a:solidFill>
                <a:latin typeface="Calibri" pitchFamily="34" charset="0"/>
                <a:ea typeface="Calibri" pitchFamily="34" charset="-122"/>
                <a:cs typeface="Calibri" pitchFamily="34" charset="-120"/>
              </a:rPr>
              <a:t>✓  </a:t>
            </a:r>
            <a:r>
              <a:rPr lang="en-US" sz="1150" dirty="0">
                <a:solidFill>
                  <a:srgbClr val="CFE0CF"/>
                </a:solidFill>
                <a:latin typeface="Calibri" pitchFamily="34" charset="0"/>
                <a:ea typeface="Calibri" pitchFamily="34" charset="-122"/>
                <a:cs typeface="Calibri" pitchFamily="34" charset="-120"/>
              </a:rPr>
              <a:t>A unique string ID for the store</a:t>
            </a:r>
            <a:endParaRPr lang="en-US" sz="1150" dirty="0"/>
          </a:p>
        </p:txBody>
      </p:sp>
      <p:sp>
        <p:nvSpPr>
          <p:cNvPr id="13" name="Shape 10"/>
          <p:cNvSpPr/>
          <p:nvPr/>
        </p:nvSpPr>
        <p:spPr>
          <a:xfrm>
            <a:off x="548640" y="2551176"/>
            <a:ext cx="11091672" cy="841248"/>
          </a:xfrm>
          <a:prstGeom prst="roundRect">
            <a:avLst>
              <a:gd name="adj" fmla="val 7609"/>
            </a:avLst>
          </a:prstGeom>
          <a:solidFill>
            <a:srgbClr val="243748"/>
          </a:solidFill>
          <a:ln w="12700">
            <a:solidFill>
              <a:srgbClr val="37506A"/>
            </a:solidFill>
            <a:prstDash val="solid"/>
          </a:ln>
        </p:spPr>
      </p:sp>
      <p:sp>
        <p:nvSpPr>
          <p:cNvPr id="14" name="Shape 11"/>
          <p:cNvSpPr/>
          <p:nvPr/>
        </p:nvSpPr>
        <p:spPr>
          <a:xfrm>
            <a:off x="713232" y="2770632"/>
            <a:ext cx="566928" cy="402336"/>
          </a:xfrm>
          <a:prstGeom prst="roundRect">
            <a:avLst>
              <a:gd name="adj" fmla="val 18182"/>
            </a:avLst>
          </a:prstGeom>
          <a:solidFill>
            <a:srgbClr val="E0A21B"/>
          </a:solidFill>
          <a:ln/>
        </p:spPr>
      </p:sp>
      <p:sp>
        <p:nvSpPr>
          <p:cNvPr id="15" name="Text 12"/>
          <p:cNvSpPr/>
          <p:nvPr/>
        </p:nvSpPr>
        <p:spPr>
          <a:xfrm>
            <a:off x="713232" y="2770632"/>
            <a:ext cx="56692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Q2</a:t>
            </a:r>
            <a:endParaRPr lang="en-US" sz="1300" dirty="0"/>
          </a:p>
        </p:txBody>
      </p:sp>
      <p:sp>
        <p:nvSpPr>
          <p:cNvPr id="16" name="Text 13"/>
          <p:cNvSpPr/>
          <p:nvPr/>
        </p:nvSpPr>
        <p:spPr>
          <a:xfrm>
            <a:off x="1463040" y="2642616"/>
            <a:ext cx="6035040" cy="658368"/>
          </a:xfrm>
          <a:prstGeom prst="rect">
            <a:avLst/>
          </a:prstGeom>
          <a:noFill/>
          <a:ln/>
        </p:spPr>
        <p:txBody>
          <a:bodyPr wrap="square" lIns="0" tIns="0" rIns="0" bIns="0" rtlCol="0" anchor="ctr"/>
          <a:lstStyle/>
          <a:p>
            <a:pPr marL="0" indent="0">
              <a:lnSpc>
                <a:spcPts val="1400"/>
              </a:lnSpc>
              <a:buNone/>
            </a:pPr>
            <a:r>
              <a:rPr lang="en-US" sz="1250" dirty="0">
                <a:solidFill>
                  <a:srgbClr val="E4EBF1"/>
                </a:solidFill>
                <a:latin typeface="Calibri" pitchFamily="34" charset="0"/>
                <a:ea typeface="Calibri" pitchFamily="34" charset="-122"/>
                <a:cs typeface="Calibri" pitchFamily="34" charset="-120"/>
              </a:rPr>
              <a:t>You destructure { items } without storeToRefs. In the template…</a:t>
            </a:r>
            <a:endParaRPr lang="en-US" sz="1250" dirty="0"/>
          </a:p>
        </p:txBody>
      </p:sp>
      <p:sp>
        <p:nvSpPr>
          <p:cNvPr id="17" name="Shape 14"/>
          <p:cNvSpPr/>
          <p:nvPr/>
        </p:nvSpPr>
        <p:spPr>
          <a:xfrm>
            <a:off x="7726680" y="2697480"/>
            <a:ext cx="0" cy="548640"/>
          </a:xfrm>
          <a:prstGeom prst="line">
            <a:avLst/>
          </a:prstGeom>
          <a:noFill/>
          <a:ln w="12700">
            <a:solidFill>
              <a:srgbClr val="37506A"/>
            </a:solidFill>
            <a:prstDash val="solid"/>
          </a:ln>
        </p:spPr>
      </p:sp>
      <p:sp>
        <p:nvSpPr>
          <p:cNvPr id="18" name="Text 15"/>
          <p:cNvSpPr/>
          <p:nvPr/>
        </p:nvSpPr>
        <p:spPr>
          <a:xfrm>
            <a:off x="7909560" y="2642616"/>
            <a:ext cx="3566160" cy="658368"/>
          </a:xfrm>
          <a:prstGeom prst="rect">
            <a:avLst/>
          </a:prstGeom>
          <a:noFill/>
          <a:ln/>
        </p:spPr>
        <p:txBody>
          <a:bodyPr wrap="square" lIns="0" tIns="0" rIns="0" bIns="0" rtlCol="0" anchor="ctr"/>
          <a:lstStyle/>
          <a:p>
            <a:pPr marL="0" indent="0">
              <a:lnSpc>
                <a:spcPts val="1300"/>
              </a:lnSpc>
              <a:buNone/>
            </a:pPr>
            <a:r>
              <a:rPr lang="en-US" sz="1150" b="1" dirty="0">
                <a:solidFill>
                  <a:srgbClr val="F2C94C"/>
                </a:solidFill>
                <a:latin typeface="Calibri" pitchFamily="34" charset="0"/>
                <a:ea typeface="Calibri" pitchFamily="34" charset="-122"/>
                <a:cs typeface="Calibri" pitchFamily="34" charset="-120"/>
              </a:rPr>
              <a:t>✓  </a:t>
            </a:r>
            <a:r>
              <a:rPr lang="en-US" sz="1150" dirty="0">
                <a:solidFill>
                  <a:srgbClr val="CFE0CF"/>
                </a:solidFill>
                <a:latin typeface="Calibri" pitchFamily="34" charset="0"/>
                <a:ea typeface="Calibri" pitchFamily="34" charset="-122"/>
                <a:cs typeface="Calibri" pitchFamily="34" charset="-120"/>
              </a:rPr>
              <a:t>It's a plain value — the template never re-renders</a:t>
            </a:r>
            <a:endParaRPr lang="en-US" sz="1150" dirty="0"/>
          </a:p>
        </p:txBody>
      </p:sp>
      <p:sp>
        <p:nvSpPr>
          <p:cNvPr id="19" name="Shape 16"/>
          <p:cNvSpPr/>
          <p:nvPr/>
        </p:nvSpPr>
        <p:spPr>
          <a:xfrm>
            <a:off x="548640" y="3502152"/>
            <a:ext cx="11091672" cy="841248"/>
          </a:xfrm>
          <a:prstGeom prst="roundRect">
            <a:avLst>
              <a:gd name="adj" fmla="val 7609"/>
            </a:avLst>
          </a:prstGeom>
          <a:solidFill>
            <a:srgbClr val="243748"/>
          </a:solidFill>
          <a:ln w="12700">
            <a:solidFill>
              <a:srgbClr val="37506A"/>
            </a:solidFill>
            <a:prstDash val="solid"/>
          </a:ln>
        </p:spPr>
      </p:sp>
      <p:sp>
        <p:nvSpPr>
          <p:cNvPr id="20" name="Shape 17"/>
          <p:cNvSpPr/>
          <p:nvPr/>
        </p:nvSpPr>
        <p:spPr>
          <a:xfrm>
            <a:off x="713232" y="3721608"/>
            <a:ext cx="566928" cy="402336"/>
          </a:xfrm>
          <a:prstGeom prst="roundRect">
            <a:avLst>
              <a:gd name="adj" fmla="val 18182"/>
            </a:avLst>
          </a:prstGeom>
          <a:solidFill>
            <a:srgbClr val="E0A21B"/>
          </a:solidFill>
          <a:ln/>
        </p:spPr>
      </p:sp>
      <p:sp>
        <p:nvSpPr>
          <p:cNvPr id="21" name="Text 18"/>
          <p:cNvSpPr/>
          <p:nvPr/>
        </p:nvSpPr>
        <p:spPr>
          <a:xfrm>
            <a:off x="713232" y="3721608"/>
            <a:ext cx="56692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Q3</a:t>
            </a:r>
            <a:endParaRPr lang="en-US" sz="1300" dirty="0"/>
          </a:p>
        </p:txBody>
      </p:sp>
      <p:sp>
        <p:nvSpPr>
          <p:cNvPr id="22" name="Text 19"/>
          <p:cNvSpPr/>
          <p:nvPr/>
        </p:nvSpPr>
        <p:spPr>
          <a:xfrm>
            <a:off x="1463040" y="3593592"/>
            <a:ext cx="6035040" cy="658368"/>
          </a:xfrm>
          <a:prstGeom prst="rect">
            <a:avLst/>
          </a:prstGeom>
          <a:noFill/>
          <a:ln/>
        </p:spPr>
        <p:txBody>
          <a:bodyPr wrap="square" lIns="0" tIns="0" rIns="0" bIns="0" rtlCol="0" anchor="ctr"/>
          <a:lstStyle/>
          <a:p>
            <a:pPr marL="0" indent="0">
              <a:lnSpc>
                <a:spcPts val="1400"/>
              </a:lnSpc>
              <a:buNone/>
            </a:pPr>
            <a:r>
              <a:rPr lang="en-US" sz="1250" dirty="0">
                <a:solidFill>
                  <a:srgbClr val="E4EBF1"/>
                </a:solidFill>
                <a:latin typeface="Calibri" pitchFamily="34" charset="0"/>
                <a:ea typeface="Calibri" pitchFamily="34" charset="-122"/>
                <a:cs typeface="Calibri" pitchFamily="34" charset="-120"/>
              </a:rPr>
              <a:t>What must a Setup Store do at the end of its function?</a:t>
            </a:r>
            <a:endParaRPr lang="en-US" sz="1250" dirty="0"/>
          </a:p>
        </p:txBody>
      </p:sp>
      <p:sp>
        <p:nvSpPr>
          <p:cNvPr id="23" name="Shape 20"/>
          <p:cNvSpPr/>
          <p:nvPr/>
        </p:nvSpPr>
        <p:spPr>
          <a:xfrm>
            <a:off x="7726680" y="3648456"/>
            <a:ext cx="0" cy="548640"/>
          </a:xfrm>
          <a:prstGeom prst="line">
            <a:avLst/>
          </a:prstGeom>
          <a:noFill/>
          <a:ln w="12700">
            <a:solidFill>
              <a:srgbClr val="37506A"/>
            </a:solidFill>
            <a:prstDash val="solid"/>
          </a:ln>
        </p:spPr>
      </p:sp>
      <p:sp>
        <p:nvSpPr>
          <p:cNvPr id="24" name="Text 21"/>
          <p:cNvSpPr/>
          <p:nvPr/>
        </p:nvSpPr>
        <p:spPr>
          <a:xfrm>
            <a:off x="7909560" y="3593592"/>
            <a:ext cx="3566160" cy="658368"/>
          </a:xfrm>
          <a:prstGeom prst="rect">
            <a:avLst/>
          </a:prstGeom>
          <a:noFill/>
          <a:ln/>
        </p:spPr>
        <p:txBody>
          <a:bodyPr wrap="square" lIns="0" tIns="0" rIns="0" bIns="0" rtlCol="0" anchor="ctr"/>
          <a:lstStyle/>
          <a:p>
            <a:pPr marL="0" indent="0">
              <a:lnSpc>
                <a:spcPts val="1300"/>
              </a:lnSpc>
              <a:buNone/>
            </a:pPr>
            <a:r>
              <a:rPr lang="en-US" sz="1150" b="1" dirty="0">
                <a:solidFill>
                  <a:srgbClr val="F2C94C"/>
                </a:solidFill>
                <a:latin typeface="Calibri" pitchFamily="34" charset="0"/>
                <a:ea typeface="Calibri" pitchFamily="34" charset="-122"/>
                <a:cs typeface="Calibri" pitchFamily="34" charset="-120"/>
              </a:rPr>
              <a:t>✓  </a:t>
            </a:r>
            <a:r>
              <a:rPr lang="en-US" sz="1150" dirty="0">
                <a:solidFill>
                  <a:srgbClr val="CFE0CF"/>
                </a:solidFill>
                <a:latin typeface="Calibri" pitchFamily="34" charset="0"/>
                <a:ea typeface="Calibri" pitchFamily="34" charset="-122"/>
                <a:cs typeface="Calibri" pitchFamily="34" charset="-120"/>
              </a:rPr>
              <a:t>return everything components need</a:t>
            </a:r>
            <a:endParaRPr lang="en-US" sz="1150" dirty="0"/>
          </a:p>
        </p:txBody>
      </p:sp>
      <p:sp>
        <p:nvSpPr>
          <p:cNvPr id="25" name="Shape 22"/>
          <p:cNvSpPr/>
          <p:nvPr/>
        </p:nvSpPr>
        <p:spPr>
          <a:xfrm>
            <a:off x="548640" y="4453128"/>
            <a:ext cx="11091672" cy="841248"/>
          </a:xfrm>
          <a:prstGeom prst="roundRect">
            <a:avLst>
              <a:gd name="adj" fmla="val 7609"/>
            </a:avLst>
          </a:prstGeom>
          <a:solidFill>
            <a:srgbClr val="243748"/>
          </a:solidFill>
          <a:ln w="12700">
            <a:solidFill>
              <a:srgbClr val="37506A"/>
            </a:solidFill>
            <a:prstDash val="solid"/>
          </a:ln>
        </p:spPr>
      </p:sp>
      <p:sp>
        <p:nvSpPr>
          <p:cNvPr id="26" name="Shape 23"/>
          <p:cNvSpPr/>
          <p:nvPr/>
        </p:nvSpPr>
        <p:spPr>
          <a:xfrm>
            <a:off x="713232" y="4672584"/>
            <a:ext cx="566928" cy="402336"/>
          </a:xfrm>
          <a:prstGeom prst="roundRect">
            <a:avLst>
              <a:gd name="adj" fmla="val 18182"/>
            </a:avLst>
          </a:prstGeom>
          <a:solidFill>
            <a:srgbClr val="E0A21B"/>
          </a:solidFill>
          <a:ln/>
        </p:spPr>
      </p:sp>
      <p:sp>
        <p:nvSpPr>
          <p:cNvPr id="27" name="Text 24"/>
          <p:cNvSpPr/>
          <p:nvPr/>
        </p:nvSpPr>
        <p:spPr>
          <a:xfrm>
            <a:off x="713232" y="4672584"/>
            <a:ext cx="56692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Q4</a:t>
            </a:r>
            <a:endParaRPr lang="en-US" sz="1300" dirty="0"/>
          </a:p>
        </p:txBody>
      </p:sp>
      <p:sp>
        <p:nvSpPr>
          <p:cNvPr id="28" name="Text 25"/>
          <p:cNvSpPr/>
          <p:nvPr/>
        </p:nvSpPr>
        <p:spPr>
          <a:xfrm>
            <a:off x="1463040" y="4544568"/>
            <a:ext cx="6035040" cy="658368"/>
          </a:xfrm>
          <a:prstGeom prst="rect">
            <a:avLst/>
          </a:prstGeom>
          <a:noFill/>
          <a:ln/>
        </p:spPr>
        <p:txBody>
          <a:bodyPr wrap="square" lIns="0" tIns="0" rIns="0" bIns="0" rtlCol="0" anchor="ctr"/>
          <a:lstStyle/>
          <a:p>
            <a:pPr marL="0" indent="0">
              <a:lnSpc>
                <a:spcPts val="1400"/>
              </a:lnSpc>
              <a:buNone/>
            </a:pPr>
            <a:r>
              <a:rPr lang="en-US" sz="1250" dirty="0">
                <a:solidFill>
                  <a:srgbClr val="E4EBF1"/>
                </a:solidFill>
                <a:latin typeface="Calibri" pitchFamily="34" charset="0"/>
                <a:ea typeface="Calibri" pitchFamily="34" charset="-122"/>
                <a:cs typeface="Calibri" pitchFamily="34" charset="-120"/>
              </a:rPr>
              <a:t>$patch({ count: 5, name: 'Alice' }) vs two assignments?</a:t>
            </a:r>
            <a:endParaRPr lang="en-US" sz="1250" dirty="0"/>
          </a:p>
        </p:txBody>
      </p:sp>
      <p:sp>
        <p:nvSpPr>
          <p:cNvPr id="29" name="Shape 26"/>
          <p:cNvSpPr/>
          <p:nvPr/>
        </p:nvSpPr>
        <p:spPr>
          <a:xfrm>
            <a:off x="7726680" y="4599432"/>
            <a:ext cx="0" cy="548640"/>
          </a:xfrm>
          <a:prstGeom prst="line">
            <a:avLst/>
          </a:prstGeom>
          <a:noFill/>
          <a:ln w="12700">
            <a:solidFill>
              <a:srgbClr val="37506A"/>
            </a:solidFill>
            <a:prstDash val="solid"/>
          </a:ln>
        </p:spPr>
      </p:sp>
      <p:sp>
        <p:nvSpPr>
          <p:cNvPr id="30" name="Text 27"/>
          <p:cNvSpPr/>
          <p:nvPr/>
        </p:nvSpPr>
        <p:spPr>
          <a:xfrm>
            <a:off x="7909560" y="4544568"/>
            <a:ext cx="3566160" cy="658368"/>
          </a:xfrm>
          <a:prstGeom prst="rect">
            <a:avLst/>
          </a:prstGeom>
          <a:noFill/>
          <a:ln/>
        </p:spPr>
        <p:txBody>
          <a:bodyPr wrap="square" lIns="0" tIns="0" rIns="0" bIns="0" rtlCol="0" anchor="ctr"/>
          <a:lstStyle/>
          <a:p>
            <a:pPr marL="0" indent="0">
              <a:lnSpc>
                <a:spcPts val="1300"/>
              </a:lnSpc>
              <a:buNone/>
            </a:pPr>
            <a:r>
              <a:rPr lang="en-US" sz="1150" b="1" dirty="0">
                <a:solidFill>
                  <a:srgbClr val="F2C94C"/>
                </a:solidFill>
                <a:latin typeface="Calibri" pitchFamily="34" charset="0"/>
                <a:ea typeface="Calibri" pitchFamily="34" charset="-122"/>
                <a:cs typeface="Calibri" pitchFamily="34" charset="-120"/>
              </a:rPr>
              <a:t>✓  </a:t>
            </a:r>
            <a:r>
              <a:rPr lang="en-US" sz="1150" dirty="0">
                <a:solidFill>
                  <a:srgbClr val="CFE0CF"/>
                </a:solidFill>
                <a:latin typeface="Calibri" pitchFamily="34" charset="0"/>
                <a:ea typeface="Calibri" pitchFamily="34" charset="-122"/>
                <a:cs typeface="Calibri" pitchFamily="34" charset="-120"/>
              </a:rPr>
              <a:t>One atomic update — a single reactive trigger</a:t>
            </a:r>
            <a:endParaRPr lang="en-US" sz="1150" dirty="0"/>
          </a:p>
        </p:txBody>
      </p:sp>
      <p:sp>
        <p:nvSpPr>
          <p:cNvPr id="31" name="Shape 28"/>
          <p:cNvSpPr/>
          <p:nvPr/>
        </p:nvSpPr>
        <p:spPr>
          <a:xfrm>
            <a:off x="548640" y="5404104"/>
            <a:ext cx="11091672" cy="841248"/>
          </a:xfrm>
          <a:prstGeom prst="roundRect">
            <a:avLst>
              <a:gd name="adj" fmla="val 7609"/>
            </a:avLst>
          </a:prstGeom>
          <a:solidFill>
            <a:srgbClr val="243748"/>
          </a:solidFill>
          <a:ln w="12700">
            <a:solidFill>
              <a:srgbClr val="37506A"/>
            </a:solidFill>
            <a:prstDash val="solid"/>
          </a:ln>
        </p:spPr>
      </p:sp>
      <p:sp>
        <p:nvSpPr>
          <p:cNvPr id="32" name="Shape 29"/>
          <p:cNvSpPr/>
          <p:nvPr/>
        </p:nvSpPr>
        <p:spPr>
          <a:xfrm>
            <a:off x="713232" y="5623560"/>
            <a:ext cx="566928" cy="402336"/>
          </a:xfrm>
          <a:prstGeom prst="roundRect">
            <a:avLst>
              <a:gd name="adj" fmla="val 18182"/>
            </a:avLst>
          </a:prstGeom>
          <a:solidFill>
            <a:srgbClr val="E0A21B"/>
          </a:solidFill>
          <a:ln/>
        </p:spPr>
      </p:sp>
      <p:sp>
        <p:nvSpPr>
          <p:cNvPr id="33" name="Text 30"/>
          <p:cNvSpPr/>
          <p:nvPr/>
        </p:nvSpPr>
        <p:spPr>
          <a:xfrm>
            <a:off x="713232" y="5623560"/>
            <a:ext cx="56692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Q5</a:t>
            </a:r>
            <a:endParaRPr lang="en-US" sz="1300" dirty="0"/>
          </a:p>
        </p:txBody>
      </p:sp>
      <p:sp>
        <p:nvSpPr>
          <p:cNvPr id="34" name="Text 31"/>
          <p:cNvSpPr/>
          <p:nvPr/>
        </p:nvSpPr>
        <p:spPr>
          <a:xfrm>
            <a:off x="1463040" y="5495544"/>
            <a:ext cx="6035040" cy="658368"/>
          </a:xfrm>
          <a:prstGeom prst="rect">
            <a:avLst/>
          </a:prstGeom>
          <a:noFill/>
          <a:ln/>
        </p:spPr>
        <p:txBody>
          <a:bodyPr wrap="square" lIns="0" tIns="0" rIns="0" bIns="0" rtlCol="0" anchor="ctr"/>
          <a:lstStyle/>
          <a:p>
            <a:pPr marL="0" indent="0">
              <a:lnSpc>
                <a:spcPts val="1400"/>
              </a:lnSpc>
              <a:buNone/>
            </a:pPr>
            <a:r>
              <a:rPr lang="en-US" sz="1250" dirty="0">
                <a:solidFill>
                  <a:srgbClr val="E4EBF1"/>
                </a:solidFill>
                <a:latin typeface="Calibri" pitchFamily="34" charset="0"/>
                <a:ea typeface="Calibri" pitchFamily="34" charset="-122"/>
                <a:cs typeface="Calibri" pitchFamily="34" charset="-120"/>
              </a:rPr>
              <a:t>Why must $reset() be manual in a Setup Store?</a:t>
            </a:r>
            <a:endParaRPr lang="en-US" sz="1250" dirty="0"/>
          </a:p>
        </p:txBody>
      </p:sp>
      <p:sp>
        <p:nvSpPr>
          <p:cNvPr id="35" name="Shape 32"/>
          <p:cNvSpPr/>
          <p:nvPr/>
        </p:nvSpPr>
        <p:spPr>
          <a:xfrm>
            <a:off x="7726680" y="5550408"/>
            <a:ext cx="0" cy="548640"/>
          </a:xfrm>
          <a:prstGeom prst="line">
            <a:avLst/>
          </a:prstGeom>
          <a:noFill/>
          <a:ln w="12700">
            <a:solidFill>
              <a:srgbClr val="37506A"/>
            </a:solidFill>
            <a:prstDash val="solid"/>
          </a:ln>
        </p:spPr>
      </p:sp>
      <p:sp>
        <p:nvSpPr>
          <p:cNvPr id="36" name="Text 33"/>
          <p:cNvSpPr/>
          <p:nvPr/>
        </p:nvSpPr>
        <p:spPr>
          <a:xfrm>
            <a:off x="7909560" y="5495544"/>
            <a:ext cx="3566160" cy="658368"/>
          </a:xfrm>
          <a:prstGeom prst="rect">
            <a:avLst/>
          </a:prstGeom>
          <a:noFill/>
          <a:ln/>
        </p:spPr>
        <p:txBody>
          <a:bodyPr wrap="square" lIns="0" tIns="0" rIns="0" bIns="0" rtlCol="0" anchor="ctr"/>
          <a:lstStyle/>
          <a:p>
            <a:pPr marL="0" indent="0">
              <a:lnSpc>
                <a:spcPts val="1300"/>
              </a:lnSpc>
              <a:buNone/>
            </a:pPr>
            <a:r>
              <a:rPr lang="en-US" sz="1150" b="1" dirty="0">
                <a:solidFill>
                  <a:srgbClr val="F2C94C"/>
                </a:solidFill>
                <a:latin typeface="Calibri" pitchFamily="34" charset="0"/>
                <a:ea typeface="Calibri" pitchFamily="34" charset="-122"/>
                <a:cs typeface="Calibri" pitchFamily="34" charset="-120"/>
              </a:rPr>
              <a:t>✓  </a:t>
            </a:r>
            <a:r>
              <a:rPr lang="en-US" sz="1150" dirty="0">
                <a:solidFill>
                  <a:srgbClr val="CFE0CF"/>
                </a:solidFill>
                <a:latin typeface="Calibri" pitchFamily="34" charset="0"/>
                <a:ea typeface="Calibri" pitchFamily="34" charset="-122"/>
                <a:cs typeface="Calibri" pitchFamily="34" charset="-120"/>
              </a:rPr>
              <a:t>The setup fn runs once — Pinia can't replay it</a:t>
            </a:r>
            <a:endParaRPr lang="en-US" sz="1150" dirty="0"/>
          </a:p>
        </p:txBody>
      </p:sp>
      <p:sp>
        <p:nvSpPr>
          <p:cNvPr id="37" name="Text 34"/>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38" name="Text 35"/>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Quiz</a:t>
            </a:r>
            <a:endParaRPr lang="en-US" sz="900" dirty="0"/>
          </a:p>
        </p:txBody>
      </p:sp>
      <p:sp>
        <p:nvSpPr>
          <p:cNvPr id="39" name="Text 36"/>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B38"/>
        </a:solidFill>
        <a:effectLst/>
      </p:bgPr>
    </p:bg>
    <p:spTree>
      <p:nvGrpSpPr>
        <p:cNvPr id="1" name=""/>
        <p:cNvGrpSpPr/>
        <p:nvPr/>
      </p:nvGrpSpPr>
      <p:grpSpPr>
        <a:xfrm>
          <a:off x="0" y="0"/>
          <a:ext cx="0" cy="0"/>
          <a:chOff x="0" y="0"/>
          <a:chExt cx="0" cy="0"/>
        </a:xfrm>
      </p:grpSpPr>
      <p:sp>
        <p:nvSpPr>
          <p:cNvPr id="2" name="Shape 0"/>
          <p:cNvSpPr/>
          <p:nvPr/>
        </p:nvSpPr>
        <p:spPr>
          <a:xfrm>
            <a:off x="9418320" y="-1463040"/>
            <a:ext cx="4206240" cy="4206240"/>
          </a:xfrm>
          <a:prstGeom prst="ellipse">
            <a:avLst/>
          </a:prstGeom>
          <a:solidFill>
            <a:srgbClr val="E0A21B">
              <a:alpha val="12000"/>
            </a:srgbClr>
          </a:solidFill>
          <a:ln/>
        </p:spPr>
      </p:sp>
      <p:sp>
        <p:nvSpPr>
          <p:cNvPr id="3" name="Shape 1"/>
          <p:cNvSpPr/>
          <p:nvPr/>
        </p:nvSpPr>
        <p:spPr>
          <a:xfrm>
            <a:off x="10424160" y="4480560"/>
            <a:ext cx="3291840" cy="3291840"/>
          </a:xfrm>
          <a:prstGeom prst="ellipse">
            <a:avLst/>
          </a:prstGeom>
          <a:solidFill>
            <a:srgbClr val="42B883">
              <a:alpha val="22000"/>
            </a:srgbClr>
          </a:solidFill>
          <a:ln/>
        </p:spPr>
      </p:sp>
      <p:sp>
        <p:nvSpPr>
          <p:cNvPr id="4" name="Text 2"/>
          <p:cNvSpPr/>
          <p:nvPr/>
        </p:nvSpPr>
        <p:spPr>
          <a:xfrm>
            <a:off x="822960" y="2194560"/>
            <a:ext cx="7315200" cy="457200"/>
          </a:xfrm>
          <a:prstGeom prst="rect">
            <a:avLst/>
          </a:prstGeom>
          <a:noFill/>
          <a:ln/>
        </p:spPr>
        <p:txBody>
          <a:bodyPr wrap="square" lIns="0" tIns="0" rIns="0" bIns="0" rtlCol="0" anchor="ctr"/>
          <a:lstStyle/>
          <a:p>
            <a:pPr marL="0" indent="0">
              <a:buNone/>
            </a:pPr>
            <a:r>
              <a:rPr lang="en-US" sz="2000" b="1" kern="0" spc="600" dirty="0">
                <a:solidFill>
                  <a:srgbClr val="E0A21B"/>
                </a:solidFill>
                <a:latin typeface="Calibri" pitchFamily="34" charset="0"/>
                <a:ea typeface="Calibri" pitchFamily="34" charset="-122"/>
                <a:cs typeface="Calibri" pitchFamily="34" charset="-120"/>
              </a:rPr>
              <a:t>SESSION 11</a:t>
            </a:r>
            <a:endParaRPr lang="en-US" sz="2000" dirty="0"/>
          </a:p>
        </p:txBody>
      </p:sp>
      <p:sp>
        <p:nvSpPr>
          <p:cNvPr id="5" name="Text 3"/>
          <p:cNvSpPr/>
          <p:nvPr/>
        </p:nvSpPr>
        <p:spPr>
          <a:xfrm>
            <a:off x="777240" y="2606040"/>
            <a:ext cx="8686800" cy="914400"/>
          </a:xfrm>
          <a:prstGeom prst="rect">
            <a:avLst/>
          </a:prstGeom>
          <a:noFill/>
          <a:ln/>
        </p:spPr>
        <p:txBody>
          <a:bodyPr wrap="square" lIns="0" tIns="0" rIns="0" bIns="0"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Advanced Pinia</a:t>
            </a:r>
            <a:endParaRPr lang="en-US" sz="5000" dirty="0"/>
          </a:p>
        </p:txBody>
      </p:sp>
      <p:sp>
        <p:nvSpPr>
          <p:cNvPr id="6" name="Text 4"/>
          <p:cNvSpPr/>
          <p:nvPr/>
        </p:nvSpPr>
        <p:spPr>
          <a:xfrm>
            <a:off x="822960" y="3657600"/>
            <a:ext cx="7772400" cy="457200"/>
          </a:xfrm>
          <a:prstGeom prst="rect">
            <a:avLst/>
          </a:prstGeom>
          <a:noFill/>
          <a:ln/>
        </p:spPr>
        <p:txBody>
          <a:bodyPr wrap="square" lIns="0" tIns="0" rIns="0" bIns="0" rtlCol="0" anchor="ctr"/>
          <a:lstStyle/>
          <a:p>
            <a:pPr marL="0" indent="0">
              <a:buNone/>
            </a:pPr>
            <a:r>
              <a:rPr lang="en-US" sz="1800" dirty="0">
                <a:solidFill>
                  <a:srgbClr val="C7D4DE"/>
                </a:solidFill>
                <a:latin typeface="Calibri" pitchFamily="34" charset="0"/>
                <a:ea typeface="Calibri" pitchFamily="34" charset="-122"/>
                <a:cs typeface="Calibri" pitchFamily="34" charset="-120"/>
              </a:rPr>
              <a:t>Composition, Vue Router &amp; persistence plugins.</a:t>
            </a:r>
            <a:endParaRPr lang="en-US" sz="1800" dirty="0"/>
          </a:p>
        </p:txBody>
      </p:sp>
      <p:sp>
        <p:nvSpPr>
          <p:cNvPr id="7" name="Shape 5"/>
          <p:cNvSpPr/>
          <p:nvPr/>
        </p:nvSpPr>
        <p:spPr>
          <a:xfrm>
            <a:off x="868680" y="4471416"/>
            <a:ext cx="237744" cy="237744"/>
          </a:xfrm>
          <a:prstGeom prst="ellipse">
            <a:avLst/>
          </a:prstGeom>
          <a:solidFill>
            <a:srgbClr val="E0A21B"/>
          </a:solidFill>
          <a:ln/>
        </p:spPr>
      </p:sp>
      <p:pic>
        <p:nvPicPr>
          <p:cNvPr id="8" name="Image 0" descr="preencoded.png"/>
          <p:cNvPicPr>
            <a:picLocks noChangeAspect="1"/>
          </p:cNvPicPr>
          <p:nvPr/>
        </p:nvPicPr>
        <p:blipFill>
          <a:blip r:embed="rId3"/>
          <a:stretch>
            <a:fillRect/>
          </a:stretch>
        </p:blipFill>
        <p:spPr>
          <a:xfrm>
            <a:off x="914400" y="4517136"/>
            <a:ext cx="146304" cy="146304"/>
          </a:xfrm>
          <a:prstGeom prst="rect">
            <a:avLst/>
          </a:prstGeom>
        </p:spPr>
      </p:pic>
      <p:sp>
        <p:nvSpPr>
          <p:cNvPr id="9" name="Text 6"/>
          <p:cNvSpPr/>
          <p:nvPr/>
        </p:nvSpPr>
        <p:spPr>
          <a:xfrm>
            <a:off x="1280160" y="4389120"/>
            <a:ext cx="8229600" cy="384048"/>
          </a:xfrm>
          <a:prstGeom prst="rect">
            <a:avLst/>
          </a:prstGeom>
          <a:noFill/>
          <a:ln/>
        </p:spPr>
        <p:txBody>
          <a:bodyPr wrap="square" lIns="0" tIns="0" rIns="0" bIns="0" rtlCol="0" anchor="ctr"/>
          <a:lstStyle/>
          <a:p>
            <a:pPr marL="0" indent="0" algn="l">
              <a:buNone/>
            </a:pPr>
            <a:r>
              <a:rPr lang="en-US" sz="1450" dirty="0">
                <a:solidFill>
                  <a:srgbClr val="DCE6EC"/>
                </a:solidFill>
                <a:latin typeface="Calibri" pitchFamily="34" charset="0"/>
                <a:ea typeface="Calibri" pitchFamily="34" charset="-122"/>
                <a:cs typeface="Calibri" pitchFamily="34" charset="-120"/>
              </a:rPr>
              <a:t>Compose stores without circular dependencies</a:t>
            </a:r>
            <a:endParaRPr lang="en-US" sz="1450" dirty="0"/>
          </a:p>
        </p:txBody>
      </p:sp>
      <p:sp>
        <p:nvSpPr>
          <p:cNvPr id="10" name="Shape 7"/>
          <p:cNvSpPr/>
          <p:nvPr/>
        </p:nvSpPr>
        <p:spPr>
          <a:xfrm>
            <a:off x="868680" y="4928616"/>
            <a:ext cx="237744" cy="237744"/>
          </a:xfrm>
          <a:prstGeom prst="ellipse">
            <a:avLst/>
          </a:prstGeom>
          <a:solidFill>
            <a:srgbClr val="E0A21B"/>
          </a:solidFill>
          <a:ln/>
        </p:spPr>
      </p:sp>
      <p:pic>
        <p:nvPicPr>
          <p:cNvPr id="11" name="Image 1" descr="preencoded.png"/>
          <p:cNvPicPr>
            <a:picLocks noChangeAspect="1"/>
          </p:cNvPicPr>
          <p:nvPr/>
        </p:nvPicPr>
        <p:blipFill>
          <a:blip r:embed="rId3"/>
          <a:stretch>
            <a:fillRect/>
          </a:stretch>
        </p:blipFill>
        <p:spPr>
          <a:xfrm>
            <a:off x="914400" y="4974336"/>
            <a:ext cx="146304" cy="146304"/>
          </a:xfrm>
          <a:prstGeom prst="rect">
            <a:avLst/>
          </a:prstGeom>
        </p:spPr>
      </p:pic>
      <p:sp>
        <p:nvSpPr>
          <p:cNvPr id="12" name="Text 8"/>
          <p:cNvSpPr/>
          <p:nvPr/>
        </p:nvSpPr>
        <p:spPr>
          <a:xfrm>
            <a:off x="1280160" y="4846320"/>
            <a:ext cx="8229600" cy="384048"/>
          </a:xfrm>
          <a:prstGeom prst="rect">
            <a:avLst/>
          </a:prstGeom>
          <a:noFill/>
          <a:ln/>
        </p:spPr>
        <p:txBody>
          <a:bodyPr wrap="square" lIns="0" tIns="0" rIns="0" bIns="0" rtlCol="0" anchor="ctr"/>
          <a:lstStyle/>
          <a:p>
            <a:pPr marL="0" indent="0" algn="l">
              <a:buNone/>
            </a:pPr>
            <a:r>
              <a:rPr lang="en-US" sz="1450" dirty="0">
                <a:solidFill>
                  <a:srgbClr val="DCE6EC"/>
                </a:solidFill>
                <a:latin typeface="Calibri" pitchFamily="34" charset="0"/>
                <a:ea typeface="Calibri" pitchFamily="34" charset="-122"/>
                <a:cs typeface="Calibri" pitchFamily="34" charset="-120"/>
              </a:rPr>
              <a:t>Protect routes with stores inside guards</a:t>
            </a:r>
            <a:endParaRPr lang="en-US" sz="1450" dirty="0"/>
          </a:p>
        </p:txBody>
      </p:sp>
      <p:sp>
        <p:nvSpPr>
          <p:cNvPr id="13" name="Shape 9"/>
          <p:cNvSpPr/>
          <p:nvPr/>
        </p:nvSpPr>
        <p:spPr>
          <a:xfrm>
            <a:off x="868680" y="5385816"/>
            <a:ext cx="237744" cy="237744"/>
          </a:xfrm>
          <a:prstGeom prst="ellipse">
            <a:avLst/>
          </a:prstGeom>
          <a:solidFill>
            <a:srgbClr val="E0A21B"/>
          </a:solidFill>
          <a:ln/>
        </p:spPr>
      </p:sp>
      <p:pic>
        <p:nvPicPr>
          <p:cNvPr id="14" name="Image 2" descr="preencoded.png"/>
          <p:cNvPicPr>
            <a:picLocks noChangeAspect="1"/>
          </p:cNvPicPr>
          <p:nvPr/>
        </p:nvPicPr>
        <p:blipFill>
          <a:blip r:embed="rId3"/>
          <a:stretch>
            <a:fillRect/>
          </a:stretch>
        </p:blipFill>
        <p:spPr>
          <a:xfrm>
            <a:off x="914400" y="5431536"/>
            <a:ext cx="146304" cy="146304"/>
          </a:xfrm>
          <a:prstGeom prst="rect">
            <a:avLst/>
          </a:prstGeom>
        </p:spPr>
      </p:pic>
      <p:sp>
        <p:nvSpPr>
          <p:cNvPr id="15" name="Text 10"/>
          <p:cNvSpPr/>
          <p:nvPr/>
        </p:nvSpPr>
        <p:spPr>
          <a:xfrm>
            <a:off x="1280160" y="5303520"/>
            <a:ext cx="8229600" cy="384048"/>
          </a:xfrm>
          <a:prstGeom prst="rect">
            <a:avLst/>
          </a:prstGeom>
          <a:noFill/>
          <a:ln/>
        </p:spPr>
        <p:txBody>
          <a:bodyPr wrap="square" lIns="0" tIns="0" rIns="0" bIns="0" rtlCol="0" anchor="ctr"/>
          <a:lstStyle/>
          <a:p>
            <a:pPr marL="0" indent="0" algn="l">
              <a:buNone/>
            </a:pPr>
            <a:r>
              <a:rPr lang="en-US" sz="1450" dirty="0">
                <a:solidFill>
                  <a:srgbClr val="DCE6EC"/>
                </a:solidFill>
                <a:latin typeface="Calibri" pitchFamily="34" charset="0"/>
                <a:ea typeface="Calibri" pitchFamily="34" charset="-122"/>
                <a:cs typeface="Calibri" pitchFamily="34" charset="-120"/>
              </a:rPr>
              <a:t>Persist state automatically with a plugin</a:t>
            </a:r>
            <a:endParaRPr lang="en-US" sz="1450" dirty="0"/>
          </a:p>
        </p:txBody>
      </p:sp>
      <p:sp>
        <p:nvSpPr>
          <p:cNvPr id="16" name="Shape 11"/>
          <p:cNvSpPr/>
          <p:nvPr/>
        </p:nvSpPr>
        <p:spPr>
          <a:xfrm>
            <a:off x="9144000" y="2240280"/>
            <a:ext cx="2103120" cy="2103120"/>
          </a:xfrm>
          <a:prstGeom prst="ellipse">
            <a:avLst/>
          </a:prstGeom>
          <a:solidFill>
            <a:srgbClr val="E0A21B"/>
          </a:solidFill>
          <a:ln/>
          <a:effectLst>
            <a:outerShdw blurRad="114300" dist="38100" dir="5400000" algn="bl" rotWithShape="0">
              <a:srgbClr val="1E2B38">
                <a:alpha val="16000"/>
              </a:srgbClr>
            </a:outerShdw>
          </a:effectLst>
        </p:spPr>
      </p:sp>
      <p:pic>
        <p:nvPicPr>
          <p:cNvPr id="17" name="Image 3" descr="preencoded.png"/>
          <p:cNvPicPr>
            <a:picLocks noChangeAspect="1"/>
          </p:cNvPicPr>
          <p:nvPr/>
        </p:nvPicPr>
        <p:blipFill>
          <a:blip r:embed="rId4"/>
          <a:stretch>
            <a:fillRect/>
          </a:stretch>
        </p:blipFill>
        <p:spPr>
          <a:xfrm>
            <a:off x="9710928" y="2807208"/>
            <a:ext cx="969264" cy="969264"/>
          </a:xfrm>
          <a:prstGeom prst="rect">
            <a:avLst/>
          </a:prstGeom>
        </p:spPr>
      </p:pic>
      <p:sp>
        <p:nvSpPr>
          <p:cNvPr id="18" name="Text 12"/>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19" name="Text 13"/>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Session 11</a:t>
            </a:r>
            <a:endParaRPr lang="en-US" sz="900" dirty="0"/>
          </a:p>
        </p:txBody>
      </p:sp>
      <p:sp>
        <p:nvSpPr>
          <p:cNvPr id="20" name="Text 14"/>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E0922F"/>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C77F22"/>
                </a:solidFill>
                <a:latin typeface="Calibri" pitchFamily="34" charset="0"/>
                <a:ea typeface="Calibri" pitchFamily="34" charset="-122"/>
                <a:cs typeface="Calibri" pitchFamily="34" charset="-120"/>
              </a:rPr>
              <a:t>WARM-UP · 0:00–6:00 · WHITEBOARD</a:t>
            </a:r>
            <a:endParaRPr lang="en-US" sz="1200" dirty="0"/>
          </a:p>
        </p:txBody>
      </p:sp>
      <p:sp>
        <p:nvSpPr>
          <p:cNvPr id="5" name="Text 2"/>
          <p:cNvSpPr/>
          <p:nvPr/>
        </p:nvSpPr>
        <p:spPr>
          <a:xfrm>
            <a:off x="1298448" y="713232"/>
            <a:ext cx="10058400" cy="566928"/>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Split the God Store</a:t>
            </a:r>
            <a:endParaRPr lang="en-US" sz="2800" dirty="0"/>
          </a:p>
        </p:txBody>
      </p:sp>
      <p:sp>
        <p:nvSpPr>
          <p:cNvPr id="6" name="Shape 3"/>
          <p:cNvSpPr/>
          <p:nvPr/>
        </p:nvSpPr>
        <p:spPr>
          <a:xfrm>
            <a:off x="548640" y="1463040"/>
            <a:ext cx="6583680" cy="2949956"/>
          </a:xfrm>
          <a:prstGeom prst="roundRect">
            <a:avLst>
              <a:gd name="adj" fmla="val 2790"/>
            </a:avLst>
          </a:prstGeom>
          <a:solidFill>
            <a:srgbClr val="1B2832"/>
          </a:solidFill>
          <a:ln/>
          <a:effectLst>
            <a:outerShdw blurRad="114300" dist="38100" dir="5400000" algn="bl" rotWithShape="0">
              <a:srgbClr val="1E2B38">
                <a:alpha val="16000"/>
              </a:srgbClr>
            </a:outerShdw>
          </a:effectLst>
        </p:spPr>
      </p:sp>
      <p:sp>
        <p:nvSpPr>
          <p:cNvPr id="7" name="Text 4"/>
          <p:cNvSpPr/>
          <p:nvPr/>
        </p:nvSpPr>
        <p:spPr>
          <a:xfrm>
            <a:off x="749808" y="1499616"/>
            <a:ext cx="6181344" cy="2876804"/>
          </a:xfrm>
          <a:prstGeom prst="rect">
            <a:avLst/>
          </a:prstGeom>
          <a:noFill/>
          <a:ln/>
        </p:spPr>
        <p:txBody>
          <a:bodyPr wrap="square" lIns="0" tIns="0" rIns="0" bIns="0" rtlCol="0" anchor="t"/>
          <a:lstStyle/>
          <a:p>
            <a:pPr marL="0" indent="0" algn="l">
              <a:lnSpc>
                <a:spcPts val="1474"/>
              </a:lnSpc>
              <a:buNone/>
            </a:pPr>
            <a:r>
              <a:rPr lang="en-US" sz="1100" dirty="0">
                <a:solidFill>
                  <a:srgbClr val="6E8694"/>
                </a:solidFill>
                <a:latin typeface="Courier New" pitchFamily="34" charset="0"/>
                <a:ea typeface="Courier New" pitchFamily="34" charset="-122"/>
                <a:cs typeface="Courier New" pitchFamily="34" charset="-120"/>
              </a:rPr>
              <a:t>// ❌ One giant store — too many responsibilities</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export const useAppStore = defineStore('app', () =&gt; {</a:t>
            </a:r>
            <a:endParaRPr lang="en-US" sz="1100" dirty="0"/>
          </a:p>
          <a:p>
            <a:pPr marL="0" indent="0" algn="l">
              <a:lnSpc>
                <a:spcPts val="1474"/>
              </a:lnSpc>
              <a:buNone/>
            </a:pPr>
            <a:r>
              <a:rPr lang="en-US" sz="1100" dirty="0">
                <a:solidFill>
                  <a:srgbClr val="6E8694"/>
                </a:solidFill>
                <a:latin typeface="Courier New" pitchFamily="34" charset="0"/>
                <a:ea typeface="Courier New" pitchFamily="34" charset="-122"/>
                <a:cs typeface="Courier New" pitchFamily="34" charset="-120"/>
              </a:rPr>
              <a:t>  // Auth</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const user = ref(null); const token = ref(null)</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async function login(email, pw) { ... }</a:t>
            </a:r>
            <a:endParaRPr lang="en-US" sz="1100" dirty="0"/>
          </a:p>
          <a:p>
            <a:pPr marL="0" indent="0" algn="l">
              <a:lnSpc>
                <a:spcPts val="1474"/>
              </a:lnSpc>
              <a:buNone/>
            </a:pPr>
            <a:r>
              <a:rPr lang="en-US" sz="1100" dirty="0">
                <a:solidFill>
                  <a:srgbClr val="6E8694"/>
                </a:solidFill>
                <a:latin typeface="Courier New" pitchFamily="34" charset="0"/>
                <a:ea typeface="Courier New" pitchFamily="34" charset="-122"/>
                <a:cs typeface="Courier New" pitchFamily="34" charset="-120"/>
              </a:rPr>
              <a:t>  // Shopping cart</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const cartItems = ref([])</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function addToCart(item) { ... }</a:t>
            </a:r>
            <a:endParaRPr lang="en-US" sz="1100" dirty="0"/>
          </a:p>
          <a:p>
            <a:pPr marL="0" indent="0" algn="l">
              <a:lnSpc>
                <a:spcPts val="1474"/>
              </a:lnSpc>
              <a:buNone/>
            </a:pPr>
            <a:r>
              <a:rPr lang="en-US" sz="1100" dirty="0">
                <a:solidFill>
                  <a:srgbClr val="6E8694"/>
                </a:solidFill>
                <a:latin typeface="Courier New" pitchFamily="34" charset="0"/>
                <a:ea typeface="Courier New" pitchFamily="34" charset="-122"/>
                <a:cs typeface="Courier New" pitchFamily="34" charset="-120"/>
              </a:rPr>
              <a:t>  // UI state</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const isSidebarOpen = ref(false)</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const theme = ref('light')</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function openModal(name) { ... }</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return { /* ...everything... */ }</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a:t>
            </a:r>
            <a:endParaRPr lang="en-US" sz="1100" dirty="0"/>
          </a:p>
        </p:txBody>
      </p:sp>
      <p:sp>
        <p:nvSpPr>
          <p:cNvPr id="8" name="Shape 5"/>
          <p:cNvSpPr/>
          <p:nvPr/>
        </p:nvSpPr>
        <p:spPr>
          <a:xfrm>
            <a:off x="7360920" y="1463040"/>
            <a:ext cx="4279392" cy="3246120"/>
          </a:xfrm>
          <a:prstGeom prst="roundRect">
            <a:avLst>
              <a:gd name="adj" fmla="val 2535"/>
            </a:avLst>
          </a:prstGeom>
          <a:solidFill>
            <a:srgbClr val="F4F7F9"/>
          </a:solidFill>
          <a:ln w="12700">
            <a:solidFill>
              <a:srgbClr val="DCE5EB"/>
            </a:solidFill>
            <a:prstDash val="solid"/>
          </a:ln>
          <a:effectLst>
            <a:outerShdw blurRad="88900" dist="25400" dir="5400000" algn="bl" rotWithShape="0">
              <a:srgbClr val="35495E">
                <a:alpha val="13000"/>
              </a:srgbClr>
            </a:outerShdw>
          </a:effectLst>
        </p:spPr>
      </p:sp>
      <p:sp>
        <p:nvSpPr>
          <p:cNvPr id="9" name="Text 6"/>
          <p:cNvSpPr/>
          <p:nvPr/>
        </p:nvSpPr>
        <p:spPr>
          <a:xfrm>
            <a:off x="7589520" y="1627632"/>
            <a:ext cx="3840480" cy="329184"/>
          </a:xfrm>
          <a:prstGeom prst="rect">
            <a:avLst/>
          </a:prstGeom>
          <a:noFill/>
          <a:ln/>
        </p:spPr>
        <p:txBody>
          <a:bodyPr wrap="square" lIns="0" tIns="0" rIns="0" bIns="0" rtlCol="0" anchor="ctr"/>
          <a:lstStyle/>
          <a:p>
            <a:pPr marL="0" indent="0">
              <a:buNone/>
            </a:pPr>
            <a:r>
              <a:rPr lang="en-US" sz="1350" b="1" dirty="0">
                <a:solidFill>
                  <a:srgbClr val="A6760C"/>
                </a:solidFill>
                <a:latin typeface="Calibri" pitchFamily="34" charset="0"/>
                <a:ea typeface="Calibri" pitchFamily="34" charset="-122"/>
                <a:cs typeface="Calibri" pitchFamily="34" charset="-120"/>
              </a:rPr>
              <a:t>Sketch it out (2 min)</a:t>
            </a:r>
            <a:endParaRPr lang="en-US" sz="1350" dirty="0"/>
          </a:p>
        </p:txBody>
      </p:sp>
      <p:sp>
        <p:nvSpPr>
          <p:cNvPr id="10" name="Text 7"/>
          <p:cNvSpPr/>
          <p:nvPr/>
        </p:nvSpPr>
        <p:spPr>
          <a:xfrm>
            <a:off x="7589520" y="1993392"/>
            <a:ext cx="3840480" cy="548640"/>
          </a:xfrm>
          <a:prstGeom prst="rect">
            <a:avLst/>
          </a:prstGeom>
          <a:noFill/>
          <a:ln/>
        </p:spPr>
        <p:txBody>
          <a:bodyPr wrap="square" lIns="0" tIns="0" rIns="0" bIns="0" rtlCol="0" anchor="t"/>
          <a:lstStyle/>
          <a:p>
            <a:pPr marL="0" indent="0">
              <a:lnSpc>
                <a:spcPts val="1400"/>
              </a:lnSpc>
              <a:buNone/>
            </a:pPr>
            <a:r>
              <a:rPr lang="en-US" sz="1200" dirty="0">
                <a:solidFill>
                  <a:srgbClr val="6B7C8C"/>
                </a:solidFill>
                <a:latin typeface="Calibri" pitchFamily="34" charset="0"/>
                <a:ea typeface="Calibri" pitchFamily="34" charset="-122"/>
                <a:cs typeface="Calibri" pitchFamily="34" charset="-120"/>
              </a:rPr>
              <a:t>Split this into three focused stores. Name each and list what it owns:</a:t>
            </a:r>
            <a:endParaRPr lang="en-US" sz="1200" dirty="0"/>
          </a:p>
        </p:txBody>
      </p:sp>
      <p:sp>
        <p:nvSpPr>
          <p:cNvPr id="11" name="Shape 8"/>
          <p:cNvSpPr/>
          <p:nvPr/>
        </p:nvSpPr>
        <p:spPr>
          <a:xfrm>
            <a:off x="7589520" y="2825496"/>
            <a:ext cx="237744" cy="237744"/>
          </a:xfrm>
          <a:prstGeom prst="ellipse">
            <a:avLst/>
          </a:prstGeom>
          <a:solidFill>
            <a:srgbClr val="42B883"/>
          </a:solidFill>
          <a:ln/>
        </p:spPr>
      </p:sp>
      <p:pic>
        <p:nvPicPr>
          <p:cNvPr id="12" name="Image 1" descr="preencoded.png"/>
          <p:cNvPicPr>
            <a:picLocks noChangeAspect="1"/>
          </p:cNvPicPr>
          <p:nvPr/>
        </p:nvPicPr>
        <p:blipFill>
          <a:blip r:embed="rId4"/>
          <a:stretch>
            <a:fillRect/>
          </a:stretch>
        </p:blipFill>
        <p:spPr>
          <a:xfrm>
            <a:off x="7635240" y="2871216"/>
            <a:ext cx="146304" cy="146304"/>
          </a:xfrm>
          <a:prstGeom prst="rect">
            <a:avLst/>
          </a:prstGeom>
        </p:spPr>
      </p:pic>
      <p:sp>
        <p:nvSpPr>
          <p:cNvPr id="13" name="Text 9"/>
          <p:cNvSpPr/>
          <p:nvPr/>
        </p:nvSpPr>
        <p:spPr>
          <a:xfrm>
            <a:off x="7918704" y="2752344"/>
            <a:ext cx="3566160" cy="457200"/>
          </a:xfrm>
          <a:prstGeom prst="rect">
            <a:avLst/>
          </a:prstGeom>
          <a:noFill/>
          <a:ln/>
        </p:spPr>
        <p:txBody>
          <a:bodyPr wrap="square" lIns="0" tIns="0" rIns="0" bIns="0" rtlCol="0" anchor="t"/>
          <a:lstStyle/>
          <a:p>
            <a:pPr marL="0" indent="0">
              <a:lnSpc>
                <a:spcPts val="1300"/>
              </a:lnSpc>
              <a:buNone/>
            </a:pPr>
            <a:r>
              <a:rPr lang="en-US" sz="1150" b="1" dirty="0">
                <a:solidFill>
                  <a:srgbClr val="2C3E50"/>
                </a:solidFill>
                <a:latin typeface="Courier New" pitchFamily="34" charset="0"/>
                <a:ea typeface="Courier New" pitchFamily="34" charset="-122"/>
                <a:cs typeface="Courier New" pitchFamily="34" charset="-120"/>
              </a:rPr>
              <a:t>useAuthStore  </a:t>
            </a:r>
            <a:r>
              <a:rPr lang="en-US" sz="1150" dirty="0">
                <a:solidFill>
                  <a:srgbClr val="6B7C8C"/>
                </a:solidFill>
                <a:latin typeface="Calibri" pitchFamily="34" charset="0"/>
                <a:ea typeface="Calibri" pitchFamily="34" charset="-122"/>
                <a:cs typeface="Calibri" pitchFamily="34" charset="-120"/>
              </a:rPr>
              <a:t>— user · token · login · logout</a:t>
            </a:r>
            <a:endParaRPr lang="en-US" sz="1150" dirty="0"/>
          </a:p>
        </p:txBody>
      </p:sp>
      <p:sp>
        <p:nvSpPr>
          <p:cNvPr id="14" name="Shape 10"/>
          <p:cNvSpPr/>
          <p:nvPr/>
        </p:nvSpPr>
        <p:spPr>
          <a:xfrm>
            <a:off x="7589520" y="3429000"/>
            <a:ext cx="237744" cy="237744"/>
          </a:xfrm>
          <a:prstGeom prst="ellipse">
            <a:avLst/>
          </a:prstGeom>
          <a:solidFill>
            <a:srgbClr val="42B883"/>
          </a:solidFill>
          <a:ln/>
        </p:spPr>
      </p:sp>
      <p:pic>
        <p:nvPicPr>
          <p:cNvPr id="15" name="Image 2" descr="preencoded.png"/>
          <p:cNvPicPr>
            <a:picLocks noChangeAspect="1"/>
          </p:cNvPicPr>
          <p:nvPr/>
        </p:nvPicPr>
        <p:blipFill>
          <a:blip r:embed="rId4"/>
          <a:stretch>
            <a:fillRect/>
          </a:stretch>
        </p:blipFill>
        <p:spPr>
          <a:xfrm>
            <a:off x="7635240" y="3474720"/>
            <a:ext cx="146304" cy="146304"/>
          </a:xfrm>
          <a:prstGeom prst="rect">
            <a:avLst/>
          </a:prstGeom>
        </p:spPr>
      </p:pic>
      <p:sp>
        <p:nvSpPr>
          <p:cNvPr id="16" name="Text 11"/>
          <p:cNvSpPr/>
          <p:nvPr/>
        </p:nvSpPr>
        <p:spPr>
          <a:xfrm>
            <a:off x="7918704" y="3355848"/>
            <a:ext cx="3566160" cy="457200"/>
          </a:xfrm>
          <a:prstGeom prst="rect">
            <a:avLst/>
          </a:prstGeom>
          <a:noFill/>
          <a:ln/>
        </p:spPr>
        <p:txBody>
          <a:bodyPr wrap="square" lIns="0" tIns="0" rIns="0" bIns="0" rtlCol="0" anchor="t"/>
          <a:lstStyle/>
          <a:p>
            <a:pPr marL="0" indent="0">
              <a:lnSpc>
                <a:spcPts val="1300"/>
              </a:lnSpc>
              <a:buNone/>
            </a:pPr>
            <a:r>
              <a:rPr lang="en-US" sz="1150" b="1" dirty="0">
                <a:solidFill>
                  <a:srgbClr val="2C3E50"/>
                </a:solidFill>
                <a:latin typeface="Courier New" pitchFamily="34" charset="0"/>
                <a:ea typeface="Courier New" pitchFamily="34" charset="-122"/>
                <a:cs typeface="Courier New" pitchFamily="34" charset="-120"/>
              </a:rPr>
              <a:t>useCartStore  </a:t>
            </a:r>
            <a:r>
              <a:rPr lang="en-US" sz="1150" dirty="0">
                <a:solidFill>
                  <a:srgbClr val="6B7C8C"/>
                </a:solidFill>
                <a:latin typeface="Calibri" pitchFamily="34" charset="0"/>
                <a:ea typeface="Calibri" pitchFamily="34" charset="-122"/>
                <a:cs typeface="Calibri" pitchFamily="34" charset="-120"/>
              </a:rPr>
              <a:t>— items · total · addToCart</a:t>
            </a:r>
            <a:endParaRPr lang="en-US" sz="1150" dirty="0"/>
          </a:p>
        </p:txBody>
      </p:sp>
      <p:sp>
        <p:nvSpPr>
          <p:cNvPr id="17" name="Shape 12"/>
          <p:cNvSpPr/>
          <p:nvPr/>
        </p:nvSpPr>
        <p:spPr>
          <a:xfrm>
            <a:off x="7589520" y="4032504"/>
            <a:ext cx="237744" cy="237744"/>
          </a:xfrm>
          <a:prstGeom prst="ellipse">
            <a:avLst/>
          </a:prstGeom>
          <a:solidFill>
            <a:srgbClr val="42B883"/>
          </a:solidFill>
          <a:ln/>
        </p:spPr>
      </p:sp>
      <p:pic>
        <p:nvPicPr>
          <p:cNvPr id="18" name="Image 3" descr="preencoded.png"/>
          <p:cNvPicPr>
            <a:picLocks noChangeAspect="1"/>
          </p:cNvPicPr>
          <p:nvPr/>
        </p:nvPicPr>
        <p:blipFill>
          <a:blip r:embed="rId4"/>
          <a:stretch>
            <a:fillRect/>
          </a:stretch>
        </p:blipFill>
        <p:spPr>
          <a:xfrm>
            <a:off x="7635240" y="4078224"/>
            <a:ext cx="146304" cy="146304"/>
          </a:xfrm>
          <a:prstGeom prst="rect">
            <a:avLst/>
          </a:prstGeom>
        </p:spPr>
      </p:pic>
      <p:sp>
        <p:nvSpPr>
          <p:cNvPr id="19" name="Text 13"/>
          <p:cNvSpPr/>
          <p:nvPr/>
        </p:nvSpPr>
        <p:spPr>
          <a:xfrm>
            <a:off x="7918704" y="3959352"/>
            <a:ext cx="3566160" cy="457200"/>
          </a:xfrm>
          <a:prstGeom prst="rect">
            <a:avLst/>
          </a:prstGeom>
          <a:noFill/>
          <a:ln/>
        </p:spPr>
        <p:txBody>
          <a:bodyPr wrap="square" lIns="0" tIns="0" rIns="0" bIns="0" rtlCol="0" anchor="t"/>
          <a:lstStyle/>
          <a:p>
            <a:pPr marL="0" indent="0">
              <a:lnSpc>
                <a:spcPts val="1300"/>
              </a:lnSpc>
              <a:buNone/>
            </a:pPr>
            <a:r>
              <a:rPr lang="en-US" sz="1150" b="1" dirty="0">
                <a:solidFill>
                  <a:srgbClr val="2C3E50"/>
                </a:solidFill>
                <a:latin typeface="Courier New" pitchFamily="34" charset="0"/>
                <a:ea typeface="Courier New" pitchFamily="34" charset="-122"/>
                <a:cs typeface="Courier New" pitchFamily="34" charset="-120"/>
              </a:rPr>
              <a:t>useUIStore  </a:t>
            </a:r>
            <a:r>
              <a:rPr lang="en-US" sz="1150" dirty="0">
                <a:solidFill>
                  <a:srgbClr val="6B7C8C"/>
                </a:solidFill>
                <a:latin typeface="Calibri" pitchFamily="34" charset="0"/>
                <a:ea typeface="Calibri" pitchFamily="34" charset="-122"/>
                <a:cs typeface="Calibri" pitchFamily="34" charset="-120"/>
              </a:rPr>
              <a:t>— sidebar · theme · modals</a:t>
            </a:r>
            <a:endParaRPr lang="en-US" sz="1150" dirty="0"/>
          </a:p>
        </p:txBody>
      </p:sp>
      <p:sp>
        <p:nvSpPr>
          <p:cNvPr id="20" name="Shape 14"/>
          <p:cNvSpPr/>
          <p:nvPr/>
        </p:nvSpPr>
        <p:spPr>
          <a:xfrm>
            <a:off x="548640" y="4937760"/>
            <a:ext cx="11091672" cy="1152144"/>
          </a:xfrm>
          <a:prstGeom prst="roundRect">
            <a:avLst>
              <a:gd name="adj" fmla="val 5556"/>
            </a:avLst>
          </a:prstGeom>
          <a:solidFill>
            <a:srgbClr val="EAF0F6"/>
          </a:solidFill>
          <a:ln/>
          <a:effectLst>
            <a:outerShdw blurRad="88900" dist="25400" dir="5400000" algn="bl" rotWithShape="0">
              <a:srgbClr val="35495E">
                <a:alpha val="13000"/>
              </a:srgbClr>
            </a:outerShdw>
          </a:effectLst>
        </p:spPr>
      </p:sp>
      <p:sp>
        <p:nvSpPr>
          <p:cNvPr id="21" name="Shape 15"/>
          <p:cNvSpPr/>
          <p:nvPr/>
        </p:nvSpPr>
        <p:spPr>
          <a:xfrm>
            <a:off x="749808" y="5138928"/>
            <a:ext cx="457200" cy="457200"/>
          </a:xfrm>
          <a:prstGeom prst="ellipse">
            <a:avLst/>
          </a:prstGeom>
          <a:solidFill>
            <a:srgbClr val="35495E"/>
          </a:solidFill>
          <a:ln/>
          <a:effectLst>
            <a:outerShdw blurRad="88900" dist="25400" dir="5400000" algn="bl" rotWithShape="0">
              <a:srgbClr val="35495E">
                <a:alpha val="13000"/>
              </a:srgbClr>
            </a:outerShdw>
          </a:effectLst>
        </p:spPr>
      </p:sp>
      <p:pic>
        <p:nvPicPr>
          <p:cNvPr id="22" name="Image 4" descr="preencoded.png"/>
          <p:cNvPicPr>
            <a:picLocks noChangeAspect="1"/>
          </p:cNvPicPr>
          <p:nvPr/>
        </p:nvPicPr>
        <p:blipFill>
          <a:blip r:embed="rId5"/>
          <a:stretch>
            <a:fillRect/>
          </a:stretch>
        </p:blipFill>
        <p:spPr>
          <a:xfrm>
            <a:off x="873252" y="5262372"/>
            <a:ext cx="210312" cy="210312"/>
          </a:xfrm>
          <a:prstGeom prst="rect">
            <a:avLst/>
          </a:prstGeom>
        </p:spPr>
      </p:pic>
      <p:sp>
        <p:nvSpPr>
          <p:cNvPr id="23" name="Text 16"/>
          <p:cNvSpPr/>
          <p:nvPr/>
        </p:nvSpPr>
        <p:spPr>
          <a:xfrm>
            <a:off x="1335024" y="5102352"/>
            <a:ext cx="10131552" cy="310896"/>
          </a:xfrm>
          <a:prstGeom prst="rect">
            <a:avLst/>
          </a:prstGeom>
          <a:noFill/>
          <a:ln/>
        </p:spPr>
        <p:txBody>
          <a:bodyPr wrap="square" lIns="0" tIns="0" rIns="0" bIns="0" rtlCol="0" anchor="ctr"/>
          <a:lstStyle/>
          <a:p>
            <a:pPr marL="0" indent="0" algn="l">
              <a:buNone/>
            </a:pPr>
            <a:r>
              <a:rPr lang="en-US" sz="1400" b="1" dirty="0">
                <a:solidFill>
                  <a:srgbClr val="35495E"/>
                </a:solidFill>
                <a:latin typeface="Calibri" pitchFamily="34" charset="0"/>
                <a:ea typeface="Calibri" pitchFamily="34" charset="-122"/>
                <a:cs typeface="Calibri" pitchFamily="34" charset="-120"/>
              </a:rPr>
              <a:t>Teaching goal — Single Responsibility</a:t>
            </a:r>
            <a:endParaRPr lang="en-US" sz="1400" dirty="0"/>
          </a:p>
        </p:txBody>
      </p:sp>
      <p:sp>
        <p:nvSpPr>
          <p:cNvPr id="24" name="Text 17"/>
          <p:cNvSpPr/>
          <p:nvPr/>
        </p:nvSpPr>
        <p:spPr>
          <a:xfrm>
            <a:off x="1335024" y="5413248"/>
            <a:ext cx="10131552" cy="548640"/>
          </a:xfrm>
          <a:prstGeom prst="rect">
            <a:avLst/>
          </a:prstGeom>
          <a:noFill/>
          <a:ln/>
        </p:spPr>
        <p:txBody>
          <a:bodyPr wrap="square" lIns="0" tIns="0" rIns="0" bIns="0" rtlCol="0" anchor="t"/>
          <a:lstStyle/>
          <a:p>
            <a:pPr marL="0" indent="0" algn="l">
              <a:lnSpc>
                <a:spcPts val="1600"/>
              </a:lnSpc>
              <a:buNone/>
            </a:pPr>
            <a:r>
              <a:rPr lang="en-US" sz="1250" dirty="0">
                <a:solidFill>
                  <a:srgbClr val="2C3E50"/>
                </a:solidFill>
                <a:latin typeface="Calibri" pitchFamily="34" charset="0"/>
                <a:ea typeface="Calibri" pitchFamily="34" charset="-122"/>
                <a:cs typeface="Calibri" pitchFamily="34" charset="-120"/>
              </a:rPr>
              <a:t>Each store owns one domain. Smaller stores are easier to test, easier to debug, and can be lazy-loaded when not always needed.</a:t>
            </a:r>
            <a:endParaRPr lang="en-US" sz="1250" dirty="0"/>
          </a:p>
        </p:txBody>
      </p:sp>
      <p:sp>
        <p:nvSpPr>
          <p:cNvPr id="25" name="Text 18"/>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26" name="Text 19"/>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Warm-Up</a:t>
            </a:r>
            <a:endParaRPr lang="en-US" sz="900" dirty="0"/>
          </a:p>
        </p:txBody>
      </p:sp>
      <p:sp>
        <p:nvSpPr>
          <p:cNvPr id="27" name="Text 20"/>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A6760C"/>
                </a:solidFill>
                <a:latin typeface="Calibri" pitchFamily="34" charset="0"/>
                <a:ea typeface="Calibri" pitchFamily="34" charset="-122"/>
                <a:cs typeface="Calibri" pitchFamily="34" charset="-120"/>
              </a:rPr>
              <a:t>THEORY · COMPOSITION · 6:00–22:00</a:t>
            </a:r>
            <a:endParaRPr lang="en-US" sz="1200" dirty="0"/>
          </a:p>
        </p:txBody>
      </p:sp>
      <p:sp>
        <p:nvSpPr>
          <p:cNvPr id="5" name="Text 2"/>
          <p:cNvSpPr/>
          <p:nvPr/>
        </p:nvSpPr>
        <p:spPr>
          <a:xfrm>
            <a:off x="1298448" y="713232"/>
            <a:ext cx="10332720" cy="566928"/>
          </a:xfrm>
          <a:prstGeom prst="rect">
            <a:avLst/>
          </a:prstGeom>
          <a:noFill/>
          <a:ln/>
        </p:spPr>
        <p:txBody>
          <a:bodyPr wrap="square" lIns="0" tIns="0" rIns="0" bIns="0" rtlCol="0" anchor="ctr"/>
          <a:lstStyle/>
          <a:p>
            <a:pPr marL="0" indent="0" algn="l">
              <a:buNone/>
            </a:pPr>
            <a:r>
              <a:rPr lang="en-US" sz="2800" b="1" dirty="0">
                <a:solidFill>
                  <a:srgbClr val="2C3E50"/>
                </a:solidFill>
                <a:latin typeface="Cambria" pitchFamily="34" charset="0"/>
                <a:ea typeface="Cambria" pitchFamily="34" charset="-122"/>
                <a:cs typeface="Cambria" pitchFamily="34" charset="-120"/>
              </a:rPr>
              <a:t>Calling One Store From Another</a:t>
            </a:r>
            <a:endParaRPr lang="en-US" sz="2800" dirty="0"/>
          </a:p>
        </p:txBody>
      </p:sp>
      <p:sp>
        <p:nvSpPr>
          <p:cNvPr id="6" name="Text 3"/>
          <p:cNvSpPr/>
          <p:nvPr/>
        </p:nvSpPr>
        <p:spPr>
          <a:xfrm>
            <a:off x="548640" y="1298448"/>
            <a:ext cx="11064240" cy="365760"/>
          </a:xfrm>
          <a:prstGeom prst="rect">
            <a:avLst/>
          </a:prstGeom>
          <a:noFill/>
          <a:ln/>
        </p:spPr>
        <p:txBody>
          <a:bodyPr wrap="square" lIns="0" tIns="0" rIns="0" bIns="0" rtlCol="0" anchor="ctr"/>
          <a:lstStyle/>
          <a:p>
            <a:pPr marL="0" indent="0">
              <a:buNone/>
            </a:pPr>
            <a:r>
              <a:rPr lang="en-US" sz="1300" dirty="0">
                <a:solidFill>
                  <a:srgbClr val="6B7C8C"/>
                </a:solidFill>
                <a:latin typeface="Calibri" pitchFamily="34" charset="0"/>
                <a:ea typeface="Calibri" pitchFamily="34" charset="-122"/>
                <a:cs typeface="Calibri" pitchFamily="34" charset="-120"/>
              </a:rPr>
              <a:t>Stores are just composables — one store can use another for cross-store coordination, with no tight coupling.</a:t>
            </a:r>
            <a:endParaRPr lang="en-US" sz="1300" dirty="0"/>
          </a:p>
        </p:txBody>
      </p:sp>
      <p:sp>
        <p:nvSpPr>
          <p:cNvPr id="7" name="Shape 4"/>
          <p:cNvSpPr/>
          <p:nvPr/>
        </p:nvSpPr>
        <p:spPr>
          <a:xfrm>
            <a:off x="548640" y="1783080"/>
            <a:ext cx="11091672" cy="3885946"/>
          </a:xfrm>
          <a:prstGeom prst="roundRect">
            <a:avLst>
              <a:gd name="adj" fmla="val 2118"/>
            </a:avLst>
          </a:prstGeom>
          <a:solidFill>
            <a:srgbClr val="1B2832"/>
          </a:solidFill>
          <a:ln/>
          <a:effectLst>
            <a:outerShdw blurRad="114300" dist="38100" dir="5400000" algn="bl" rotWithShape="0">
              <a:srgbClr val="1E2B38">
                <a:alpha val="16000"/>
              </a:srgbClr>
            </a:outerShdw>
          </a:effectLst>
        </p:spPr>
      </p:sp>
      <p:sp>
        <p:nvSpPr>
          <p:cNvPr id="8" name="Text 5"/>
          <p:cNvSpPr/>
          <p:nvPr/>
        </p:nvSpPr>
        <p:spPr>
          <a:xfrm>
            <a:off x="749808" y="1819656"/>
            <a:ext cx="10689336" cy="3812794"/>
          </a:xfrm>
          <a:prstGeom prst="rect">
            <a:avLst/>
          </a:prstGeom>
          <a:noFill/>
          <a:ln/>
        </p:spPr>
        <p:txBody>
          <a:bodyPr wrap="square" lIns="0" tIns="0" rIns="0" bIns="0" rtlCol="0" anchor="t"/>
          <a:lstStyle/>
          <a:p>
            <a:pPr marL="0" indent="0" algn="l">
              <a:lnSpc>
                <a:spcPts val="1474"/>
              </a:lnSpc>
              <a:buNone/>
            </a:pPr>
            <a:r>
              <a:rPr lang="en-US" sz="1100" dirty="0">
                <a:solidFill>
                  <a:srgbClr val="6E8694"/>
                </a:solidFill>
                <a:latin typeface="Courier New" pitchFamily="34" charset="0"/>
                <a:ea typeface="Courier New" pitchFamily="34" charset="-122"/>
                <a:cs typeface="Courier New" pitchFamily="34" charset="-120"/>
              </a:rPr>
              <a:t>// src/stores/order.js</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import { useCartStore } from './cart'</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import { useAuthStore } from './auth'</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export const useOrderStore = defineStore('order', () =&gt; {</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const orders = ref([])</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async function placeOrder() {</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const cart = useCartStore()   // call INSIDE the function</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const auth = useAuthStore()   // not at module top level</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if (!auth.isLoggedIn)       throw new Error('Must log in')</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if (cart.items.length === 0) throw new Error('Cart empty')</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const order = await api.post('/orders', {</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userId: auth.user.id, items: cart.items, total: cart.total })</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orders.value.push(order)</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cart.$reset()                 // clear cart after success</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return { orders, placeOrder }</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a:t>
            </a:r>
            <a:endParaRPr lang="en-US" sz="1100" dirty="0"/>
          </a:p>
        </p:txBody>
      </p:sp>
      <p:sp>
        <p:nvSpPr>
          <p:cNvPr id="9" name="Text 6"/>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10" name="Text 7"/>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Composition</a:t>
            </a:r>
            <a:endParaRPr lang="en-US" sz="900" dirty="0"/>
          </a:p>
        </p:txBody>
      </p:sp>
      <p:sp>
        <p:nvSpPr>
          <p:cNvPr id="11" name="Text 8"/>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A6760C"/>
                </a:solidFill>
                <a:latin typeface="Calibri" pitchFamily="34" charset="0"/>
                <a:ea typeface="Calibri" pitchFamily="34" charset="-122"/>
                <a:cs typeface="Calibri" pitchFamily="34" charset="-120"/>
              </a:rPr>
              <a:t>THEORY · COMPOSITION · 6:00–22:00</a:t>
            </a:r>
            <a:endParaRPr lang="en-US" sz="1200" dirty="0"/>
          </a:p>
        </p:txBody>
      </p:sp>
      <p:sp>
        <p:nvSpPr>
          <p:cNvPr id="5" name="Text 2"/>
          <p:cNvSpPr/>
          <p:nvPr/>
        </p:nvSpPr>
        <p:spPr>
          <a:xfrm>
            <a:off x="1298448" y="713232"/>
            <a:ext cx="10332720" cy="566928"/>
          </a:xfrm>
          <a:prstGeom prst="rect">
            <a:avLst/>
          </a:prstGeom>
          <a:noFill/>
          <a:ln/>
        </p:spPr>
        <p:txBody>
          <a:bodyPr wrap="square" lIns="0" tIns="0" rIns="0" bIns="0" rtlCol="0" anchor="ctr"/>
          <a:lstStyle/>
          <a:p>
            <a:pPr marL="0" indent="0" algn="l">
              <a:buNone/>
            </a:pPr>
            <a:r>
              <a:rPr lang="en-US" sz="2800" b="1" dirty="0">
                <a:solidFill>
                  <a:srgbClr val="2C3E50"/>
                </a:solidFill>
                <a:latin typeface="Cambria" pitchFamily="34" charset="0"/>
                <a:ea typeface="Cambria" pitchFamily="34" charset="-122"/>
                <a:cs typeface="Cambria" pitchFamily="34" charset="-120"/>
              </a:rPr>
              <a:t>Design Stores in Layers</a:t>
            </a:r>
            <a:endParaRPr lang="en-US" sz="2800" dirty="0"/>
          </a:p>
        </p:txBody>
      </p:sp>
      <p:sp>
        <p:nvSpPr>
          <p:cNvPr id="6" name="Text 3"/>
          <p:cNvSpPr/>
          <p:nvPr/>
        </p:nvSpPr>
        <p:spPr>
          <a:xfrm>
            <a:off x="548640" y="1298448"/>
            <a:ext cx="11064240" cy="365760"/>
          </a:xfrm>
          <a:prstGeom prst="rect">
            <a:avLst/>
          </a:prstGeom>
          <a:noFill/>
          <a:ln/>
        </p:spPr>
        <p:txBody>
          <a:bodyPr wrap="square" lIns="0" tIns="0" rIns="0" bIns="0" rtlCol="0" anchor="ctr"/>
          <a:lstStyle/>
          <a:p>
            <a:pPr marL="0" indent="0">
              <a:buNone/>
            </a:pPr>
            <a:r>
              <a:rPr lang="en-US" sz="1300" dirty="0">
                <a:solidFill>
                  <a:srgbClr val="6B7C8C"/>
                </a:solidFill>
                <a:latin typeface="Calibri" pitchFamily="34" charset="0"/>
                <a:ea typeface="Calibri" pitchFamily="34" charset="-122"/>
                <a:cs typeface="Calibri" pitchFamily="34" charset="-120"/>
              </a:rPr>
              <a:t>Store A imports B while B imports A = circular dependency = runtime error. Let higher layers import from lower ones — never the reverse.</a:t>
            </a:r>
            <a:endParaRPr lang="en-US" sz="1300" dirty="0"/>
          </a:p>
        </p:txBody>
      </p:sp>
      <p:sp>
        <p:nvSpPr>
          <p:cNvPr id="7" name="Shape 4"/>
          <p:cNvSpPr/>
          <p:nvPr/>
        </p:nvSpPr>
        <p:spPr>
          <a:xfrm>
            <a:off x="1463040" y="1874520"/>
            <a:ext cx="6400800" cy="841248"/>
          </a:xfrm>
          <a:prstGeom prst="roundRect">
            <a:avLst>
              <a:gd name="adj" fmla="val 9783"/>
            </a:avLst>
          </a:prstGeom>
          <a:solidFill>
            <a:srgbClr val="42B883"/>
          </a:solidFill>
          <a:ln/>
          <a:effectLst>
            <a:outerShdw blurRad="88900" dist="25400" dir="5400000" algn="bl" rotWithShape="0">
              <a:srgbClr val="35495E">
                <a:alpha val="13000"/>
              </a:srgbClr>
            </a:outerShdw>
          </a:effectLst>
        </p:spPr>
      </p:sp>
      <p:sp>
        <p:nvSpPr>
          <p:cNvPr id="8" name="Text 5"/>
          <p:cNvSpPr/>
          <p:nvPr/>
        </p:nvSpPr>
        <p:spPr>
          <a:xfrm>
            <a:off x="1783080" y="1984248"/>
            <a:ext cx="585216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UI stores</a:t>
            </a:r>
            <a:endParaRPr lang="en-US" sz="1600" dirty="0"/>
          </a:p>
        </p:txBody>
      </p:sp>
      <p:sp>
        <p:nvSpPr>
          <p:cNvPr id="9" name="Text 6"/>
          <p:cNvSpPr/>
          <p:nvPr/>
        </p:nvSpPr>
        <p:spPr>
          <a:xfrm>
            <a:off x="1783080" y="2331720"/>
            <a:ext cx="5852160" cy="310896"/>
          </a:xfrm>
          <a:prstGeom prst="rect">
            <a:avLst/>
          </a:prstGeom>
          <a:noFill/>
          <a:ln/>
        </p:spPr>
        <p:txBody>
          <a:bodyPr wrap="square" lIns="0" tIns="0" rIns="0" bIns="0" rtlCol="0" anchor="ctr"/>
          <a:lstStyle/>
          <a:p>
            <a:pPr marL="0" indent="0">
              <a:buNone/>
            </a:pPr>
            <a:r>
              <a:rPr lang="en-US" sz="1100" dirty="0">
                <a:solidFill>
                  <a:srgbClr val="EAEEF2"/>
                </a:solidFill>
                <a:latin typeface="Courier New" pitchFamily="34" charset="0"/>
                <a:ea typeface="Courier New" pitchFamily="34" charset="-122"/>
                <a:cs typeface="Courier New" pitchFamily="34" charset="-120"/>
              </a:rPr>
              <a:t>ui · notifications · modals</a:t>
            </a:r>
            <a:endParaRPr lang="en-US" sz="1100" dirty="0"/>
          </a:p>
        </p:txBody>
      </p:sp>
      <p:sp>
        <p:nvSpPr>
          <p:cNvPr id="10" name="Text 7"/>
          <p:cNvSpPr/>
          <p:nvPr/>
        </p:nvSpPr>
        <p:spPr>
          <a:xfrm>
            <a:off x="8183880" y="1874520"/>
            <a:ext cx="3657600" cy="841248"/>
          </a:xfrm>
          <a:prstGeom prst="rect">
            <a:avLst/>
          </a:prstGeom>
          <a:noFill/>
          <a:ln/>
        </p:spPr>
        <p:txBody>
          <a:bodyPr wrap="square" lIns="0" tIns="0" rIns="0" bIns="0" rtlCol="0" anchor="ctr"/>
          <a:lstStyle/>
          <a:p>
            <a:pPr marL="0" indent="0">
              <a:buNone/>
            </a:pPr>
            <a:r>
              <a:rPr lang="en-US" sz="1200" i="1" dirty="0">
                <a:solidFill>
                  <a:srgbClr val="6B7C8C"/>
                </a:solidFill>
                <a:latin typeface="Calibri" pitchFamily="34" charset="0"/>
                <a:ea typeface="Calibri" pitchFamily="34" charset="-122"/>
                <a:cs typeface="Calibri" pitchFamily="34" charset="-120"/>
              </a:rPr>
              <a:t>imports anything below</a:t>
            </a:r>
            <a:endParaRPr lang="en-US" sz="1200" dirty="0"/>
          </a:p>
        </p:txBody>
      </p:sp>
      <p:sp>
        <p:nvSpPr>
          <p:cNvPr id="11" name="Shape 8"/>
          <p:cNvSpPr/>
          <p:nvPr/>
        </p:nvSpPr>
        <p:spPr>
          <a:xfrm>
            <a:off x="7955280" y="2715768"/>
            <a:ext cx="0" cy="146304"/>
          </a:xfrm>
          <a:prstGeom prst="line">
            <a:avLst/>
          </a:prstGeom>
          <a:noFill/>
          <a:ln w="25400">
            <a:solidFill>
              <a:srgbClr val="9AAAB6"/>
            </a:solidFill>
            <a:prstDash val="solid"/>
            <a:tailEnd type="triangle"/>
          </a:ln>
        </p:spPr>
      </p:sp>
      <p:sp>
        <p:nvSpPr>
          <p:cNvPr id="12" name="Shape 9"/>
          <p:cNvSpPr/>
          <p:nvPr/>
        </p:nvSpPr>
        <p:spPr>
          <a:xfrm>
            <a:off x="1463040" y="2862072"/>
            <a:ext cx="6400800" cy="841248"/>
          </a:xfrm>
          <a:prstGeom prst="roundRect">
            <a:avLst>
              <a:gd name="adj" fmla="val 9783"/>
            </a:avLst>
          </a:prstGeom>
          <a:solidFill>
            <a:srgbClr val="E0A21B"/>
          </a:solidFill>
          <a:ln/>
          <a:effectLst>
            <a:outerShdw blurRad="88900" dist="25400" dir="5400000" algn="bl" rotWithShape="0">
              <a:srgbClr val="35495E">
                <a:alpha val="13000"/>
              </a:srgbClr>
            </a:outerShdw>
          </a:effectLst>
        </p:spPr>
      </p:sp>
      <p:sp>
        <p:nvSpPr>
          <p:cNvPr id="13" name="Text 10"/>
          <p:cNvSpPr/>
          <p:nvPr/>
        </p:nvSpPr>
        <p:spPr>
          <a:xfrm>
            <a:off x="1783080" y="2971800"/>
            <a:ext cx="585216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Data stores</a:t>
            </a:r>
            <a:endParaRPr lang="en-US" sz="1600" dirty="0"/>
          </a:p>
        </p:txBody>
      </p:sp>
      <p:sp>
        <p:nvSpPr>
          <p:cNvPr id="14" name="Text 11"/>
          <p:cNvSpPr/>
          <p:nvPr/>
        </p:nvSpPr>
        <p:spPr>
          <a:xfrm>
            <a:off x="1783080" y="3319272"/>
            <a:ext cx="5852160" cy="310896"/>
          </a:xfrm>
          <a:prstGeom prst="rect">
            <a:avLst/>
          </a:prstGeom>
          <a:noFill/>
          <a:ln/>
        </p:spPr>
        <p:txBody>
          <a:bodyPr wrap="square" lIns="0" tIns="0" rIns="0" bIns="0" rtlCol="0" anchor="ctr"/>
          <a:lstStyle/>
          <a:p>
            <a:pPr marL="0" indent="0">
              <a:buNone/>
            </a:pPr>
            <a:r>
              <a:rPr lang="en-US" sz="1100" dirty="0">
                <a:solidFill>
                  <a:srgbClr val="EAEEF2"/>
                </a:solidFill>
                <a:latin typeface="Courier New" pitchFamily="34" charset="0"/>
                <a:ea typeface="Courier New" pitchFamily="34" charset="-122"/>
                <a:cs typeface="Courier New" pitchFamily="34" charset="-120"/>
              </a:rPr>
              <a:t>cart · jobs · orders</a:t>
            </a:r>
            <a:endParaRPr lang="en-US" sz="1100" dirty="0"/>
          </a:p>
        </p:txBody>
      </p:sp>
      <p:sp>
        <p:nvSpPr>
          <p:cNvPr id="15" name="Text 12"/>
          <p:cNvSpPr/>
          <p:nvPr/>
        </p:nvSpPr>
        <p:spPr>
          <a:xfrm>
            <a:off x="8183880" y="2862072"/>
            <a:ext cx="3657600" cy="841248"/>
          </a:xfrm>
          <a:prstGeom prst="rect">
            <a:avLst/>
          </a:prstGeom>
          <a:noFill/>
          <a:ln/>
        </p:spPr>
        <p:txBody>
          <a:bodyPr wrap="square" lIns="0" tIns="0" rIns="0" bIns="0" rtlCol="0" anchor="ctr"/>
          <a:lstStyle/>
          <a:p>
            <a:pPr marL="0" indent="0">
              <a:buNone/>
            </a:pPr>
            <a:r>
              <a:rPr lang="en-US" sz="1200" i="1" dirty="0">
                <a:solidFill>
                  <a:srgbClr val="6B7C8C"/>
                </a:solidFill>
                <a:latin typeface="Calibri" pitchFamily="34" charset="0"/>
                <a:ea typeface="Calibri" pitchFamily="34" charset="-122"/>
                <a:cs typeface="Calibri" pitchFamily="34" charset="-120"/>
              </a:rPr>
              <a:t>imports auth / user</a:t>
            </a:r>
            <a:endParaRPr lang="en-US" sz="1200" dirty="0"/>
          </a:p>
        </p:txBody>
      </p:sp>
      <p:sp>
        <p:nvSpPr>
          <p:cNvPr id="16" name="Shape 13"/>
          <p:cNvSpPr/>
          <p:nvPr/>
        </p:nvSpPr>
        <p:spPr>
          <a:xfrm>
            <a:off x="7955280" y="3703320"/>
            <a:ext cx="0" cy="146304"/>
          </a:xfrm>
          <a:prstGeom prst="line">
            <a:avLst/>
          </a:prstGeom>
          <a:noFill/>
          <a:ln w="25400">
            <a:solidFill>
              <a:srgbClr val="9AAAB6"/>
            </a:solidFill>
            <a:prstDash val="solid"/>
            <a:tailEnd type="triangle"/>
          </a:ln>
        </p:spPr>
      </p:sp>
      <p:sp>
        <p:nvSpPr>
          <p:cNvPr id="17" name="Shape 14"/>
          <p:cNvSpPr/>
          <p:nvPr/>
        </p:nvSpPr>
        <p:spPr>
          <a:xfrm>
            <a:off x="1463040" y="3849624"/>
            <a:ext cx="6400800" cy="841248"/>
          </a:xfrm>
          <a:prstGeom prst="roundRect">
            <a:avLst>
              <a:gd name="adj" fmla="val 9783"/>
            </a:avLst>
          </a:prstGeom>
          <a:solidFill>
            <a:srgbClr val="C9962A"/>
          </a:solidFill>
          <a:ln/>
          <a:effectLst>
            <a:outerShdw blurRad="88900" dist="25400" dir="5400000" algn="bl" rotWithShape="0">
              <a:srgbClr val="35495E">
                <a:alpha val="13000"/>
              </a:srgbClr>
            </a:outerShdw>
          </a:effectLst>
        </p:spPr>
      </p:sp>
      <p:sp>
        <p:nvSpPr>
          <p:cNvPr id="18" name="Text 15"/>
          <p:cNvSpPr/>
          <p:nvPr/>
        </p:nvSpPr>
        <p:spPr>
          <a:xfrm>
            <a:off x="1783080" y="3959352"/>
            <a:ext cx="585216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User store</a:t>
            </a:r>
            <a:endParaRPr lang="en-US" sz="1600" dirty="0"/>
          </a:p>
        </p:txBody>
      </p:sp>
      <p:sp>
        <p:nvSpPr>
          <p:cNvPr id="19" name="Text 16"/>
          <p:cNvSpPr/>
          <p:nvPr/>
        </p:nvSpPr>
        <p:spPr>
          <a:xfrm>
            <a:off x="1783080" y="4306824"/>
            <a:ext cx="5852160" cy="310896"/>
          </a:xfrm>
          <a:prstGeom prst="rect">
            <a:avLst/>
          </a:prstGeom>
          <a:noFill/>
          <a:ln/>
        </p:spPr>
        <p:txBody>
          <a:bodyPr wrap="square" lIns="0" tIns="0" rIns="0" bIns="0" rtlCol="0" anchor="ctr"/>
          <a:lstStyle/>
          <a:p>
            <a:pPr marL="0" indent="0">
              <a:buNone/>
            </a:pPr>
            <a:r>
              <a:rPr lang="en-US" sz="1100" dirty="0">
                <a:solidFill>
                  <a:srgbClr val="EAEEF2"/>
                </a:solidFill>
                <a:latin typeface="Courier New" pitchFamily="34" charset="0"/>
                <a:ea typeface="Courier New" pitchFamily="34" charset="-122"/>
                <a:cs typeface="Courier New" pitchFamily="34" charset="-120"/>
              </a:rPr>
              <a:t>profile · preferences</a:t>
            </a:r>
            <a:endParaRPr lang="en-US" sz="1100" dirty="0"/>
          </a:p>
        </p:txBody>
      </p:sp>
      <p:sp>
        <p:nvSpPr>
          <p:cNvPr id="20" name="Text 17"/>
          <p:cNvSpPr/>
          <p:nvPr/>
        </p:nvSpPr>
        <p:spPr>
          <a:xfrm>
            <a:off x="8183880" y="3849624"/>
            <a:ext cx="3657600" cy="841248"/>
          </a:xfrm>
          <a:prstGeom prst="rect">
            <a:avLst/>
          </a:prstGeom>
          <a:noFill/>
          <a:ln/>
        </p:spPr>
        <p:txBody>
          <a:bodyPr wrap="square" lIns="0" tIns="0" rIns="0" bIns="0" rtlCol="0" anchor="ctr"/>
          <a:lstStyle/>
          <a:p>
            <a:pPr marL="0" indent="0">
              <a:buNone/>
            </a:pPr>
            <a:r>
              <a:rPr lang="en-US" sz="1200" i="1" dirty="0">
                <a:solidFill>
                  <a:srgbClr val="6B7C8C"/>
                </a:solidFill>
                <a:latin typeface="Calibri" pitchFamily="34" charset="0"/>
                <a:ea typeface="Calibri" pitchFamily="34" charset="-122"/>
                <a:cs typeface="Calibri" pitchFamily="34" charset="-120"/>
              </a:rPr>
              <a:t>imports auth</a:t>
            </a:r>
            <a:endParaRPr lang="en-US" sz="1200" dirty="0"/>
          </a:p>
        </p:txBody>
      </p:sp>
      <p:sp>
        <p:nvSpPr>
          <p:cNvPr id="21" name="Shape 18"/>
          <p:cNvSpPr/>
          <p:nvPr/>
        </p:nvSpPr>
        <p:spPr>
          <a:xfrm>
            <a:off x="7955280" y="4690872"/>
            <a:ext cx="0" cy="146304"/>
          </a:xfrm>
          <a:prstGeom prst="line">
            <a:avLst/>
          </a:prstGeom>
          <a:noFill/>
          <a:ln w="25400">
            <a:solidFill>
              <a:srgbClr val="9AAAB6"/>
            </a:solidFill>
            <a:prstDash val="solid"/>
            <a:tailEnd type="triangle"/>
          </a:ln>
        </p:spPr>
      </p:sp>
      <p:sp>
        <p:nvSpPr>
          <p:cNvPr id="22" name="Shape 19"/>
          <p:cNvSpPr/>
          <p:nvPr/>
        </p:nvSpPr>
        <p:spPr>
          <a:xfrm>
            <a:off x="1463040" y="4837176"/>
            <a:ext cx="6400800" cy="841248"/>
          </a:xfrm>
          <a:prstGeom prst="roundRect">
            <a:avLst>
              <a:gd name="adj" fmla="val 9783"/>
            </a:avLst>
          </a:prstGeom>
          <a:solidFill>
            <a:srgbClr val="35495E"/>
          </a:solidFill>
          <a:ln/>
          <a:effectLst>
            <a:outerShdw blurRad="88900" dist="25400" dir="5400000" algn="bl" rotWithShape="0">
              <a:srgbClr val="35495E">
                <a:alpha val="13000"/>
              </a:srgbClr>
            </a:outerShdw>
          </a:effectLst>
        </p:spPr>
      </p:sp>
      <p:sp>
        <p:nvSpPr>
          <p:cNvPr id="23" name="Text 20"/>
          <p:cNvSpPr/>
          <p:nvPr/>
        </p:nvSpPr>
        <p:spPr>
          <a:xfrm>
            <a:off x="1783080" y="4946904"/>
            <a:ext cx="585216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Auth store</a:t>
            </a:r>
            <a:endParaRPr lang="en-US" sz="1600" dirty="0"/>
          </a:p>
        </p:txBody>
      </p:sp>
      <p:sp>
        <p:nvSpPr>
          <p:cNvPr id="24" name="Text 21"/>
          <p:cNvSpPr/>
          <p:nvPr/>
        </p:nvSpPr>
        <p:spPr>
          <a:xfrm>
            <a:off x="1783080" y="5294376"/>
            <a:ext cx="5852160" cy="310896"/>
          </a:xfrm>
          <a:prstGeom prst="rect">
            <a:avLst/>
          </a:prstGeom>
          <a:noFill/>
          <a:ln/>
        </p:spPr>
        <p:txBody>
          <a:bodyPr wrap="square" lIns="0" tIns="0" rIns="0" bIns="0" rtlCol="0" anchor="ctr"/>
          <a:lstStyle/>
          <a:p>
            <a:pPr marL="0" indent="0">
              <a:buNone/>
            </a:pPr>
            <a:r>
              <a:rPr lang="en-US" sz="1100" dirty="0">
                <a:solidFill>
                  <a:srgbClr val="EAEEF2"/>
                </a:solidFill>
                <a:latin typeface="Courier New" pitchFamily="34" charset="0"/>
                <a:ea typeface="Courier New" pitchFamily="34" charset="-122"/>
                <a:cs typeface="Courier New" pitchFamily="34" charset="-120"/>
              </a:rPr>
              <a:t>user · token · roles</a:t>
            </a:r>
            <a:endParaRPr lang="en-US" sz="1100" dirty="0"/>
          </a:p>
        </p:txBody>
      </p:sp>
      <p:sp>
        <p:nvSpPr>
          <p:cNvPr id="25" name="Text 22"/>
          <p:cNvSpPr/>
          <p:nvPr/>
        </p:nvSpPr>
        <p:spPr>
          <a:xfrm>
            <a:off x="8183880" y="4837176"/>
            <a:ext cx="3657600" cy="841248"/>
          </a:xfrm>
          <a:prstGeom prst="rect">
            <a:avLst/>
          </a:prstGeom>
          <a:noFill/>
          <a:ln/>
        </p:spPr>
        <p:txBody>
          <a:bodyPr wrap="square" lIns="0" tIns="0" rIns="0" bIns="0" rtlCol="0" anchor="ctr"/>
          <a:lstStyle/>
          <a:p>
            <a:pPr marL="0" indent="0">
              <a:buNone/>
            </a:pPr>
            <a:r>
              <a:rPr lang="en-US" sz="1200" i="1" dirty="0">
                <a:solidFill>
                  <a:srgbClr val="6B7C8C"/>
                </a:solidFill>
                <a:latin typeface="Calibri" pitchFamily="34" charset="0"/>
                <a:ea typeface="Calibri" pitchFamily="34" charset="-122"/>
                <a:cs typeface="Calibri" pitchFamily="34" charset="-120"/>
              </a:rPr>
              <a:t>imports nothing — the base</a:t>
            </a:r>
            <a:endParaRPr lang="en-US" sz="1200" dirty="0"/>
          </a:p>
        </p:txBody>
      </p:sp>
      <p:sp>
        <p:nvSpPr>
          <p:cNvPr id="26" name="Text 23"/>
          <p:cNvSpPr/>
          <p:nvPr/>
        </p:nvSpPr>
        <p:spPr>
          <a:xfrm rot="16200000">
            <a:off x="457200" y="3291840"/>
            <a:ext cx="914400" cy="365760"/>
          </a:xfrm>
          <a:prstGeom prst="rect">
            <a:avLst/>
          </a:prstGeom>
          <a:noFill/>
          <a:ln/>
        </p:spPr>
        <p:txBody>
          <a:bodyPr wrap="square" lIns="0" tIns="0" rIns="0" bIns="0" rtlCol="0" anchor="ctr"/>
          <a:lstStyle/>
          <a:p>
            <a:pPr marL="0" indent="0" algn="ctr">
              <a:buNone/>
            </a:pPr>
            <a:r>
              <a:rPr lang="en-US" sz="1100" b="1" dirty="0">
                <a:solidFill>
                  <a:srgbClr val="A6760C"/>
                </a:solidFill>
                <a:latin typeface="Calibri" pitchFamily="34" charset="0"/>
                <a:ea typeface="Calibri" pitchFamily="34" charset="-122"/>
                <a:cs typeface="Calibri" pitchFamily="34" charset="-120"/>
              </a:rPr>
              <a:t>imports ↓</a:t>
            </a:r>
            <a:endParaRPr lang="en-US" sz="1100" dirty="0"/>
          </a:p>
        </p:txBody>
      </p:sp>
      <p:sp>
        <p:nvSpPr>
          <p:cNvPr id="27" name="Shape 24"/>
          <p:cNvSpPr/>
          <p:nvPr/>
        </p:nvSpPr>
        <p:spPr>
          <a:xfrm>
            <a:off x="548640" y="5806440"/>
            <a:ext cx="11091672" cy="1152144"/>
          </a:xfrm>
          <a:prstGeom prst="roundRect">
            <a:avLst>
              <a:gd name="adj" fmla="val 5556"/>
            </a:avLst>
          </a:prstGeom>
          <a:solidFill>
            <a:srgbClr val="E9F6EF"/>
          </a:solidFill>
          <a:ln/>
          <a:effectLst>
            <a:outerShdw blurRad="88900" dist="25400" dir="5400000" algn="bl" rotWithShape="0">
              <a:srgbClr val="35495E">
                <a:alpha val="13000"/>
              </a:srgbClr>
            </a:outerShdw>
          </a:effectLst>
        </p:spPr>
      </p:sp>
      <p:sp>
        <p:nvSpPr>
          <p:cNvPr id="28" name="Shape 25"/>
          <p:cNvSpPr/>
          <p:nvPr/>
        </p:nvSpPr>
        <p:spPr>
          <a:xfrm>
            <a:off x="749808" y="6007608"/>
            <a:ext cx="457200" cy="457200"/>
          </a:xfrm>
          <a:prstGeom prst="ellipse">
            <a:avLst/>
          </a:prstGeom>
          <a:solidFill>
            <a:srgbClr val="2FA36B"/>
          </a:solidFill>
          <a:ln/>
          <a:effectLst>
            <a:outerShdw blurRad="88900" dist="25400" dir="5400000" algn="bl" rotWithShape="0">
              <a:srgbClr val="35495E">
                <a:alpha val="13000"/>
              </a:srgbClr>
            </a:outerShdw>
          </a:effectLst>
        </p:spPr>
      </p:sp>
      <p:pic>
        <p:nvPicPr>
          <p:cNvPr id="29" name="Image 1" descr="preencoded.png"/>
          <p:cNvPicPr>
            <a:picLocks noChangeAspect="1"/>
          </p:cNvPicPr>
          <p:nvPr/>
        </p:nvPicPr>
        <p:blipFill>
          <a:blip r:embed="rId4"/>
          <a:stretch>
            <a:fillRect/>
          </a:stretch>
        </p:blipFill>
        <p:spPr>
          <a:xfrm>
            <a:off x="873252" y="6131052"/>
            <a:ext cx="210312" cy="210312"/>
          </a:xfrm>
          <a:prstGeom prst="rect">
            <a:avLst/>
          </a:prstGeom>
        </p:spPr>
      </p:pic>
      <p:sp>
        <p:nvSpPr>
          <p:cNvPr id="30" name="Text 26"/>
          <p:cNvSpPr/>
          <p:nvPr/>
        </p:nvSpPr>
        <p:spPr>
          <a:xfrm>
            <a:off x="1335024" y="5971032"/>
            <a:ext cx="10131552" cy="310896"/>
          </a:xfrm>
          <a:prstGeom prst="rect">
            <a:avLst/>
          </a:prstGeom>
          <a:noFill/>
          <a:ln/>
        </p:spPr>
        <p:txBody>
          <a:bodyPr wrap="square" lIns="0" tIns="0" rIns="0" bIns="0" rtlCol="0" anchor="ctr"/>
          <a:lstStyle/>
          <a:p>
            <a:pPr marL="0" indent="0" algn="l">
              <a:buNone/>
            </a:pPr>
            <a:r>
              <a:rPr lang="en-US" sz="1400" b="1" dirty="0">
                <a:solidFill>
                  <a:srgbClr val="1F7A4D"/>
                </a:solidFill>
                <a:latin typeface="Calibri" pitchFamily="34" charset="0"/>
                <a:ea typeface="Calibri" pitchFamily="34" charset="-122"/>
                <a:cs typeface="Calibri" pitchFamily="34" charset="-120"/>
              </a:rPr>
              <a:t>The fix when you must go both ways</a:t>
            </a:r>
            <a:endParaRPr lang="en-US" sz="1400" dirty="0"/>
          </a:p>
        </p:txBody>
      </p:sp>
      <p:sp>
        <p:nvSpPr>
          <p:cNvPr id="31" name="Text 27"/>
          <p:cNvSpPr/>
          <p:nvPr/>
        </p:nvSpPr>
        <p:spPr>
          <a:xfrm>
            <a:off x="1335024" y="6281928"/>
            <a:ext cx="10131552" cy="548640"/>
          </a:xfrm>
          <a:prstGeom prst="rect">
            <a:avLst/>
          </a:prstGeom>
          <a:noFill/>
          <a:ln/>
        </p:spPr>
        <p:txBody>
          <a:bodyPr wrap="square" lIns="0" tIns="0" rIns="0" bIns="0" rtlCol="0" anchor="t"/>
          <a:lstStyle/>
          <a:p>
            <a:pPr marL="0" indent="0" algn="l">
              <a:lnSpc>
                <a:spcPts val="1600"/>
              </a:lnSpc>
              <a:buNone/>
            </a:pPr>
            <a:r>
              <a:rPr lang="en-US" sz="1250" dirty="0">
                <a:solidFill>
                  <a:srgbClr val="2C3E50"/>
                </a:solidFill>
                <a:latin typeface="Calibri" pitchFamily="34" charset="0"/>
                <a:ea typeface="Calibri" pitchFamily="34" charset="-122"/>
                <a:cs typeface="Calibri" pitchFamily="34" charset="-120"/>
              </a:rPr>
              <a:t>Call useOtherStore() inside an action (not at import time). Deferring to runtime breaks the static circular import the bundler would choke on.</a:t>
            </a:r>
            <a:endParaRPr lang="en-US" sz="1250" dirty="0"/>
          </a:p>
        </p:txBody>
      </p:sp>
      <p:sp>
        <p:nvSpPr>
          <p:cNvPr id="32" name="Text 28"/>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33" name="Text 29"/>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Composition</a:t>
            </a:r>
            <a:endParaRPr lang="en-US" sz="900" dirty="0"/>
          </a:p>
        </p:txBody>
      </p:sp>
      <p:sp>
        <p:nvSpPr>
          <p:cNvPr id="34" name="Text 30"/>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A6760C"/>
                </a:solidFill>
                <a:latin typeface="Calibri" pitchFamily="34" charset="0"/>
                <a:ea typeface="Calibri" pitchFamily="34" charset="-122"/>
                <a:cs typeface="Calibri" pitchFamily="34" charset="-120"/>
              </a:rPr>
              <a:t>THEORY · COMPOSITION · 6:00–22:00</a:t>
            </a:r>
            <a:endParaRPr lang="en-US" sz="1200" dirty="0"/>
          </a:p>
        </p:txBody>
      </p:sp>
      <p:sp>
        <p:nvSpPr>
          <p:cNvPr id="5" name="Text 2"/>
          <p:cNvSpPr/>
          <p:nvPr/>
        </p:nvSpPr>
        <p:spPr>
          <a:xfrm>
            <a:off x="1298448" y="713232"/>
            <a:ext cx="10332720" cy="566928"/>
          </a:xfrm>
          <a:prstGeom prst="rect">
            <a:avLst/>
          </a:prstGeom>
          <a:noFill/>
          <a:ln/>
        </p:spPr>
        <p:txBody>
          <a:bodyPr wrap="square" lIns="0" tIns="0" rIns="0" bIns="0" rtlCol="0" anchor="ctr"/>
          <a:lstStyle/>
          <a:p>
            <a:pPr marL="0" indent="0" algn="l">
              <a:buNone/>
            </a:pPr>
            <a:r>
              <a:rPr lang="en-US" sz="2800" b="1" dirty="0">
                <a:solidFill>
                  <a:srgbClr val="2C3E50"/>
                </a:solidFill>
                <a:latin typeface="Cambria" pitchFamily="34" charset="0"/>
                <a:ea typeface="Cambria" pitchFamily="34" charset="-122"/>
                <a:cs typeface="Cambria" pitchFamily="34" charset="-120"/>
              </a:rPr>
              <a:t>$onAction — Hook Into Every Action</a:t>
            </a:r>
            <a:endParaRPr lang="en-US" sz="2800" dirty="0"/>
          </a:p>
        </p:txBody>
      </p:sp>
      <p:sp>
        <p:nvSpPr>
          <p:cNvPr id="6" name="Shape 3"/>
          <p:cNvSpPr/>
          <p:nvPr/>
        </p:nvSpPr>
        <p:spPr>
          <a:xfrm>
            <a:off x="548640" y="1463040"/>
            <a:ext cx="6766560" cy="3264789"/>
          </a:xfrm>
          <a:prstGeom prst="roundRect">
            <a:avLst>
              <a:gd name="adj" fmla="val 2521"/>
            </a:avLst>
          </a:prstGeom>
          <a:solidFill>
            <a:srgbClr val="1B2832"/>
          </a:solidFill>
          <a:ln/>
          <a:effectLst>
            <a:outerShdw blurRad="114300" dist="38100" dir="5400000" algn="bl" rotWithShape="0">
              <a:srgbClr val="1E2B38">
                <a:alpha val="16000"/>
              </a:srgbClr>
            </a:outerShdw>
          </a:effectLst>
        </p:spPr>
      </p:sp>
      <p:sp>
        <p:nvSpPr>
          <p:cNvPr id="7" name="Text 4"/>
          <p:cNvSpPr/>
          <p:nvPr/>
        </p:nvSpPr>
        <p:spPr>
          <a:xfrm>
            <a:off x="749808" y="1499616"/>
            <a:ext cx="6364224" cy="3191637"/>
          </a:xfrm>
          <a:prstGeom prst="rect">
            <a:avLst/>
          </a:prstGeom>
          <a:noFill/>
          <a:ln/>
        </p:spPr>
        <p:txBody>
          <a:bodyPr wrap="square" lIns="0" tIns="0" rIns="0" bIns="0" rtlCol="0" anchor="t"/>
          <a:lstStyle/>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const cart = useCartStore()</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cart.$onAction(({ name, args, after, onError }) =&gt;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console.log(`Action '${name}' called with`, args)</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after((result) =&gt;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console.log(`'${name}' finished:`, result)</a:t>
            </a:r>
            <a:endParaRPr lang="en-US" sz="1150" dirty="0"/>
          </a:p>
          <a:p>
            <a:pPr marL="0" indent="0" algn="l">
              <a:lnSpc>
                <a:spcPts val="1541"/>
              </a:lnSpc>
              <a:buNone/>
            </a:pPr>
            <a:r>
              <a:rPr lang="en-US" sz="1150" dirty="0">
                <a:solidFill>
                  <a:srgbClr val="6E8694"/>
                </a:solidFill>
                <a:latin typeface="Courier New" pitchFamily="34" charset="0"/>
                <a:ea typeface="Courier New" pitchFamily="34" charset="-122"/>
                <a:cs typeface="Courier New" pitchFamily="34" charset="-120"/>
              </a:rPr>
              <a:t>    // analytics, logging, etc.</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onError((error) =&gt;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console.error(`'${name}' failed:`, error)</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notificationStore.add(error.message, 'error')</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a:t>
            </a:r>
            <a:endParaRPr lang="en-US" sz="1150" dirty="0"/>
          </a:p>
        </p:txBody>
      </p:sp>
      <p:sp>
        <p:nvSpPr>
          <p:cNvPr id="8" name="Shape 5"/>
          <p:cNvSpPr/>
          <p:nvPr/>
        </p:nvSpPr>
        <p:spPr>
          <a:xfrm>
            <a:off x="7498080" y="1463040"/>
            <a:ext cx="4142232" cy="1207008"/>
          </a:xfrm>
          <a:prstGeom prst="roundRect">
            <a:avLst>
              <a:gd name="adj" fmla="val 6061"/>
            </a:avLst>
          </a:prstGeom>
          <a:solidFill>
            <a:srgbClr val="FFFFFF"/>
          </a:solidFill>
          <a:ln w="12700">
            <a:solidFill>
              <a:srgbClr val="DCE5EB"/>
            </a:solidFill>
            <a:prstDash val="solid"/>
          </a:ln>
          <a:effectLst>
            <a:outerShdw blurRad="88900" dist="25400" dir="5400000" algn="bl" rotWithShape="0">
              <a:srgbClr val="35495E">
                <a:alpha val="13000"/>
              </a:srgbClr>
            </a:outerShdw>
          </a:effectLst>
        </p:spPr>
      </p:sp>
      <p:sp>
        <p:nvSpPr>
          <p:cNvPr id="9" name="Shape 6"/>
          <p:cNvSpPr/>
          <p:nvPr/>
        </p:nvSpPr>
        <p:spPr>
          <a:xfrm>
            <a:off x="7717536" y="1682496"/>
            <a:ext cx="457200" cy="457200"/>
          </a:xfrm>
          <a:prstGeom prst="ellipse">
            <a:avLst/>
          </a:prstGeom>
          <a:solidFill>
            <a:srgbClr val="42B883"/>
          </a:solidFill>
          <a:ln/>
          <a:effectLst>
            <a:outerShdw blurRad="88900" dist="25400" dir="5400000" algn="bl" rotWithShape="0">
              <a:srgbClr val="35495E">
                <a:alpha val="13000"/>
              </a:srgbClr>
            </a:outerShdw>
          </a:effectLst>
        </p:spPr>
      </p:sp>
      <p:pic>
        <p:nvPicPr>
          <p:cNvPr id="10" name="Image 1" descr="preencoded.png"/>
          <p:cNvPicPr>
            <a:picLocks noChangeAspect="1"/>
          </p:cNvPicPr>
          <p:nvPr/>
        </p:nvPicPr>
        <p:blipFill>
          <a:blip r:embed="rId4"/>
          <a:stretch>
            <a:fillRect/>
          </a:stretch>
        </p:blipFill>
        <p:spPr>
          <a:xfrm>
            <a:off x="7840980" y="1805940"/>
            <a:ext cx="210312" cy="210312"/>
          </a:xfrm>
          <a:prstGeom prst="rect">
            <a:avLst/>
          </a:prstGeom>
        </p:spPr>
      </p:pic>
      <p:sp>
        <p:nvSpPr>
          <p:cNvPr id="11" name="Text 7"/>
          <p:cNvSpPr/>
          <p:nvPr/>
        </p:nvSpPr>
        <p:spPr>
          <a:xfrm>
            <a:off x="8284464" y="1645920"/>
            <a:ext cx="3182112" cy="329184"/>
          </a:xfrm>
          <a:prstGeom prst="rect">
            <a:avLst/>
          </a:prstGeom>
          <a:noFill/>
          <a:ln/>
        </p:spPr>
        <p:txBody>
          <a:bodyPr wrap="square" lIns="0" tIns="0" rIns="0" bIns="0" rtlCol="0" anchor="ctr"/>
          <a:lstStyle/>
          <a:p>
            <a:pPr marL="0" indent="0" algn="l">
              <a:buNone/>
            </a:pPr>
            <a:r>
              <a:rPr lang="en-US" sz="1350" b="1" dirty="0">
                <a:solidFill>
                  <a:srgbClr val="2C3E50"/>
                </a:solidFill>
                <a:latin typeface="Calibri" pitchFamily="34" charset="0"/>
                <a:ea typeface="Calibri" pitchFamily="34" charset="-122"/>
                <a:cs typeface="Calibri" pitchFamily="34" charset="-120"/>
              </a:rPr>
              <a:t>name + args</a:t>
            </a:r>
            <a:endParaRPr lang="en-US" sz="1350" dirty="0"/>
          </a:p>
        </p:txBody>
      </p:sp>
      <p:sp>
        <p:nvSpPr>
          <p:cNvPr id="12" name="Text 8"/>
          <p:cNvSpPr/>
          <p:nvPr/>
        </p:nvSpPr>
        <p:spPr>
          <a:xfrm>
            <a:off x="7717536" y="2066544"/>
            <a:ext cx="3703320" cy="457200"/>
          </a:xfrm>
          <a:prstGeom prst="rect">
            <a:avLst/>
          </a:prstGeom>
          <a:noFill/>
          <a:ln/>
        </p:spPr>
        <p:txBody>
          <a:bodyPr wrap="square" lIns="0" tIns="0" rIns="0" bIns="0" rtlCol="0" anchor="t"/>
          <a:lstStyle/>
          <a:p>
            <a:pPr marL="0" indent="0" algn="l">
              <a:lnSpc>
                <a:spcPts val="1400"/>
              </a:lnSpc>
              <a:buNone/>
            </a:pPr>
            <a:r>
              <a:rPr lang="en-US" sz="1150" dirty="0">
                <a:solidFill>
                  <a:srgbClr val="6B7C8C"/>
                </a:solidFill>
                <a:latin typeface="Calibri" pitchFamily="34" charset="0"/>
                <a:ea typeface="Calibri" pitchFamily="34" charset="-122"/>
                <a:cs typeface="Calibri" pitchFamily="34" charset="-120"/>
              </a:rPr>
              <a:t>Which action ran, and with what arguments.</a:t>
            </a:r>
            <a:endParaRPr lang="en-US" sz="1150" dirty="0"/>
          </a:p>
        </p:txBody>
      </p:sp>
      <p:sp>
        <p:nvSpPr>
          <p:cNvPr id="13" name="Shape 9"/>
          <p:cNvSpPr/>
          <p:nvPr/>
        </p:nvSpPr>
        <p:spPr>
          <a:xfrm>
            <a:off x="7498080" y="2798064"/>
            <a:ext cx="4142232" cy="1207008"/>
          </a:xfrm>
          <a:prstGeom prst="roundRect">
            <a:avLst>
              <a:gd name="adj" fmla="val 6061"/>
            </a:avLst>
          </a:prstGeom>
          <a:solidFill>
            <a:srgbClr val="FFFFFF"/>
          </a:solidFill>
          <a:ln w="12700">
            <a:solidFill>
              <a:srgbClr val="DCE5EB"/>
            </a:solidFill>
            <a:prstDash val="solid"/>
          </a:ln>
          <a:effectLst>
            <a:outerShdw blurRad="88900" dist="25400" dir="5400000" algn="bl" rotWithShape="0">
              <a:srgbClr val="35495E">
                <a:alpha val="13000"/>
              </a:srgbClr>
            </a:outerShdw>
          </a:effectLst>
        </p:spPr>
      </p:sp>
      <p:sp>
        <p:nvSpPr>
          <p:cNvPr id="14" name="Shape 10"/>
          <p:cNvSpPr/>
          <p:nvPr/>
        </p:nvSpPr>
        <p:spPr>
          <a:xfrm>
            <a:off x="7717536" y="3017520"/>
            <a:ext cx="457200" cy="457200"/>
          </a:xfrm>
          <a:prstGeom prst="ellipse">
            <a:avLst/>
          </a:prstGeom>
          <a:solidFill>
            <a:srgbClr val="42B883"/>
          </a:solidFill>
          <a:ln/>
          <a:effectLst>
            <a:outerShdw blurRad="88900" dist="25400" dir="5400000" algn="bl" rotWithShape="0">
              <a:srgbClr val="35495E">
                <a:alpha val="13000"/>
              </a:srgbClr>
            </a:outerShdw>
          </a:effectLst>
        </p:spPr>
      </p:sp>
      <p:pic>
        <p:nvPicPr>
          <p:cNvPr id="15" name="Image 2" descr="preencoded.png"/>
          <p:cNvPicPr>
            <a:picLocks noChangeAspect="1"/>
          </p:cNvPicPr>
          <p:nvPr/>
        </p:nvPicPr>
        <p:blipFill>
          <a:blip r:embed="rId5"/>
          <a:stretch>
            <a:fillRect/>
          </a:stretch>
        </p:blipFill>
        <p:spPr>
          <a:xfrm>
            <a:off x="7840980" y="3140964"/>
            <a:ext cx="210312" cy="210312"/>
          </a:xfrm>
          <a:prstGeom prst="rect">
            <a:avLst/>
          </a:prstGeom>
        </p:spPr>
      </p:pic>
      <p:sp>
        <p:nvSpPr>
          <p:cNvPr id="16" name="Text 11"/>
          <p:cNvSpPr/>
          <p:nvPr/>
        </p:nvSpPr>
        <p:spPr>
          <a:xfrm>
            <a:off x="8284464" y="2980944"/>
            <a:ext cx="3182112" cy="329184"/>
          </a:xfrm>
          <a:prstGeom prst="rect">
            <a:avLst/>
          </a:prstGeom>
          <a:noFill/>
          <a:ln/>
        </p:spPr>
        <p:txBody>
          <a:bodyPr wrap="square" lIns="0" tIns="0" rIns="0" bIns="0" rtlCol="0" anchor="ctr"/>
          <a:lstStyle/>
          <a:p>
            <a:pPr marL="0" indent="0" algn="l">
              <a:buNone/>
            </a:pPr>
            <a:r>
              <a:rPr lang="en-US" sz="1350" b="1" dirty="0">
                <a:solidFill>
                  <a:srgbClr val="2C3E50"/>
                </a:solidFill>
                <a:latin typeface="Calibri" pitchFamily="34" charset="0"/>
                <a:ea typeface="Calibri" pitchFamily="34" charset="-122"/>
                <a:cs typeface="Calibri" pitchFamily="34" charset="-120"/>
              </a:rPr>
              <a:t>after(cb)</a:t>
            </a:r>
            <a:endParaRPr lang="en-US" sz="1350" dirty="0"/>
          </a:p>
        </p:txBody>
      </p:sp>
      <p:sp>
        <p:nvSpPr>
          <p:cNvPr id="17" name="Text 12"/>
          <p:cNvSpPr/>
          <p:nvPr/>
        </p:nvSpPr>
        <p:spPr>
          <a:xfrm>
            <a:off x="7717536" y="3401568"/>
            <a:ext cx="3703320" cy="457200"/>
          </a:xfrm>
          <a:prstGeom prst="rect">
            <a:avLst/>
          </a:prstGeom>
          <a:noFill/>
          <a:ln/>
        </p:spPr>
        <p:txBody>
          <a:bodyPr wrap="square" lIns="0" tIns="0" rIns="0" bIns="0" rtlCol="0" anchor="t"/>
          <a:lstStyle/>
          <a:p>
            <a:pPr marL="0" indent="0" algn="l">
              <a:lnSpc>
                <a:spcPts val="1400"/>
              </a:lnSpc>
              <a:buNone/>
            </a:pPr>
            <a:r>
              <a:rPr lang="en-US" sz="1150" dirty="0">
                <a:solidFill>
                  <a:srgbClr val="6B7C8C"/>
                </a:solidFill>
                <a:latin typeface="Calibri" pitchFamily="34" charset="0"/>
                <a:ea typeface="Calibri" pitchFamily="34" charset="-122"/>
                <a:cs typeface="Calibri" pitchFamily="34" charset="-120"/>
              </a:rPr>
              <a:t>Runs once the action resolves — great for analytics.</a:t>
            </a:r>
            <a:endParaRPr lang="en-US" sz="1150" dirty="0"/>
          </a:p>
        </p:txBody>
      </p:sp>
      <p:sp>
        <p:nvSpPr>
          <p:cNvPr id="18" name="Shape 13"/>
          <p:cNvSpPr/>
          <p:nvPr/>
        </p:nvSpPr>
        <p:spPr>
          <a:xfrm>
            <a:off x="7498080" y="4133088"/>
            <a:ext cx="4142232" cy="1207008"/>
          </a:xfrm>
          <a:prstGeom prst="roundRect">
            <a:avLst>
              <a:gd name="adj" fmla="val 6061"/>
            </a:avLst>
          </a:prstGeom>
          <a:solidFill>
            <a:srgbClr val="FFFFFF"/>
          </a:solidFill>
          <a:ln w="12700">
            <a:solidFill>
              <a:srgbClr val="DCE5EB"/>
            </a:solidFill>
            <a:prstDash val="solid"/>
          </a:ln>
          <a:effectLst>
            <a:outerShdw blurRad="88900" dist="25400" dir="5400000" algn="bl" rotWithShape="0">
              <a:srgbClr val="35495E">
                <a:alpha val="13000"/>
              </a:srgbClr>
            </a:outerShdw>
          </a:effectLst>
        </p:spPr>
      </p:sp>
      <p:sp>
        <p:nvSpPr>
          <p:cNvPr id="19" name="Shape 14"/>
          <p:cNvSpPr/>
          <p:nvPr/>
        </p:nvSpPr>
        <p:spPr>
          <a:xfrm>
            <a:off x="7717536" y="4352544"/>
            <a:ext cx="457200" cy="457200"/>
          </a:xfrm>
          <a:prstGeom prst="ellipse">
            <a:avLst/>
          </a:prstGeom>
          <a:solidFill>
            <a:srgbClr val="D7574B"/>
          </a:solidFill>
          <a:ln/>
          <a:effectLst>
            <a:outerShdw blurRad="88900" dist="25400" dir="5400000" algn="bl" rotWithShape="0">
              <a:srgbClr val="35495E">
                <a:alpha val="13000"/>
              </a:srgbClr>
            </a:outerShdw>
          </a:effectLst>
        </p:spPr>
      </p:sp>
      <p:pic>
        <p:nvPicPr>
          <p:cNvPr id="20" name="Image 3" descr="preencoded.png"/>
          <p:cNvPicPr>
            <a:picLocks noChangeAspect="1"/>
          </p:cNvPicPr>
          <p:nvPr/>
        </p:nvPicPr>
        <p:blipFill>
          <a:blip r:embed="rId6"/>
          <a:stretch>
            <a:fillRect/>
          </a:stretch>
        </p:blipFill>
        <p:spPr>
          <a:xfrm>
            <a:off x="7840980" y="4475988"/>
            <a:ext cx="210312" cy="210312"/>
          </a:xfrm>
          <a:prstGeom prst="rect">
            <a:avLst/>
          </a:prstGeom>
        </p:spPr>
      </p:pic>
      <p:sp>
        <p:nvSpPr>
          <p:cNvPr id="21" name="Text 15"/>
          <p:cNvSpPr/>
          <p:nvPr/>
        </p:nvSpPr>
        <p:spPr>
          <a:xfrm>
            <a:off x="8284464" y="4315968"/>
            <a:ext cx="3182112" cy="329184"/>
          </a:xfrm>
          <a:prstGeom prst="rect">
            <a:avLst/>
          </a:prstGeom>
          <a:noFill/>
          <a:ln/>
        </p:spPr>
        <p:txBody>
          <a:bodyPr wrap="square" lIns="0" tIns="0" rIns="0" bIns="0" rtlCol="0" anchor="ctr"/>
          <a:lstStyle/>
          <a:p>
            <a:pPr marL="0" indent="0" algn="l">
              <a:buNone/>
            </a:pPr>
            <a:r>
              <a:rPr lang="en-US" sz="1350" b="1" dirty="0">
                <a:solidFill>
                  <a:srgbClr val="2C3E50"/>
                </a:solidFill>
                <a:latin typeface="Calibri" pitchFamily="34" charset="0"/>
                <a:ea typeface="Calibri" pitchFamily="34" charset="-122"/>
                <a:cs typeface="Calibri" pitchFamily="34" charset="-120"/>
              </a:rPr>
              <a:t>onError(cb)</a:t>
            </a:r>
            <a:endParaRPr lang="en-US" sz="1350" dirty="0"/>
          </a:p>
        </p:txBody>
      </p:sp>
      <p:sp>
        <p:nvSpPr>
          <p:cNvPr id="22" name="Text 16"/>
          <p:cNvSpPr/>
          <p:nvPr/>
        </p:nvSpPr>
        <p:spPr>
          <a:xfrm>
            <a:off x="7717536" y="4736592"/>
            <a:ext cx="3703320" cy="457200"/>
          </a:xfrm>
          <a:prstGeom prst="rect">
            <a:avLst/>
          </a:prstGeom>
          <a:noFill/>
          <a:ln/>
        </p:spPr>
        <p:txBody>
          <a:bodyPr wrap="square" lIns="0" tIns="0" rIns="0" bIns="0" rtlCol="0" anchor="t"/>
          <a:lstStyle/>
          <a:p>
            <a:pPr marL="0" indent="0" algn="l">
              <a:lnSpc>
                <a:spcPts val="1400"/>
              </a:lnSpc>
              <a:buNone/>
            </a:pPr>
            <a:r>
              <a:rPr lang="en-US" sz="1150" dirty="0">
                <a:solidFill>
                  <a:srgbClr val="6B7C8C"/>
                </a:solidFill>
                <a:latin typeface="Calibri" pitchFamily="34" charset="0"/>
                <a:ea typeface="Calibri" pitchFamily="34" charset="-122"/>
                <a:cs typeface="Calibri" pitchFamily="34" charset="-120"/>
              </a:rPr>
              <a:t>Catches thrown errors — show a toast, report it.</a:t>
            </a:r>
            <a:endParaRPr lang="en-US" sz="1150" dirty="0"/>
          </a:p>
        </p:txBody>
      </p:sp>
      <p:sp>
        <p:nvSpPr>
          <p:cNvPr id="23" name="Text 17"/>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24" name="Text 18"/>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Composition</a:t>
            </a:r>
            <a:endParaRPr lang="en-US" sz="900" dirty="0"/>
          </a:p>
        </p:txBody>
      </p:sp>
      <p:sp>
        <p:nvSpPr>
          <p:cNvPr id="25" name="Text 19"/>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A6760C"/>
                </a:solidFill>
                <a:latin typeface="Calibri" pitchFamily="34" charset="0"/>
                <a:ea typeface="Calibri" pitchFamily="34" charset="-122"/>
                <a:cs typeface="Calibri" pitchFamily="34" charset="-120"/>
              </a:rPr>
              <a:t>THEORY · ROUTER + PINIA · 22:00–38:00</a:t>
            </a:r>
            <a:endParaRPr lang="en-US" sz="1200" dirty="0"/>
          </a:p>
        </p:txBody>
      </p:sp>
      <p:sp>
        <p:nvSpPr>
          <p:cNvPr id="5" name="Text 2"/>
          <p:cNvSpPr/>
          <p:nvPr/>
        </p:nvSpPr>
        <p:spPr>
          <a:xfrm>
            <a:off x="1298448" y="713232"/>
            <a:ext cx="10332720" cy="566928"/>
          </a:xfrm>
          <a:prstGeom prst="rect">
            <a:avLst/>
          </a:prstGeom>
          <a:noFill/>
          <a:ln/>
        </p:spPr>
        <p:txBody>
          <a:bodyPr wrap="square" lIns="0" tIns="0" rIns="0" bIns="0" rtlCol="0" anchor="ctr"/>
          <a:lstStyle/>
          <a:p>
            <a:pPr marL="0" indent="0" algn="l">
              <a:buNone/>
            </a:pPr>
            <a:r>
              <a:rPr lang="en-US" sz="2800" b="1" dirty="0">
                <a:solidFill>
                  <a:srgbClr val="2C3E50"/>
                </a:solidFill>
                <a:latin typeface="Cambria" pitchFamily="34" charset="0"/>
                <a:ea typeface="Cambria" pitchFamily="34" charset="-122"/>
                <a:cs typeface="Cambria" pitchFamily="34" charset="-120"/>
              </a:rPr>
              <a:t>Stores Inside Router Guards</a:t>
            </a:r>
            <a:endParaRPr lang="en-US" sz="2800" dirty="0"/>
          </a:p>
        </p:txBody>
      </p:sp>
      <p:sp>
        <p:nvSpPr>
          <p:cNvPr id="6" name="Text 3"/>
          <p:cNvSpPr/>
          <p:nvPr/>
        </p:nvSpPr>
        <p:spPr>
          <a:xfrm>
            <a:off x="548640" y="1298448"/>
            <a:ext cx="11064240" cy="365760"/>
          </a:xfrm>
          <a:prstGeom prst="rect">
            <a:avLst/>
          </a:prstGeom>
          <a:noFill/>
          <a:ln/>
        </p:spPr>
        <p:txBody>
          <a:bodyPr wrap="square" lIns="0" tIns="0" rIns="0" bIns="0" rtlCol="0" anchor="ctr"/>
          <a:lstStyle/>
          <a:p>
            <a:pPr marL="0" indent="0">
              <a:buNone/>
            </a:pPr>
            <a:r>
              <a:rPr lang="en-US" sz="1300" dirty="0">
                <a:solidFill>
                  <a:srgbClr val="6B7C8C"/>
                </a:solidFill>
                <a:latin typeface="Calibri" pitchFamily="34" charset="0"/>
                <a:ea typeface="Calibri" pitchFamily="34" charset="-122"/>
                <a:cs typeface="Calibri" pitchFamily="34" charset="-120"/>
              </a:rPr>
              <a:t>Guards run after the app is created, so Pinia is always available. Call useXxxStore() inside the guard — never at the top of the file.</a:t>
            </a:r>
            <a:endParaRPr lang="en-US" sz="1300" dirty="0"/>
          </a:p>
        </p:txBody>
      </p:sp>
      <p:sp>
        <p:nvSpPr>
          <p:cNvPr id="7" name="Shape 4"/>
          <p:cNvSpPr/>
          <p:nvPr/>
        </p:nvSpPr>
        <p:spPr>
          <a:xfrm>
            <a:off x="548640" y="1783080"/>
            <a:ext cx="11091672" cy="3656203"/>
          </a:xfrm>
          <a:prstGeom prst="roundRect">
            <a:avLst>
              <a:gd name="adj" fmla="val 2251"/>
            </a:avLst>
          </a:prstGeom>
          <a:solidFill>
            <a:srgbClr val="1B2832"/>
          </a:solidFill>
          <a:ln/>
          <a:effectLst>
            <a:outerShdw blurRad="114300" dist="38100" dir="5400000" algn="bl" rotWithShape="0">
              <a:srgbClr val="1E2B38">
                <a:alpha val="16000"/>
              </a:srgbClr>
            </a:outerShdw>
          </a:effectLst>
        </p:spPr>
      </p:sp>
      <p:sp>
        <p:nvSpPr>
          <p:cNvPr id="8" name="Text 5"/>
          <p:cNvSpPr/>
          <p:nvPr/>
        </p:nvSpPr>
        <p:spPr>
          <a:xfrm>
            <a:off x="749808" y="1819656"/>
            <a:ext cx="10689336" cy="3583051"/>
          </a:xfrm>
          <a:prstGeom prst="rect">
            <a:avLst/>
          </a:prstGeom>
          <a:noFill/>
          <a:ln/>
        </p:spPr>
        <p:txBody>
          <a:bodyPr wrap="square" lIns="0" tIns="0" rIns="0" bIns="0" rtlCol="0" anchor="t"/>
          <a:lstStyle/>
          <a:p>
            <a:pPr marL="0" indent="0" algn="l">
              <a:lnSpc>
                <a:spcPts val="1541"/>
              </a:lnSpc>
              <a:buNone/>
            </a:pPr>
            <a:r>
              <a:rPr lang="en-US" sz="1150" dirty="0">
                <a:solidFill>
                  <a:srgbClr val="6E8694"/>
                </a:solidFill>
                <a:latin typeface="Courier New" pitchFamily="34" charset="0"/>
                <a:ea typeface="Courier New" pitchFamily="34" charset="-122"/>
                <a:cs typeface="Courier New" pitchFamily="34" charset="-120"/>
              </a:rPr>
              <a:t>// src/router/index.js</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import { useAuthStore } from '@/stores/auth'</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router.beforeEach(async (to) =&gt;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const auth = useAuthStore()   // ✅ inside guard — Pinia is active</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t>
            </a:r>
            <a:endParaRPr lang="en-US" sz="1150" dirty="0"/>
          </a:p>
          <a:p>
            <a:pPr marL="0" indent="0" algn="l">
              <a:lnSpc>
                <a:spcPts val="1541"/>
              </a:lnSpc>
              <a:buNone/>
            </a:pPr>
            <a:r>
              <a:rPr lang="en-US" sz="1150" dirty="0">
                <a:solidFill>
                  <a:srgbClr val="6E8694"/>
                </a:solidFill>
                <a:latin typeface="Courier New" pitchFamily="34" charset="0"/>
                <a:ea typeface="Courier New" pitchFamily="34" charset="-122"/>
                <a:cs typeface="Courier New" pitchFamily="34" charset="-120"/>
              </a:rPr>
              <a:t>  // hydrate user if we have a token but no user yet</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if (auth.token &amp;&amp; !auth.user) await auth.fetchUser()</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if (to.meta.guestOnly &amp;&amp; auth.isLoggedIn) return { name: 'dashboard'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if (to.meta.requiresAuth &amp;&amp; !auth.isLoggedIn)</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return { name: 'login', query: { redirect: to.fullPath }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const required = to.meta.roles ??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  if (required.length &amp;&amp; !auth.hasRole(required)) return { name: 'forbidden' }</a:t>
            </a:r>
            <a:endParaRPr lang="en-US" sz="1150" dirty="0"/>
          </a:p>
          <a:p>
            <a:pPr marL="0" indent="0" algn="l">
              <a:lnSpc>
                <a:spcPts val="1541"/>
              </a:lnSpc>
              <a:buNone/>
            </a:pPr>
            <a:r>
              <a:rPr lang="en-US" sz="1150" dirty="0">
                <a:solidFill>
                  <a:srgbClr val="E7ECEF"/>
                </a:solidFill>
                <a:latin typeface="Courier New" pitchFamily="34" charset="0"/>
                <a:ea typeface="Courier New" pitchFamily="34" charset="-122"/>
                <a:cs typeface="Courier New" pitchFamily="34" charset="-120"/>
              </a:rPr>
              <a:t>})</a:t>
            </a:r>
            <a:endParaRPr lang="en-US" sz="1150" dirty="0"/>
          </a:p>
        </p:txBody>
      </p:sp>
      <p:sp>
        <p:nvSpPr>
          <p:cNvPr id="9" name="Text 6"/>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10" name="Text 7"/>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Router + Pinia</a:t>
            </a:r>
            <a:endParaRPr lang="en-US" sz="900" dirty="0"/>
          </a:p>
        </p:txBody>
      </p:sp>
      <p:sp>
        <p:nvSpPr>
          <p:cNvPr id="11" name="Text 8"/>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A6760C"/>
                </a:solidFill>
                <a:latin typeface="Calibri" pitchFamily="34" charset="0"/>
                <a:ea typeface="Calibri" pitchFamily="34" charset="-122"/>
                <a:cs typeface="Calibri" pitchFamily="34" charset="-120"/>
              </a:rPr>
              <a:t>THEORY · ROUTER + PINIA · 22:00–38:00</a:t>
            </a:r>
            <a:endParaRPr lang="en-US" sz="1200" dirty="0"/>
          </a:p>
        </p:txBody>
      </p:sp>
      <p:sp>
        <p:nvSpPr>
          <p:cNvPr id="5" name="Text 2"/>
          <p:cNvSpPr/>
          <p:nvPr/>
        </p:nvSpPr>
        <p:spPr>
          <a:xfrm>
            <a:off x="1298448" y="713232"/>
            <a:ext cx="10332720" cy="566928"/>
          </a:xfrm>
          <a:prstGeom prst="rect">
            <a:avLst/>
          </a:prstGeom>
          <a:noFill/>
          <a:ln/>
        </p:spPr>
        <p:txBody>
          <a:bodyPr wrap="square" lIns="0" tIns="0" rIns="0" bIns="0" rtlCol="0" anchor="ctr"/>
          <a:lstStyle/>
          <a:p>
            <a:pPr marL="0" indent="0" algn="l">
              <a:buNone/>
            </a:pPr>
            <a:r>
              <a:rPr lang="en-US" sz="2800" b="1" dirty="0">
                <a:solidFill>
                  <a:srgbClr val="2C3E50"/>
                </a:solidFill>
                <a:latin typeface="Cambria" pitchFamily="34" charset="0"/>
                <a:ea typeface="Cambria" pitchFamily="34" charset="-122"/>
                <a:cs typeface="Cambria" pitchFamily="34" charset="-120"/>
              </a:rPr>
              <a:t>The Auth Store (useAuthStore)</a:t>
            </a:r>
            <a:endParaRPr lang="en-US" sz="2800" dirty="0"/>
          </a:p>
        </p:txBody>
      </p:sp>
      <p:sp>
        <p:nvSpPr>
          <p:cNvPr id="6" name="Shape 3"/>
          <p:cNvSpPr/>
          <p:nvPr/>
        </p:nvSpPr>
        <p:spPr>
          <a:xfrm>
            <a:off x="548640" y="1417320"/>
            <a:ext cx="11091672" cy="3902964"/>
          </a:xfrm>
          <a:prstGeom prst="roundRect">
            <a:avLst>
              <a:gd name="adj" fmla="val 2109"/>
            </a:avLst>
          </a:prstGeom>
          <a:solidFill>
            <a:srgbClr val="1B2832"/>
          </a:solidFill>
          <a:ln/>
          <a:effectLst>
            <a:outerShdw blurRad="114300" dist="38100" dir="5400000" algn="bl" rotWithShape="0">
              <a:srgbClr val="1E2B38">
                <a:alpha val="16000"/>
              </a:srgbClr>
            </a:outerShdw>
          </a:effectLst>
        </p:spPr>
      </p:sp>
      <p:sp>
        <p:nvSpPr>
          <p:cNvPr id="7" name="Text 4"/>
          <p:cNvSpPr/>
          <p:nvPr/>
        </p:nvSpPr>
        <p:spPr>
          <a:xfrm>
            <a:off x="749808" y="1453896"/>
            <a:ext cx="10689336" cy="3829812"/>
          </a:xfrm>
          <a:prstGeom prst="rect">
            <a:avLst/>
          </a:prstGeom>
          <a:noFill/>
          <a:ln/>
        </p:spPr>
        <p:txBody>
          <a:bodyPr wrap="square" lIns="0" tIns="0" rIns="0" bIns="0" rtlCol="0" anchor="t"/>
          <a:lstStyle/>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export const useAuthStore = defineStore('auth', () =&gt; {</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  const user  = ref(null)                       // { id, name, role }</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  const token = ref(localStorage.getItem('auth_token') ?? null)</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 </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  const isLoggedIn = computed(() =&gt; !!token.value)</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  const isAdmin    = computed(() =&gt; user.value?.role === 'admin')</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  function hasRole(roles) { return roles.includes(user.value?.role) }</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 </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  async function login(email, password) {</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    const { data } = await api.post('/auth/login', { email, password })</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    token.value = data.token; user.value = data.user</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    localStorage.setItem('auth_token', data.token)</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  }</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  async function fetchUser() {</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    if (!token.value) return</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    user.value = (await api.get('/auth/me')).data</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  }</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  function logout() { user.value = null; token.value = null }</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  return { user, token, isLoggedIn, isAdmin, hasRole, login, fetchUser, logout }</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a:t>
            </a:r>
            <a:endParaRPr lang="en-US" sz="1050" dirty="0"/>
          </a:p>
        </p:txBody>
      </p:sp>
      <p:sp>
        <p:nvSpPr>
          <p:cNvPr id="8" name="Shape 5"/>
          <p:cNvSpPr/>
          <p:nvPr/>
        </p:nvSpPr>
        <p:spPr>
          <a:xfrm>
            <a:off x="548640" y="5715000"/>
            <a:ext cx="11091672" cy="1152144"/>
          </a:xfrm>
          <a:prstGeom prst="roundRect">
            <a:avLst>
              <a:gd name="adj" fmla="val 5556"/>
            </a:avLst>
          </a:prstGeom>
          <a:solidFill>
            <a:srgbClr val="FCF4E0"/>
          </a:solidFill>
          <a:ln/>
          <a:effectLst>
            <a:outerShdw blurRad="88900" dist="25400" dir="5400000" algn="bl" rotWithShape="0">
              <a:srgbClr val="35495E">
                <a:alpha val="13000"/>
              </a:srgbClr>
            </a:outerShdw>
          </a:effectLst>
        </p:spPr>
      </p:sp>
      <p:sp>
        <p:nvSpPr>
          <p:cNvPr id="9" name="Shape 6"/>
          <p:cNvSpPr/>
          <p:nvPr/>
        </p:nvSpPr>
        <p:spPr>
          <a:xfrm>
            <a:off x="749808" y="5916168"/>
            <a:ext cx="457200" cy="457200"/>
          </a:xfrm>
          <a:prstGeom prst="ellipse">
            <a:avLst/>
          </a:prstGeom>
          <a:solidFill>
            <a:srgbClr val="E0A21B"/>
          </a:solidFill>
          <a:ln/>
          <a:effectLst>
            <a:outerShdw blurRad="88900" dist="25400" dir="5400000" algn="bl" rotWithShape="0">
              <a:srgbClr val="35495E">
                <a:alpha val="13000"/>
              </a:srgbClr>
            </a:outerShdw>
          </a:effectLst>
        </p:spPr>
      </p:sp>
      <p:pic>
        <p:nvPicPr>
          <p:cNvPr id="10" name="Image 1" descr="preencoded.png"/>
          <p:cNvPicPr>
            <a:picLocks noChangeAspect="1"/>
          </p:cNvPicPr>
          <p:nvPr/>
        </p:nvPicPr>
        <p:blipFill>
          <a:blip r:embed="rId4"/>
          <a:stretch>
            <a:fillRect/>
          </a:stretch>
        </p:blipFill>
        <p:spPr>
          <a:xfrm>
            <a:off x="873252" y="6039612"/>
            <a:ext cx="210312" cy="210312"/>
          </a:xfrm>
          <a:prstGeom prst="rect">
            <a:avLst/>
          </a:prstGeom>
        </p:spPr>
      </p:pic>
      <p:sp>
        <p:nvSpPr>
          <p:cNvPr id="11" name="Text 7"/>
          <p:cNvSpPr/>
          <p:nvPr/>
        </p:nvSpPr>
        <p:spPr>
          <a:xfrm>
            <a:off x="1335024" y="5879592"/>
            <a:ext cx="10131552" cy="310896"/>
          </a:xfrm>
          <a:prstGeom prst="rect">
            <a:avLst/>
          </a:prstGeom>
          <a:noFill/>
          <a:ln/>
        </p:spPr>
        <p:txBody>
          <a:bodyPr wrap="square" lIns="0" tIns="0" rIns="0" bIns="0" rtlCol="0" anchor="ctr"/>
          <a:lstStyle/>
          <a:p>
            <a:pPr marL="0" indent="0" algn="l">
              <a:buNone/>
            </a:pPr>
            <a:r>
              <a:rPr lang="en-US" sz="1400" b="1" dirty="0">
                <a:solidFill>
                  <a:srgbClr val="A6760C"/>
                </a:solidFill>
                <a:latin typeface="Calibri" pitchFamily="34" charset="0"/>
                <a:ea typeface="Calibri" pitchFamily="34" charset="-122"/>
                <a:cs typeface="Calibri" pitchFamily="34" charset="-120"/>
              </a:rPr>
              <a:t>Token persistence — the manual way (for now)</a:t>
            </a:r>
            <a:endParaRPr lang="en-US" sz="1400" dirty="0"/>
          </a:p>
        </p:txBody>
      </p:sp>
      <p:sp>
        <p:nvSpPr>
          <p:cNvPr id="12" name="Text 8"/>
          <p:cNvSpPr/>
          <p:nvPr/>
        </p:nvSpPr>
        <p:spPr>
          <a:xfrm>
            <a:off x="1335024" y="6190488"/>
            <a:ext cx="10131552" cy="548640"/>
          </a:xfrm>
          <a:prstGeom prst="rect">
            <a:avLst/>
          </a:prstGeom>
          <a:noFill/>
          <a:ln/>
        </p:spPr>
        <p:txBody>
          <a:bodyPr wrap="square" lIns="0" tIns="0" rIns="0" bIns="0" rtlCol="0" anchor="t"/>
          <a:lstStyle/>
          <a:p>
            <a:pPr marL="0" indent="0" algn="l">
              <a:lnSpc>
                <a:spcPts val="1600"/>
              </a:lnSpc>
              <a:buNone/>
            </a:pPr>
            <a:r>
              <a:rPr lang="en-US" sz="1250" dirty="0">
                <a:solidFill>
                  <a:srgbClr val="2C3E50"/>
                </a:solidFill>
                <a:latin typeface="Calibri" pitchFamily="34" charset="0"/>
                <a:ea typeface="Calibri" pitchFamily="34" charset="-122"/>
                <a:cs typeface="Calibri" pitchFamily="34" charset="-120"/>
              </a:rPr>
              <a:t>This reads/writes localStorage by hand. Next section replaces it with pinia-plugin-persistedstate — declarative and SSR-safe.</a:t>
            </a:r>
            <a:endParaRPr lang="en-US" sz="1250" dirty="0"/>
          </a:p>
        </p:txBody>
      </p:sp>
      <p:sp>
        <p:nvSpPr>
          <p:cNvPr id="13" name="Text 9"/>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14" name="Text 10"/>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Router + Pinia</a:t>
            </a:r>
            <a:endParaRPr lang="en-US" sz="900" dirty="0"/>
          </a:p>
        </p:txBody>
      </p:sp>
      <p:sp>
        <p:nvSpPr>
          <p:cNvPr id="15" name="Text 11"/>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A6760C"/>
                </a:solidFill>
                <a:latin typeface="Calibri" pitchFamily="34" charset="0"/>
                <a:ea typeface="Calibri" pitchFamily="34" charset="-122"/>
                <a:cs typeface="Calibri" pitchFamily="34" charset="-120"/>
              </a:rPr>
              <a:t>THEORY · PLUGINS &amp; PERSIST · 38:00–52:00</a:t>
            </a:r>
            <a:endParaRPr lang="en-US" sz="1200" dirty="0"/>
          </a:p>
        </p:txBody>
      </p:sp>
      <p:sp>
        <p:nvSpPr>
          <p:cNvPr id="5" name="Text 2"/>
          <p:cNvSpPr/>
          <p:nvPr/>
        </p:nvSpPr>
        <p:spPr>
          <a:xfrm>
            <a:off x="1298448" y="713232"/>
            <a:ext cx="10332720" cy="566928"/>
          </a:xfrm>
          <a:prstGeom prst="rect">
            <a:avLst/>
          </a:prstGeom>
          <a:noFill/>
          <a:ln/>
        </p:spPr>
        <p:txBody>
          <a:bodyPr wrap="square" lIns="0" tIns="0" rIns="0" bIns="0" rtlCol="0" anchor="ctr"/>
          <a:lstStyle/>
          <a:p>
            <a:pPr marL="0" indent="0" algn="l">
              <a:buNone/>
            </a:pPr>
            <a:r>
              <a:rPr lang="en-US" sz="2800" b="1" dirty="0">
                <a:solidFill>
                  <a:srgbClr val="2C3E50"/>
                </a:solidFill>
                <a:latin typeface="Cambria" pitchFamily="34" charset="0"/>
                <a:ea typeface="Cambria" pitchFamily="34" charset="-122"/>
                <a:cs typeface="Cambria" pitchFamily="34" charset="-120"/>
              </a:rPr>
              <a:t>pinia-plugin-persistedstate</a:t>
            </a:r>
            <a:endParaRPr lang="en-US" sz="2800" dirty="0"/>
          </a:p>
        </p:txBody>
      </p:sp>
      <p:sp>
        <p:nvSpPr>
          <p:cNvPr id="6" name="Text 3"/>
          <p:cNvSpPr/>
          <p:nvPr/>
        </p:nvSpPr>
        <p:spPr>
          <a:xfrm>
            <a:off x="548640" y="1298448"/>
            <a:ext cx="11064240" cy="365760"/>
          </a:xfrm>
          <a:prstGeom prst="rect">
            <a:avLst/>
          </a:prstGeom>
          <a:noFill/>
          <a:ln/>
        </p:spPr>
        <p:txBody>
          <a:bodyPr wrap="square" lIns="0" tIns="0" rIns="0" bIns="0" rtlCol="0" anchor="ctr"/>
          <a:lstStyle/>
          <a:p>
            <a:pPr marL="0" indent="0">
              <a:buNone/>
            </a:pPr>
            <a:r>
              <a:rPr lang="en-US" sz="1300" dirty="0">
                <a:solidFill>
                  <a:srgbClr val="6B7C8C"/>
                </a:solidFill>
                <a:latin typeface="Calibri" pitchFamily="34" charset="0"/>
                <a:ea typeface="Calibri" pitchFamily="34" charset="-122"/>
                <a:cs typeface="Calibri" pitchFamily="34" charset="-120"/>
              </a:rPr>
              <a:t>The most popular plugin — saves and restores store state to storage with zero boilerplate.</a:t>
            </a:r>
            <a:endParaRPr lang="en-US" sz="1300" dirty="0"/>
          </a:p>
        </p:txBody>
      </p:sp>
      <p:sp>
        <p:nvSpPr>
          <p:cNvPr id="7" name="Shape 4"/>
          <p:cNvSpPr/>
          <p:nvPr/>
        </p:nvSpPr>
        <p:spPr>
          <a:xfrm>
            <a:off x="548640" y="1783080"/>
            <a:ext cx="5486400" cy="1826768"/>
          </a:xfrm>
          <a:prstGeom prst="roundRect">
            <a:avLst>
              <a:gd name="adj" fmla="val 4505"/>
            </a:avLst>
          </a:prstGeom>
          <a:solidFill>
            <a:srgbClr val="1B2832"/>
          </a:solidFill>
          <a:ln/>
          <a:effectLst>
            <a:outerShdw blurRad="114300" dist="38100" dir="5400000" algn="bl" rotWithShape="0">
              <a:srgbClr val="1E2B38">
                <a:alpha val="16000"/>
              </a:srgbClr>
            </a:outerShdw>
          </a:effectLst>
        </p:spPr>
      </p:sp>
      <p:sp>
        <p:nvSpPr>
          <p:cNvPr id="8" name="Text 5"/>
          <p:cNvSpPr/>
          <p:nvPr/>
        </p:nvSpPr>
        <p:spPr>
          <a:xfrm>
            <a:off x="749808" y="1819656"/>
            <a:ext cx="5084064" cy="1753616"/>
          </a:xfrm>
          <a:prstGeom prst="rect">
            <a:avLst/>
          </a:prstGeom>
          <a:noFill/>
          <a:ln/>
        </p:spPr>
        <p:txBody>
          <a:bodyPr wrap="square" lIns="0" tIns="0" rIns="0" bIns="0" rtlCol="0" anchor="t"/>
          <a:lstStyle/>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npm install pinia-plugin-persistedstate</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a:t>
            </a:r>
            <a:endParaRPr lang="en-US" sz="1100" dirty="0"/>
          </a:p>
          <a:p>
            <a:pPr marL="0" indent="0" algn="l">
              <a:lnSpc>
                <a:spcPts val="1474"/>
              </a:lnSpc>
              <a:buNone/>
            </a:pPr>
            <a:r>
              <a:rPr lang="en-US" sz="1100" dirty="0">
                <a:solidFill>
                  <a:srgbClr val="6E8694"/>
                </a:solidFill>
                <a:latin typeface="Courier New" pitchFamily="34" charset="0"/>
                <a:ea typeface="Courier New" pitchFamily="34" charset="-122"/>
                <a:cs typeface="Courier New" pitchFamily="34" charset="-120"/>
              </a:rPr>
              <a:t>// main.js</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import piniaPluginPersistedstate from</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'pinia-plugin-persistedstate'</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const pinia = createPinia()</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pinia.use(piniaPluginPersistedstate)</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app.use(pinia)</a:t>
            </a:r>
            <a:endParaRPr lang="en-US" sz="1100" dirty="0"/>
          </a:p>
        </p:txBody>
      </p:sp>
      <p:sp>
        <p:nvSpPr>
          <p:cNvPr id="9" name="Shape 6"/>
          <p:cNvSpPr/>
          <p:nvPr/>
        </p:nvSpPr>
        <p:spPr>
          <a:xfrm>
            <a:off x="6172200" y="1783080"/>
            <a:ext cx="5468112" cy="2388362"/>
          </a:xfrm>
          <a:prstGeom prst="roundRect">
            <a:avLst>
              <a:gd name="adj" fmla="val 3446"/>
            </a:avLst>
          </a:prstGeom>
          <a:solidFill>
            <a:srgbClr val="1B2832"/>
          </a:solidFill>
          <a:ln/>
          <a:effectLst>
            <a:outerShdw blurRad="114300" dist="38100" dir="5400000" algn="bl" rotWithShape="0">
              <a:srgbClr val="1E2B38">
                <a:alpha val="16000"/>
              </a:srgbClr>
            </a:outerShdw>
          </a:effectLst>
        </p:spPr>
      </p:sp>
      <p:sp>
        <p:nvSpPr>
          <p:cNvPr id="10" name="Text 7"/>
          <p:cNvSpPr/>
          <p:nvPr/>
        </p:nvSpPr>
        <p:spPr>
          <a:xfrm>
            <a:off x="6373368" y="1819656"/>
            <a:ext cx="5065776" cy="2315210"/>
          </a:xfrm>
          <a:prstGeom prst="rect">
            <a:avLst/>
          </a:prstGeom>
          <a:noFill/>
          <a:ln/>
        </p:spPr>
        <p:txBody>
          <a:bodyPr wrap="square" lIns="0" tIns="0" rIns="0" bIns="0" rtlCol="0" anchor="t"/>
          <a:lstStyle/>
          <a:p>
            <a:pPr marL="0" indent="0" algn="l">
              <a:lnSpc>
                <a:spcPts val="1474"/>
              </a:lnSpc>
              <a:buNone/>
            </a:pPr>
            <a:r>
              <a:rPr lang="en-US" sz="1100" dirty="0">
                <a:solidFill>
                  <a:srgbClr val="6E8694"/>
                </a:solidFill>
                <a:latin typeface="Courier New" pitchFamily="34" charset="0"/>
                <a:ea typeface="Courier New" pitchFamily="34" charset="-122"/>
                <a:cs typeface="Courier New" pitchFamily="34" charset="-120"/>
              </a:rPr>
              <a:t>// in the store — simplest form</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defineStore('auth', () =&gt; { ... }, {</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persist: true   // saves all state</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a:t>
            </a:r>
            <a:endParaRPr lang="en-US" sz="1100" dirty="0"/>
          </a:p>
          <a:p>
            <a:pPr marL="0" indent="0" algn="l">
              <a:lnSpc>
                <a:spcPts val="1474"/>
              </a:lnSpc>
              <a:buNone/>
            </a:pPr>
            <a:r>
              <a:rPr lang="en-US" sz="1100" dirty="0">
                <a:solidFill>
                  <a:srgbClr val="6E8694"/>
                </a:solidFill>
                <a:latin typeface="Courier New" pitchFamily="34" charset="0"/>
                <a:ea typeface="Courier New" pitchFamily="34" charset="-122"/>
                <a:cs typeface="Courier New" pitchFamily="34" charset="-120"/>
              </a:rPr>
              <a:t>// fine-grained control</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persist: {</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key: 'my-auth',</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storage: sessionStorage,</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pick: ['token'],   // persist only these</a:t>
            </a:r>
            <a:endParaRPr lang="en-US" sz="1100" dirty="0"/>
          </a:p>
          <a:p>
            <a:pPr marL="0" indent="0" algn="l">
              <a:lnSpc>
                <a:spcPts val="1474"/>
              </a:lnSpc>
              <a:buNone/>
            </a:pPr>
            <a:r>
              <a:rPr lang="en-US" sz="1100" dirty="0">
                <a:solidFill>
                  <a:srgbClr val="E7ECEF"/>
                </a:solidFill>
                <a:latin typeface="Courier New" pitchFamily="34" charset="0"/>
                <a:ea typeface="Courier New" pitchFamily="34" charset="-122"/>
                <a:cs typeface="Courier New" pitchFamily="34" charset="-120"/>
              </a:rPr>
              <a:t>} }</a:t>
            </a:r>
            <a:endParaRPr lang="en-US" sz="1100" dirty="0"/>
          </a:p>
        </p:txBody>
      </p:sp>
      <p:sp>
        <p:nvSpPr>
          <p:cNvPr id="11" name="Shape 8"/>
          <p:cNvSpPr/>
          <p:nvPr/>
        </p:nvSpPr>
        <p:spPr>
          <a:xfrm>
            <a:off x="548640" y="5029200"/>
            <a:ext cx="11091672" cy="1152144"/>
          </a:xfrm>
          <a:prstGeom prst="roundRect">
            <a:avLst>
              <a:gd name="adj" fmla="val 5556"/>
            </a:avLst>
          </a:prstGeom>
          <a:solidFill>
            <a:srgbClr val="E9F6EF"/>
          </a:solidFill>
          <a:ln/>
          <a:effectLst>
            <a:outerShdw blurRad="88900" dist="25400" dir="5400000" algn="bl" rotWithShape="0">
              <a:srgbClr val="35495E">
                <a:alpha val="13000"/>
              </a:srgbClr>
            </a:outerShdw>
          </a:effectLst>
        </p:spPr>
      </p:sp>
      <p:sp>
        <p:nvSpPr>
          <p:cNvPr id="12" name="Shape 9"/>
          <p:cNvSpPr/>
          <p:nvPr/>
        </p:nvSpPr>
        <p:spPr>
          <a:xfrm>
            <a:off x="749808" y="5230368"/>
            <a:ext cx="457200" cy="457200"/>
          </a:xfrm>
          <a:prstGeom prst="ellipse">
            <a:avLst/>
          </a:prstGeom>
          <a:solidFill>
            <a:srgbClr val="2FA36B"/>
          </a:solidFill>
          <a:ln/>
          <a:effectLst>
            <a:outerShdw blurRad="88900" dist="25400" dir="5400000" algn="bl" rotWithShape="0">
              <a:srgbClr val="35495E">
                <a:alpha val="13000"/>
              </a:srgbClr>
            </a:outerShdw>
          </a:effectLst>
        </p:spPr>
      </p:sp>
      <p:pic>
        <p:nvPicPr>
          <p:cNvPr id="13" name="Image 1" descr="preencoded.png"/>
          <p:cNvPicPr>
            <a:picLocks noChangeAspect="1"/>
          </p:cNvPicPr>
          <p:nvPr/>
        </p:nvPicPr>
        <p:blipFill>
          <a:blip r:embed="rId4"/>
          <a:stretch>
            <a:fillRect/>
          </a:stretch>
        </p:blipFill>
        <p:spPr>
          <a:xfrm>
            <a:off x="873252" y="5353812"/>
            <a:ext cx="210312" cy="210312"/>
          </a:xfrm>
          <a:prstGeom prst="rect">
            <a:avLst/>
          </a:prstGeom>
        </p:spPr>
      </p:pic>
      <p:sp>
        <p:nvSpPr>
          <p:cNvPr id="14" name="Text 10"/>
          <p:cNvSpPr/>
          <p:nvPr/>
        </p:nvSpPr>
        <p:spPr>
          <a:xfrm>
            <a:off x="1335024" y="5193792"/>
            <a:ext cx="10131552" cy="310896"/>
          </a:xfrm>
          <a:prstGeom prst="rect">
            <a:avLst/>
          </a:prstGeom>
          <a:noFill/>
          <a:ln/>
        </p:spPr>
        <p:txBody>
          <a:bodyPr wrap="square" lIns="0" tIns="0" rIns="0" bIns="0" rtlCol="0" anchor="ctr"/>
          <a:lstStyle/>
          <a:p>
            <a:pPr marL="0" indent="0" algn="l">
              <a:buNone/>
            </a:pPr>
            <a:r>
              <a:rPr lang="en-US" sz="1400" b="1" dirty="0">
                <a:solidFill>
                  <a:srgbClr val="1F7A4D"/>
                </a:solidFill>
                <a:latin typeface="Calibri" pitchFamily="34" charset="0"/>
                <a:ea typeface="Calibri" pitchFamily="34" charset="-122"/>
                <a:cs typeface="Calibri" pitchFamily="34" charset="-120"/>
              </a:rPr>
              <a:t>pick what you persist</a:t>
            </a:r>
            <a:endParaRPr lang="en-US" sz="1400" dirty="0"/>
          </a:p>
        </p:txBody>
      </p:sp>
      <p:sp>
        <p:nvSpPr>
          <p:cNvPr id="15" name="Text 11"/>
          <p:cNvSpPr/>
          <p:nvPr/>
        </p:nvSpPr>
        <p:spPr>
          <a:xfrm>
            <a:off x="1335024" y="5504688"/>
            <a:ext cx="10131552" cy="548640"/>
          </a:xfrm>
          <a:prstGeom prst="rect">
            <a:avLst/>
          </a:prstGeom>
          <a:noFill/>
          <a:ln/>
        </p:spPr>
        <p:txBody>
          <a:bodyPr wrap="square" lIns="0" tIns="0" rIns="0" bIns="0" rtlCol="0" anchor="t"/>
          <a:lstStyle/>
          <a:p>
            <a:pPr marL="0" indent="0" algn="l">
              <a:lnSpc>
                <a:spcPts val="1600"/>
              </a:lnSpc>
              <a:buNone/>
            </a:pPr>
            <a:r>
              <a:rPr lang="en-US" sz="1250" dirty="0">
                <a:solidFill>
                  <a:srgbClr val="2C3E50"/>
                </a:solidFill>
                <a:latin typeface="Calibri" pitchFamily="34" charset="0"/>
                <a:ea typeface="Calibri" pitchFamily="34" charset="-122"/>
                <a:cs typeface="Calibri" pitchFamily="34" charset="-120"/>
              </a:rPr>
              <a:t>persist: { pick: ['token'] } stores only the token — re-fetch the user from the API. Persisting less means less stale and less sensitive data sitting in localStorage.</a:t>
            </a:r>
            <a:endParaRPr lang="en-US" sz="1250" dirty="0"/>
          </a:p>
        </p:txBody>
      </p:sp>
      <p:sp>
        <p:nvSpPr>
          <p:cNvPr id="16" name="Text 12"/>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17" name="Text 13"/>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Plugins &amp; Persist</a:t>
            </a:r>
            <a:endParaRPr lang="en-US" sz="900" dirty="0"/>
          </a:p>
        </p:txBody>
      </p:sp>
      <p:sp>
        <p:nvSpPr>
          <p:cNvPr id="18" name="Text 14"/>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A6760C"/>
                </a:solidFill>
                <a:latin typeface="Calibri" pitchFamily="34" charset="0"/>
                <a:ea typeface="Calibri" pitchFamily="34" charset="-122"/>
                <a:cs typeface="Calibri" pitchFamily="34" charset="-120"/>
              </a:rPr>
              <a:t>THEORY · PLUGINS &amp; PERSIST · 38:00–52:00</a:t>
            </a:r>
            <a:endParaRPr lang="en-US" sz="1200" dirty="0"/>
          </a:p>
        </p:txBody>
      </p:sp>
      <p:sp>
        <p:nvSpPr>
          <p:cNvPr id="5" name="Text 2"/>
          <p:cNvSpPr/>
          <p:nvPr/>
        </p:nvSpPr>
        <p:spPr>
          <a:xfrm>
            <a:off x="1298448" y="713232"/>
            <a:ext cx="10332720" cy="566928"/>
          </a:xfrm>
          <a:prstGeom prst="rect">
            <a:avLst/>
          </a:prstGeom>
          <a:noFill/>
          <a:ln/>
        </p:spPr>
        <p:txBody>
          <a:bodyPr wrap="square" lIns="0" tIns="0" rIns="0" bIns="0" rtlCol="0" anchor="ctr"/>
          <a:lstStyle/>
          <a:p>
            <a:pPr marL="0" indent="0" algn="l">
              <a:buNone/>
            </a:pPr>
            <a:r>
              <a:rPr lang="en-US" sz="2800" b="1" dirty="0">
                <a:solidFill>
                  <a:srgbClr val="2C3E50"/>
                </a:solidFill>
                <a:latin typeface="Cambria" pitchFamily="34" charset="0"/>
                <a:ea typeface="Cambria" pitchFamily="34" charset="-122"/>
                <a:cs typeface="Cambria" pitchFamily="34" charset="-120"/>
              </a:rPr>
              <a:t>Custom Plugins &amp; SSR Notes</a:t>
            </a:r>
            <a:endParaRPr lang="en-US" sz="2800" dirty="0"/>
          </a:p>
        </p:txBody>
      </p:sp>
      <p:sp>
        <p:nvSpPr>
          <p:cNvPr id="6" name="Shape 3"/>
          <p:cNvSpPr/>
          <p:nvPr/>
        </p:nvSpPr>
        <p:spPr>
          <a:xfrm>
            <a:off x="548640" y="1463040"/>
            <a:ext cx="6035040" cy="2652141"/>
          </a:xfrm>
          <a:prstGeom prst="roundRect">
            <a:avLst>
              <a:gd name="adj" fmla="val 3103"/>
            </a:avLst>
          </a:prstGeom>
          <a:solidFill>
            <a:srgbClr val="1B2832"/>
          </a:solidFill>
          <a:ln/>
          <a:effectLst>
            <a:outerShdw blurRad="114300" dist="38100" dir="5400000" algn="bl" rotWithShape="0">
              <a:srgbClr val="1E2B38">
                <a:alpha val="16000"/>
              </a:srgbClr>
            </a:outerShdw>
          </a:effectLst>
        </p:spPr>
      </p:sp>
      <p:sp>
        <p:nvSpPr>
          <p:cNvPr id="7" name="Text 4"/>
          <p:cNvSpPr/>
          <p:nvPr/>
        </p:nvSpPr>
        <p:spPr>
          <a:xfrm>
            <a:off x="749808" y="1499616"/>
            <a:ext cx="5632704" cy="2578989"/>
          </a:xfrm>
          <a:prstGeom prst="rect">
            <a:avLst/>
          </a:prstGeom>
          <a:noFill/>
          <a:ln/>
        </p:spPr>
        <p:txBody>
          <a:bodyPr wrap="square" lIns="0" tIns="0" rIns="0" bIns="0" rtlCol="0" anchor="t"/>
          <a:lstStyle/>
          <a:p>
            <a:pPr marL="0" indent="0" algn="l">
              <a:lnSpc>
                <a:spcPts val="1407"/>
              </a:lnSpc>
              <a:buNone/>
            </a:pPr>
            <a:r>
              <a:rPr lang="en-US" sz="1050" dirty="0">
                <a:solidFill>
                  <a:srgbClr val="6E8694"/>
                </a:solidFill>
                <a:latin typeface="Courier New" pitchFamily="34" charset="0"/>
                <a:ea typeface="Courier New" pitchFamily="34" charset="-122"/>
                <a:cs typeface="Courier New" pitchFamily="34" charset="-120"/>
              </a:rPr>
              <a:t>// src/plugins/piniaLogger.js</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export function piniaLogger({ store }) {</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  store.$onAction(({ name, after, onError }) =&gt; {</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    const start = Date.now()</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    after(() =&gt;</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      console.log(`[${store.$id}] ${name}` +</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        ` ${Date.now()-start}ms`))</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    onError(e =&gt;</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      console.error(`[${store.$id}] ${name}`, e))</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  })</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a:t>
            </a:r>
            <a:endParaRPr lang="en-US" sz="1050" dirty="0"/>
          </a:p>
          <a:p>
            <a:pPr marL="0" indent="0" algn="l">
              <a:lnSpc>
                <a:spcPts val="1407"/>
              </a:lnSpc>
              <a:buNone/>
            </a:pPr>
            <a:r>
              <a:rPr lang="en-US" sz="1050" dirty="0">
                <a:solidFill>
                  <a:srgbClr val="6E8694"/>
                </a:solidFill>
                <a:latin typeface="Courier New" pitchFamily="34" charset="0"/>
                <a:ea typeface="Courier New" pitchFamily="34" charset="-122"/>
                <a:cs typeface="Courier New" pitchFamily="34" charset="-120"/>
              </a:rPr>
              <a:t>// main.js</a:t>
            </a:r>
            <a:endParaRPr lang="en-US" sz="1050" dirty="0"/>
          </a:p>
          <a:p>
            <a:pPr marL="0" indent="0" algn="l">
              <a:lnSpc>
                <a:spcPts val="1407"/>
              </a:lnSpc>
              <a:buNone/>
            </a:pPr>
            <a:r>
              <a:rPr lang="en-US" sz="1050" dirty="0">
                <a:solidFill>
                  <a:srgbClr val="E7ECEF"/>
                </a:solidFill>
                <a:latin typeface="Courier New" pitchFamily="34" charset="0"/>
                <a:ea typeface="Courier New" pitchFamily="34" charset="-122"/>
                <a:cs typeface="Courier New" pitchFamily="34" charset="-120"/>
              </a:rPr>
              <a:t>pinia.use(piniaLogger)   // runs for every store</a:t>
            </a:r>
            <a:endParaRPr lang="en-US" sz="1050" dirty="0"/>
          </a:p>
        </p:txBody>
      </p:sp>
      <p:sp>
        <p:nvSpPr>
          <p:cNvPr id="8" name="Shape 5"/>
          <p:cNvSpPr/>
          <p:nvPr/>
        </p:nvSpPr>
        <p:spPr>
          <a:xfrm>
            <a:off x="6812280" y="1463040"/>
            <a:ext cx="4828032" cy="3657600"/>
          </a:xfrm>
          <a:prstGeom prst="roundRect">
            <a:avLst>
              <a:gd name="adj" fmla="val 2250"/>
            </a:avLst>
          </a:prstGeom>
          <a:solidFill>
            <a:srgbClr val="F4F7F9"/>
          </a:solidFill>
          <a:ln w="12700">
            <a:solidFill>
              <a:srgbClr val="DCE5EB"/>
            </a:solidFill>
            <a:prstDash val="solid"/>
          </a:ln>
          <a:effectLst>
            <a:outerShdw blurRad="88900" dist="25400" dir="5400000" algn="bl" rotWithShape="0">
              <a:srgbClr val="35495E">
                <a:alpha val="13000"/>
              </a:srgbClr>
            </a:outerShdw>
          </a:effectLst>
        </p:spPr>
      </p:sp>
      <p:sp>
        <p:nvSpPr>
          <p:cNvPr id="9" name="Shape 6"/>
          <p:cNvSpPr/>
          <p:nvPr/>
        </p:nvSpPr>
        <p:spPr>
          <a:xfrm>
            <a:off x="7040880" y="1664208"/>
            <a:ext cx="457200" cy="457200"/>
          </a:xfrm>
          <a:prstGeom prst="ellipse">
            <a:avLst/>
          </a:prstGeom>
          <a:solidFill>
            <a:srgbClr val="35495E"/>
          </a:solidFill>
          <a:ln/>
        </p:spPr>
      </p:sp>
      <p:pic>
        <p:nvPicPr>
          <p:cNvPr id="10" name="Image 1" descr="preencoded.png"/>
          <p:cNvPicPr>
            <a:picLocks noChangeAspect="1"/>
          </p:cNvPicPr>
          <p:nvPr/>
        </p:nvPicPr>
        <p:blipFill>
          <a:blip r:embed="rId4"/>
          <a:stretch>
            <a:fillRect/>
          </a:stretch>
        </p:blipFill>
        <p:spPr>
          <a:xfrm>
            <a:off x="7159752" y="1783080"/>
            <a:ext cx="219456" cy="219456"/>
          </a:xfrm>
          <a:prstGeom prst="rect">
            <a:avLst/>
          </a:prstGeom>
        </p:spPr>
      </p:pic>
      <p:sp>
        <p:nvSpPr>
          <p:cNvPr id="11" name="Text 7"/>
          <p:cNvSpPr/>
          <p:nvPr/>
        </p:nvSpPr>
        <p:spPr>
          <a:xfrm>
            <a:off x="7635240" y="1664208"/>
            <a:ext cx="3840480" cy="457200"/>
          </a:xfrm>
          <a:prstGeom prst="rect">
            <a:avLst/>
          </a:prstGeom>
          <a:noFill/>
          <a:ln/>
        </p:spPr>
        <p:txBody>
          <a:bodyPr wrap="square" lIns="0" tIns="0" rIns="0" bIns="0" rtlCol="0" anchor="ctr"/>
          <a:lstStyle/>
          <a:p>
            <a:pPr marL="0" indent="0">
              <a:buNone/>
            </a:pPr>
            <a:r>
              <a:rPr lang="en-US" sz="1400" b="1" dirty="0">
                <a:solidFill>
                  <a:srgbClr val="35495E"/>
                </a:solidFill>
                <a:latin typeface="Calibri" pitchFamily="34" charset="0"/>
                <a:ea typeface="Calibri" pitchFamily="34" charset="-122"/>
                <a:cs typeface="Calibri" pitchFamily="34" charset="-120"/>
              </a:rPr>
              <a:t>SSR in one breath (Nuxt 3)</a:t>
            </a:r>
            <a:endParaRPr lang="en-US" sz="1400" dirty="0"/>
          </a:p>
        </p:txBody>
      </p:sp>
      <p:sp>
        <p:nvSpPr>
          <p:cNvPr id="12" name="Shape 8"/>
          <p:cNvSpPr/>
          <p:nvPr/>
        </p:nvSpPr>
        <p:spPr>
          <a:xfrm>
            <a:off x="7059168" y="2368296"/>
            <a:ext cx="128016" cy="128016"/>
          </a:xfrm>
          <a:prstGeom prst="ellipse">
            <a:avLst/>
          </a:prstGeom>
          <a:solidFill>
            <a:srgbClr val="E0A21B"/>
          </a:solidFill>
          <a:ln/>
        </p:spPr>
      </p:sp>
      <p:sp>
        <p:nvSpPr>
          <p:cNvPr id="13" name="Text 9"/>
          <p:cNvSpPr/>
          <p:nvPr/>
        </p:nvSpPr>
        <p:spPr>
          <a:xfrm>
            <a:off x="7315200" y="2276856"/>
            <a:ext cx="4160520" cy="640080"/>
          </a:xfrm>
          <a:prstGeom prst="rect">
            <a:avLst/>
          </a:prstGeom>
          <a:noFill/>
          <a:ln/>
        </p:spPr>
        <p:txBody>
          <a:bodyPr wrap="square" lIns="0" tIns="0" rIns="0" bIns="0" rtlCol="0" anchor="t"/>
          <a:lstStyle/>
          <a:p>
            <a:pPr marL="0" indent="0">
              <a:lnSpc>
                <a:spcPts val="1400"/>
              </a:lnSpc>
              <a:buNone/>
            </a:pPr>
            <a:r>
              <a:rPr lang="en-US" sz="1200" dirty="0">
                <a:solidFill>
                  <a:srgbClr val="2C3E50"/>
                </a:solidFill>
                <a:latin typeface="Calibri" pitchFamily="34" charset="0"/>
                <a:ea typeface="Calibri" pitchFamily="34" charset="-122"/>
                <a:cs typeface="Calibri" pitchFamily="34" charset="-120"/>
              </a:rPr>
              <a:t>Each request needs its own Pinia instance — never share state between users.</a:t>
            </a:r>
            <a:endParaRPr lang="en-US" sz="1200" dirty="0"/>
          </a:p>
        </p:txBody>
      </p:sp>
      <p:sp>
        <p:nvSpPr>
          <p:cNvPr id="14" name="Shape 10"/>
          <p:cNvSpPr/>
          <p:nvPr/>
        </p:nvSpPr>
        <p:spPr>
          <a:xfrm>
            <a:off x="7059168" y="3026664"/>
            <a:ext cx="128016" cy="128016"/>
          </a:xfrm>
          <a:prstGeom prst="ellipse">
            <a:avLst/>
          </a:prstGeom>
          <a:solidFill>
            <a:srgbClr val="E0A21B"/>
          </a:solidFill>
          <a:ln/>
        </p:spPr>
      </p:sp>
      <p:sp>
        <p:nvSpPr>
          <p:cNvPr id="15" name="Text 11"/>
          <p:cNvSpPr/>
          <p:nvPr/>
        </p:nvSpPr>
        <p:spPr>
          <a:xfrm>
            <a:off x="7315200" y="2935224"/>
            <a:ext cx="4160520" cy="640080"/>
          </a:xfrm>
          <a:prstGeom prst="rect">
            <a:avLst/>
          </a:prstGeom>
          <a:noFill/>
          <a:ln/>
        </p:spPr>
        <p:txBody>
          <a:bodyPr wrap="square" lIns="0" tIns="0" rIns="0" bIns="0" rtlCol="0" anchor="t"/>
          <a:lstStyle/>
          <a:p>
            <a:pPr marL="0" indent="0">
              <a:lnSpc>
                <a:spcPts val="1400"/>
              </a:lnSpc>
              <a:buNone/>
            </a:pPr>
            <a:r>
              <a:rPr lang="en-US" sz="1200" dirty="0">
                <a:solidFill>
                  <a:srgbClr val="2C3E50"/>
                </a:solidFill>
                <a:latin typeface="Calibri" pitchFamily="34" charset="0"/>
                <a:ea typeface="Calibri" pitchFamily="34" charset="-122"/>
                <a:cs typeface="Calibri" pitchFamily="34" charset="-120"/>
              </a:rPr>
              <a:t>Call useStore() only in setup() or data-fetching hooks — never at module level.</a:t>
            </a:r>
            <a:endParaRPr lang="en-US" sz="1200" dirty="0"/>
          </a:p>
        </p:txBody>
      </p:sp>
      <p:sp>
        <p:nvSpPr>
          <p:cNvPr id="16" name="Shape 12"/>
          <p:cNvSpPr/>
          <p:nvPr/>
        </p:nvSpPr>
        <p:spPr>
          <a:xfrm>
            <a:off x="7059168" y="3685032"/>
            <a:ext cx="128016" cy="128016"/>
          </a:xfrm>
          <a:prstGeom prst="ellipse">
            <a:avLst/>
          </a:prstGeom>
          <a:solidFill>
            <a:srgbClr val="E0A21B"/>
          </a:solidFill>
          <a:ln/>
        </p:spPr>
      </p:sp>
      <p:sp>
        <p:nvSpPr>
          <p:cNvPr id="17" name="Text 13"/>
          <p:cNvSpPr/>
          <p:nvPr/>
        </p:nvSpPr>
        <p:spPr>
          <a:xfrm>
            <a:off x="7315200" y="3593592"/>
            <a:ext cx="4160520" cy="640080"/>
          </a:xfrm>
          <a:prstGeom prst="rect">
            <a:avLst/>
          </a:prstGeom>
          <a:noFill/>
          <a:ln/>
        </p:spPr>
        <p:txBody>
          <a:bodyPr wrap="square" lIns="0" tIns="0" rIns="0" bIns="0" rtlCol="0" anchor="t"/>
          <a:lstStyle/>
          <a:p>
            <a:pPr marL="0" indent="0">
              <a:lnSpc>
                <a:spcPts val="1400"/>
              </a:lnSpc>
              <a:buNone/>
            </a:pPr>
            <a:r>
              <a:rPr lang="en-US" sz="1200" dirty="0">
                <a:solidFill>
                  <a:srgbClr val="2C3E50"/>
                </a:solidFill>
                <a:latin typeface="Calibri" pitchFamily="34" charset="0"/>
                <a:ea typeface="Calibri" pitchFamily="34" charset="-122"/>
                <a:cs typeface="Calibri" pitchFamily="34" charset="-120"/>
              </a:rPr>
              <a:t>persistedstate ships SSR-safe storage adapters.</a:t>
            </a:r>
            <a:endParaRPr lang="en-US" sz="1200" dirty="0"/>
          </a:p>
        </p:txBody>
      </p:sp>
      <p:sp>
        <p:nvSpPr>
          <p:cNvPr id="18" name="Shape 14"/>
          <p:cNvSpPr/>
          <p:nvPr/>
        </p:nvSpPr>
        <p:spPr>
          <a:xfrm>
            <a:off x="7059168" y="4343400"/>
            <a:ext cx="128016" cy="128016"/>
          </a:xfrm>
          <a:prstGeom prst="ellipse">
            <a:avLst/>
          </a:prstGeom>
          <a:solidFill>
            <a:srgbClr val="E0A21B"/>
          </a:solidFill>
          <a:ln/>
        </p:spPr>
      </p:sp>
      <p:sp>
        <p:nvSpPr>
          <p:cNvPr id="19" name="Text 15"/>
          <p:cNvSpPr/>
          <p:nvPr/>
        </p:nvSpPr>
        <p:spPr>
          <a:xfrm>
            <a:off x="7315200" y="4251960"/>
            <a:ext cx="4160520" cy="640080"/>
          </a:xfrm>
          <a:prstGeom prst="rect">
            <a:avLst/>
          </a:prstGeom>
          <a:noFill/>
          <a:ln/>
        </p:spPr>
        <p:txBody>
          <a:bodyPr wrap="square" lIns="0" tIns="0" rIns="0" bIns="0" rtlCol="0" anchor="t"/>
          <a:lstStyle/>
          <a:p>
            <a:pPr marL="0" indent="0">
              <a:lnSpc>
                <a:spcPts val="1400"/>
              </a:lnSpc>
              <a:buNone/>
            </a:pPr>
            <a:r>
              <a:rPr lang="en-US" sz="1200" dirty="0">
                <a:solidFill>
                  <a:srgbClr val="2C3E50"/>
                </a:solidFill>
                <a:latin typeface="Calibri" pitchFamily="34" charset="0"/>
                <a:ea typeface="Calibri" pitchFamily="34" charset="-122"/>
                <a:cs typeface="Calibri" pitchFamily="34" charset="-120"/>
              </a:rPr>
              <a:t>Never put user-specific data in a store without per-request isolation.</a:t>
            </a:r>
            <a:endParaRPr lang="en-US" sz="1200" dirty="0"/>
          </a:p>
        </p:txBody>
      </p:sp>
      <p:sp>
        <p:nvSpPr>
          <p:cNvPr id="20" name="Text 16"/>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21" name="Text 17"/>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Plugins &amp; Persist</a:t>
            </a:r>
            <a:endParaRPr lang="en-US" sz="900" dirty="0"/>
          </a:p>
        </p:txBody>
      </p:sp>
      <p:sp>
        <p:nvSpPr>
          <p:cNvPr id="22" name="Text 18"/>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A6760C"/>
                </a:solidFill>
                <a:latin typeface="Calibri" pitchFamily="34" charset="0"/>
                <a:ea typeface="Calibri" pitchFamily="34" charset="-122"/>
                <a:cs typeface="Calibri" pitchFamily="34" charset="-120"/>
              </a:rPr>
              <a:t>LIVE CODING DEMO · 52:00–67:00 · TYPE ALONG</a:t>
            </a:r>
            <a:endParaRPr lang="en-US" sz="1200" dirty="0"/>
          </a:p>
        </p:txBody>
      </p:sp>
      <p:sp>
        <p:nvSpPr>
          <p:cNvPr id="5" name="Text 2"/>
          <p:cNvSpPr/>
          <p:nvPr/>
        </p:nvSpPr>
        <p:spPr>
          <a:xfrm>
            <a:off x="1298448" y="713232"/>
            <a:ext cx="10058400" cy="566928"/>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Auth Store + Guard + Persistence</a:t>
            </a:r>
            <a:endParaRPr lang="en-US" sz="2800" dirty="0"/>
          </a:p>
        </p:txBody>
      </p:sp>
      <p:sp>
        <p:nvSpPr>
          <p:cNvPr id="6" name="Text 3"/>
          <p:cNvSpPr/>
          <p:nvPr/>
        </p:nvSpPr>
        <p:spPr>
          <a:xfrm>
            <a:off x="548640" y="1325880"/>
            <a:ext cx="11064240" cy="365760"/>
          </a:xfrm>
          <a:prstGeom prst="rect">
            <a:avLst/>
          </a:prstGeom>
          <a:noFill/>
          <a:ln/>
        </p:spPr>
        <p:txBody>
          <a:bodyPr wrap="square" lIns="0" tIns="0" rIns="0" bIns="0" rtlCol="0" anchor="ctr"/>
          <a:lstStyle/>
          <a:p>
            <a:pPr marL="0" indent="0">
              <a:buNone/>
            </a:pPr>
            <a:r>
              <a:rPr lang="en-US" sz="1300" dirty="0">
                <a:solidFill>
                  <a:srgbClr val="6B7C8C"/>
                </a:solidFill>
                <a:latin typeface="Calibri" pitchFamily="34" charset="0"/>
                <a:ea typeface="Calibri" pitchFamily="34" charset="-122"/>
                <a:cs typeface="Calibri" pitchFamily="34" charset="-120"/>
              </a:rPr>
              <a:t>Extend the Blog SPA — replace the useAuth composable with a real Pinia store.</a:t>
            </a:r>
            <a:endParaRPr lang="en-US" sz="1300" dirty="0"/>
          </a:p>
        </p:txBody>
      </p:sp>
      <p:sp>
        <p:nvSpPr>
          <p:cNvPr id="7" name="Shape 4"/>
          <p:cNvSpPr/>
          <p:nvPr/>
        </p:nvSpPr>
        <p:spPr>
          <a:xfrm>
            <a:off x="548640" y="1828800"/>
            <a:ext cx="11091672" cy="731520"/>
          </a:xfrm>
          <a:prstGeom prst="roundRect">
            <a:avLst>
              <a:gd name="adj" fmla="val 8750"/>
            </a:avLst>
          </a:prstGeom>
          <a:solidFill>
            <a:srgbClr val="F4F7F9"/>
          </a:solidFill>
          <a:ln w="12700">
            <a:solidFill>
              <a:srgbClr val="DCE5EB"/>
            </a:solidFill>
            <a:prstDash val="solid"/>
          </a:ln>
        </p:spPr>
      </p:sp>
      <p:sp>
        <p:nvSpPr>
          <p:cNvPr id="8" name="Shape 5"/>
          <p:cNvSpPr/>
          <p:nvPr/>
        </p:nvSpPr>
        <p:spPr>
          <a:xfrm>
            <a:off x="749808" y="1993392"/>
            <a:ext cx="402336" cy="402336"/>
          </a:xfrm>
          <a:prstGeom prst="ellipse">
            <a:avLst/>
          </a:prstGeom>
          <a:solidFill>
            <a:srgbClr val="E0A21B"/>
          </a:solidFill>
          <a:ln/>
        </p:spPr>
      </p:sp>
      <p:sp>
        <p:nvSpPr>
          <p:cNvPr id="9" name="Text 6"/>
          <p:cNvSpPr/>
          <p:nvPr/>
        </p:nvSpPr>
        <p:spPr>
          <a:xfrm>
            <a:off x="749808" y="199339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7"/>
          <p:cNvSpPr/>
          <p:nvPr/>
        </p:nvSpPr>
        <p:spPr>
          <a:xfrm>
            <a:off x="1325880" y="1828800"/>
            <a:ext cx="3108960" cy="731520"/>
          </a:xfrm>
          <a:prstGeom prst="rect">
            <a:avLst/>
          </a:prstGeom>
          <a:noFill/>
          <a:ln/>
        </p:spPr>
        <p:txBody>
          <a:bodyPr wrap="square" lIns="0" tIns="0" rIns="0" bIns="0" rtlCol="0" anchor="ctr"/>
          <a:lstStyle/>
          <a:p>
            <a:pPr marL="0" indent="0">
              <a:buNone/>
            </a:pPr>
            <a:r>
              <a:rPr lang="en-US" sz="1350" b="1" dirty="0">
                <a:solidFill>
                  <a:srgbClr val="2C3E50"/>
                </a:solidFill>
                <a:latin typeface="Calibri" pitchFamily="34" charset="0"/>
                <a:ea typeface="Calibri" pitchFamily="34" charset="-122"/>
                <a:cs typeface="Calibri" pitchFamily="34" charset="-120"/>
              </a:rPr>
              <a:t>Install &amp; register</a:t>
            </a:r>
            <a:endParaRPr lang="en-US" sz="1350" dirty="0"/>
          </a:p>
        </p:txBody>
      </p:sp>
      <p:sp>
        <p:nvSpPr>
          <p:cNvPr id="11" name="Text 8"/>
          <p:cNvSpPr/>
          <p:nvPr/>
        </p:nvSpPr>
        <p:spPr>
          <a:xfrm>
            <a:off x="4480560" y="1828800"/>
            <a:ext cx="6976872" cy="731520"/>
          </a:xfrm>
          <a:prstGeom prst="rect">
            <a:avLst/>
          </a:prstGeom>
          <a:noFill/>
          <a:ln/>
        </p:spPr>
        <p:txBody>
          <a:bodyPr wrap="square" lIns="0" tIns="0" rIns="0" bIns="0" rtlCol="0" anchor="ctr"/>
          <a:lstStyle/>
          <a:p>
            <a:pPr marL="0" indent="0">
              <a:lnSpc>
                <a:spcPts val="1400"/>
              </a:lnSpc>
              <a:buNone/>
            </a:pPr>
            <a:r>
              <a:rPr lang="en-US" sz="1200" dirty="0">
                <a:solidFill>
                  <a:srgbClr val="6B7C8C"/>
                </a:solidFill>
                <a:latin typeface="Calibri" pitchFamily="34" charset="0"/>
                <a:ea typeface="Calibri" pitchFamily="34" charset="-122"/>
                <a:cs typeface="Calibri" pitchFamily="34" charset="-120"/>
              </a:rPr>
              <a:t>pinia.use(persistedstate); .use(pinia) BEFORE .use(router).</a:t>
            </a:r>
            <a:endParaRPr lang="en-US" sz="1200" dirty="0"/>
          </a:p>
        </p:txBody>
      </p:sp>
      <p:sp>
        <p:nvSpPr>
          <p:cNvPr id="12" name="Shape 9"/>
          <p:cNvSpPr/>
          <p:nvPr/>
        </p:nvSpPr>
        <p:spPr>
          <a:xfrm>
            <a:off x="548640" y="2651760"/>
            <a:ext cx="11091672" cy="731520"/>
          </a:xfrm>
          <a:prstGeom prst="roundRect">
            <a:avLst>
              <a:gd name="adj" fmla="val 8750"/>
            </a:avLst>
          </a:prstGeom>
          <a:solidFill>
            <a:srgbClr val="F4F7F9"/>
          </a:solidFill>
          <a:ln w="12700">
            <a:solidFill>
              <a:srgbClr val="DCE5EB"/>
            </a:solidFill>
            <a:prstDash val="solid"/>
          </a:ln>
        </p:spPr>
      </p:sp>
      <p:sp>
        <p:nvSpPr>
          <p:cNvPr id="13" name="Shape 10"/>
          <p:cNvSpPr/>
          <p:nvPr/>
        </p:nvSpPr>
        <p:spPr>
          <a:xfrm>
            <a:off x="749808" y="2816352"/>
            <a:ext cx="402336" cy="402336"/>
          </a:xfrm>
          <a:prstGeom prst="ellipse">
            <a:avLst/>
          </a:prstGeom>
          <a:solidFill>
            <a:srgbClr val="E0A21B"/>
          </a:solidFill>
          <a:ln/>
        </p:spPr>
      </p:sp>
      <p:sp>
        <p:nvSpPr>
          <p:cNvPr id="14" name="Text 11"/>
          <p:cNvSpPr/>
          <p:nvPr/>
        </p:nvSpPr>
        <p:spPr>
          <a:xfrm>
            <a:off x="749808" y="281635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2"/>
          <p:cNvSpPr/>
          <p:nvPr/>
        </p:nvSpPr>
        <p:spPr>
          <a:xfrm>
            <a:off x="1325880" y="2651760"/>
            <a:ext cx="3108960" cy="731520"/>
          </a:xfrm>
          <a:prstGeom prst="rect">
            <a:avLst/>
          </a:prstGeom>
          <a:noFill/>
          <a:ln/>
        </p:spPr>
        <p:txBody>
          <a:bodyPr wrap="square" lIns="0" tIns="0" rIns="0" bIns="0" rtlCol="0" anchor="ctr"/>
          <a:lstStyle/>
          <a:p>
            <a:pPr marL="0" indent="0">
              <a:buNone/>
            </a:pPr>
            <a:r>
              <a:rPr lang="en-US" sz="1350" b="1" dirty="0">
                <a:solidFill>
                  <a:srgbClr val="2C3E50"/>
                </a:solidFill>
                <a:latin typeface="Calibri" pitchFamily="34" charset="0"/>
                <a:ea typeface="Calibri" pitchFamily="34" charset="-122"/>
                <a:cs typeface="Calibri" pitchFamily="34" charset="-120"/>
              </a:rPr>
              <a:t>useAuthStore + persist</a:t>
            </a:r>
            <a:endParaRPr lang="en-US" sz="1350" dirty="0"/>
          </a:p>
        </p:txBody>
      </p:sp>
      <p:sp>
        <p:nvSpPr>
          <p:cNvPr id="16" name="Text 13"/>
          <p:cNvSpPr/>
          <p:nvPr/>
        </p:nvSpPr>
        <p:spPr>
          <a:xfrm>
            <a:off x="4480560" y="2651760"/>
            <a:ext cx="6976872" cy="731520"/>
          </a:xfrm>
          <a:prstGeom prst="rect">
            <a:avLst/>
          </a:prstGeom>
          <a:noFill/>
          <a:ln/>
        </p:spPr>
        <p:txBody>
          <a:bodyPr wrap="square" lIns="0" tIns="0" rIns="0" bIns="0" rtlCol="0" anchor="ctr"/>
          <a:lstStyle/>
          <a:p>
            <a:pPr marL="0" indent="0">
              <a:lnSpc>
                <a:spcPts val="1400"/>
              </a:lnSpc>
              <a:buNone/>
            </a:pPr>
            <a:r>
              <a:rPr lang="en-US" sz="1200" dirty="0">
                <a:solidFill>
                  <a:srgbClr val="6B7C8C"/>
                </a:solidFill>
                <a:latin typeface="Calibri" pitchFamily="34" charset="0"/>
                <a:ea typeface="Calibri" pitchFamily="34" charset="-122"/>
                <a:cs typeface="Calibri" pitchFamily="34" charset="-120"/>
              </a:rPr>
              <a:t>login() sets user &amp; token; persist: { pick: ['user','token'] }.</a:t>
            </a:r>
            <a:endParaRPr lang="en-US" sz="1200" dirty="0"/>
          </a:p>
        </p:txBody>
      </p:sp>
      <p:sp>
        <p:nvSpPr>
          <p:cNvPr id="17" name="Shape 14"/>
          <p:cNvSpPr/>
          <p:nvPr/>
        </p:nvSpPr>
        <p:spPr>
          <a:xfrm>
            <a:off x="548640" y="3474720"/>
            <a:ext cx="11091672" cy="731520"/>
          </a:xfrm>
          <a:prstGeom prst="roundRect">
            <a:avLst>
              <a:gd name="adj" fmla="val 8750"/>
            </a:avLst>
          </a:prstGeom>
          <a:solidFill>
            <a:srgbClr val="F4F7F9"/>
          </a:solidFill>
          <a:ln w="12700">
            <a:solidFill>
              <a:srgbClr val="DCE5EB"/>
            </a:solidFill>
            <a:prstDash val="solid"/>
          </a:ln>
        </p:spPr>
      </p:sp>
      <p:sp>
        <p:nvSpPr>
          <p:cNvPr id="18" name="Shape 15"/>
          <p:cNvSpPr/>
          <p:nvPr/>
        </p:nvSpPr>
        <p:spPr>
          <a:xfrm>
            <a:off x="749808" y="3639312"/>
            <a:ext cx="402336" cy="402336"/>
          </a:xfrm>
          <a:prstGeom prst="ellipse">
            <a:avLst/>
          </a:prstGeom>
          <a:solidFill>
            <a:srgbClr val="E0A21B"/>
          </a:solidFill>
          <a:ln/>
        </p:spPr>
      </p:sp>
      <p:sp>
        <p:nvSpPr>
          <p:cNvPr id="19" name="Text 16"/>
          <p:cNvSpPr/>
          <p:nvPr/>
        </p:nvSpPr>
        <p:spPr>
          <a:xfrm>
            <a:off x="749808" y="363931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7"/>
          <p:cNvSpPr/>
          <p:nvPr/>
        </p:nvSpPr>
        <p:spPr>
          <a:xfrm>
            <a:off x="1325880" y="3474720"/>
            <a:ext cx="3108960" cy="731520"/>
          </a:xfrm>
          <a:prstGeom prst="rect">
            <a:avLst/>
          </a:prstGeom>
          <a:noFill/>
          <a:ln/>
        </p:spPr>
        <p:txBody>
          <a:bodyPr wrap="square" lIns="0" tIns="0" rIns="0" bIns="0" rtlCol="0" anchor="ctr"/>
          <a:lstStyle/>
          <a:p>
            <a:pPr marL="0" indent="0">
              <a:buNone/>
            </a:pPr>
            <a:r>
              <a:rPr lang="en-US" sz="1350" b="1" dirty="0">
                <a:solidFill>
                  <a:srgbClr val="2C3E50"/>
                </a:solidFill>
                <a:latin typeface="Calibri" pitchFamily="34" charset="0"/>
                <a:ea typeface="Calibri" pitchFamily="34" charset="-122"/>
                <a:cs typeface="Calibri" pitchFamily="34" charset="-120"/>
              </a:rPr>
              <a:t>Guard uses the store</a:t>
            </a:r>
            <a:endParaRPr lang="en-US" sz="1350" dirty="0"/>
          </a:p>
        </p:txBody>
      </p:sp>
      <p:sp>
        <p:nvSpPr>
          <p:cNvPr id="21" name="Text 18"/>
          <p:cNvSpPr/>
          <p:nvPr/>
        </p:nvSpPr>
        <p:spPr>
          <a:xfrm>
            <a:off x="4480560" y="3474720"/>
            <a:ext cx="6976872" cy="731520"/>
          </a:xfrm>
          <a:prstGeom prst="rect">
            <a:avLst/>
          </a:prstGeom>
          <a:noFill/>
          <a:ln/>
        </p:spPr>
        <p:txBody>
          <a:bodyPr wrap="square" lIns="0" tIns="0" rIns="0" bIns="0" rtlCol="0" anchor="ctr"/>
          <a:lstStyle/>
          <a:p>
            <a:pPr marL="0" indent="0">
              <a:lnSpc>
                <a:spcPts val="1400"/>
              </a:lnSpc>
              <a:buNone/>
            </a:pPr>
            <a:r>
              <a:rPr lang="en-US" sz="1200" dirty="0">
                <a:solidFill>
                  <a:srgbClr val="6B7C8C"/>
                </a:solidFill>
                <a:latin typeface="Calibri" pitchFamily="34" charset="0"/>
                <a:ea typeface="Calibri" pitchFamily="34" charset="-122"/>
                <a:cs typeface="Calibri" pitchFamily="34" charset="-120"/>
              </a:rPr>
              <a:t>beforeEach reads auth.isLoggedIn / hasRole; afterEach sets title.</a:t>
            </a:r>
            <a:endParaRPr lang="en-US" sz="1200" dirty="0"/>
          </a:p>
        </p:txBody>
      </p:sp>
      <p:sp>
        <p:nvSpPr>
          <p:cNvPr id="22" name="Shape 19"/>
          <p:cNvSpPr/>
          <p:nvPr/>
        </p:nvSpPr>
        <p:spPr>
          <a:xfrm>
            <a:off x="548640" y="4297680"/>
            <a:ext cx="11091672" cy="731520"/>
          </a:xfrm>
          <a:prstGeom prst="roundRect">
            <a:avLst>
              <a:gd name="adj" fmla="val 8750"/>
            </a:avLst>
          </a:prstGeom>
          <a:solidFill>
            <a:srgbClr val="F4F7F9"/>
          </a:solidFill>
          <a:ln w="12700">
            <a:solidFill>
              <a:srgbClr val="DCE5EB"/>
            </a:solidFill>
            <a:prstDash val="solid"/>
          </a:ln>
        </p:spPr>
      </p:sp>
      <p:sp>
        <p:nvSpPr>
          <p:cNvPr id="23" name="Shape 20"/>
          <p:cNvSpPr/>
          <p:nvPr/>
        </p:nvSpPr>
        <p:spPr>
          <a:xfrm>
            <a:off x="749808" y="4462272"/>
            <a:ext cx="402336" cy="402336"/>
          </a:xfrm>
          <a:prstGeom prst="ellipse">
            <a:avLst/>
          </a:prstGeom>
          <a:solidFill>
            <a:srgbClr val="E0A21B"/>
          </a:solidFill>
          <a:ln/>
        </p:spPr>
      </p:sp>
      <p:sp>
        <p:nvSpPr>
          <p:cNvPr id="24" name="Text 21"/>
          <p:cNvSpPr/>
          <p:nvPr/>
        </p:nvSpPr>
        <p:spPr>
          <a:xfrm>
            <a:off x="749808" y="446227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2"/>
          <p:cNvSpPr/>
          <p:nvPr/>
        </p:nvSpPr>
        <p:spPr>
          <a:xfrm>
            <a:off x="1325880" y="4297680"/>
            <a:ext cx="3108960" cy="731520"/>
          </a:xfrm>
          <a:prstGeom prst="rect">
            <a:avLst/>
          </a:prstGeom>
          <a:noFill/>
          <a:ln/>
        </p:spPr>
        <p:txBody>
          <a:bodyPr wrap="square" lIns="0" tIns="0" rIns="0" bIns="0" rtlCol="0" anchor="ctr"/>
          <a:lstStyle/>
          <a:p>
            <a:pPr marL="0" indent="0">
              <a:buNone/>
            </a:pPr>
            <a:r>
              <a:rPr lang="en-US" sz="1350" b="1" dirty="0">
                <a:solidFill>
                  <a:srgbClr val="2C3E50"/>
                </a:solidFill>
                <a:latin typeface="Calibri" pitchFamily="34" charset="0"/>
                <a:ea typeface="Calibri" pitchFamily="34" charset="-122"/>
                <a:cs typeface="Calibri" pitchFamily="34" charset="-120"/>
              </a:rPr>
              <a:t>LoginView</a:t>
            </a:r>
            <a:endParaRPr lang="en-US" sz="1350" dirty="0"/>
          </a:p>
        </p:txBody>
      </p:sp>
      <p:sp>
        <p:nvSpPr>
          <p:cNvPr id="26" name="Text 23"/>
          <p:cNvSpPr/>
          <p:nvPr/>
        </p:nvSpPr>
        <p:spPr>
          <a:xfrm>
            <a:off x="4480560" y="4297680"/>
            <a:ext cx="6976872" cy="731520"/>
          </a:xfrm>
          <a:prstGeom prst="rect">
            <a:avLst/>
          </a:prstGeom>
          <a:noFill/>
          <a:ln/>
        </p:spPr>
        <p:txBody>
          <a:bodyPr wrap="square" lIns="0" tIns="0" rIns="0" bIns="0" rtlCol="0" anchor="ctr"/>
          <a:lstStyle/>
          <a:p>
            <a:pPr marL="0" indent="0">
              <a:lnSpc>
                <a:spcPts val="1400"/>
              </a:lnSpc>
              <a:buNone/>
            </a:pPr>
            <a:r>
              <a:rPr lang="en-US" sz="1200" dirty="0">
                <a:solidFill>
                  <a:srgbClr val="6B7C8C"/>
                </a:solidFill>
                <a:latin typeface="Calibri" pitchFamily="34" charset="0"/>
                <a:ea typeface="Calibri" pitchFamily="34" charset="-122"/>
                <a:cs typeface="Calibri" pitchFamily="34" charset="-120"/>
              </a:rPr>
              <a:t>calls auth.login(), redirects to route.query.redirect.</a:t>
            </a:r>
            <a:endParaRPr lang="en-US" sz="1200" dirty="0"/>
          </a:p>
        </p:txBody>
      </p:sp>
      <p:sp>
        <p:nvSpPr>
          <p:cNvPr id="27" name="Shape 24"/>
          <p:cNvSpPr/>
          <p:nvPr/>
        </p:nvSpPr>
        <p:spPr>
          <a:xfrm>
            <a:off x="548640" y="5120640"/>
            <a:ext cx="11091672" cy="731520"/>
          </a:xfrm>
          <a:prstGeom prst="roundRect">
            <a:avLst>
              <a:gd name="adj" fmla="val 8750"/>
            </a:avLst>
          </a:prstGeom>
          <a:solidFill>
            <a:srgbClr val="F4F7F9"/>
          </a:solidFill>
          <a:ln w="12700">
            <a:solidFill>
              <a:srgbClr val="DCE5EB"/>
            </a:solidFill>
            <a:prstDash val="solid"/>
          </a:ln>
        </p:spPr>
      </p:sp>
      <p:sp>
        <p:nvSpPr>
          <p:cNvPr id="28" name="Shape 25"/>
          <p:cNvSpPr/>
          <p:nvPr/>
        </p:nvSpPr>
        <p:spPr>
          <a:xfrm>
            <a:off x="749808" y="5285232"/>
            <a:ext cx="402336" cy="402336"/>
          </a:xfrm>
          <a:prstGeom prst="ellipse">
            <a:avLst/>
          </a:prstGeom>
          <a:solidFill>
            <a:srgbClr val="E0A21B"/>
          </a:solidFill>
          <a:ln/>
        </p:spPr>
      </p:sp>
      <p:sp>
        <p:nvSpPr>
          <p:cNvPr id="29" name="Text 26"/>
          <p:cNvSpPr/>
          <p:nvPr/>
        </p:nvSpPr>
        <p:spPr>
          <a:xfrm>
            <a:off x="749808" y="528523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0" name="Text 27"/>
          <p:cNvSpPr/>
          <p:nvPr/>
        </p:nvSpPr>
        <p:spPr>
          <a:xfrm>
            <a:off x="1325880" y="5120640"/>
            <a:ext cx="3108960" cy="731520"/>
          </a:xfrm>
          <a:prstGeom prst="rect">
            <a:avLst/>
          </a:prstGeom>
          <a:noFill/>
          <a:ln/>
        </p:spPr>
        <p:txBody>
          <a:bodyPr wrap="square" lIns="0" tIns="0" rIns="0" bIns="0" rtlCol="0" anchor="ctr"/>
          <a:lstStyle/>
          <a:p>
            <a:pPr marL="0" indent="0">
              <a:buNone/>
            </a:pPr>
            <a:r>
              <a:rPr lang="en-US" sz="1350" b="1" dirty="0">
                <a:solidFill>
                  <a:srgbClr val="2C3E50"/>
                </a:solidFill>
                <a:latin typeface="Calibri" pitchFamily="34" charset="0"/>
                <a:ea typeface="Calibri" pitchFamily="34" charset="-122"/>
                <a:cs typeface="Calibri" pitchFamily="34" charset="-120"/>
              </a:rPr>
              <a:t>AppHeader</a:t>
            </a:r>
            <a:endParaRPr lang="en-US" sz="1350" dirty="0"/>
          </a:p>
        </p:txBody>
      </p:sp>
      <p:sp>
        <p:nvSpPr>
          <p:cNvPr id="31" name="Text 28"/>
          <p:cNvSpPr/>
          <p:nvPr/>
        </p:nvSpPr>
        <p:spPr>
          <a:xfrm>
            <a:off x="4480560" y="5120640"/>
            <a:ext cx="6976872" cy="731520"/>
          </a:xfrm>
          <a:prstGeom prst="rect">
            <a:avLst/>
          </a:prstGeom>
          <a:noFill/>
          <a:ln/>
        </p:spPr>
        <p:txBody>
          <a:bodyPr wrap="square" lIns="0" tIns="0" rIns="0" bIns="0" rtlCol="0" anchor="ctr"/>
          <a:lstStyle/>
          <a:p>
            <a:pPr marL="0" indent="0">
              <a:lnSpc>
                <a:spcPts val="1400"/>
              </a:lnSpc>
              <a:buNone/>
            </a:pPr>
            <a:r>
              <a:rPr lang="en-US" sz="1200" dirty="0">
                <a:solidFill>
                  <a:srgbClr val="6B7C8C"/>
                </a:solidFill>
                <a:latin typeface="Calibri" pitchFamily="34" charset="0"/>
                <a:ea typeface="Calibri" pitchFamily="34" charset="-122"/>
                <a:cs typeface="Calibri" pitchFamily="34" charset="-120"/>
              </a:rPr>
              <a:t>storeToRefs(auth) → links show/hide reactively; logout button.</a:t>
            </a:r>
            <a:endParaRPr lang="en-US" sz="1200" dirty="0"/>
          </a:p>
        </p:txBody>
      </p:sp>
      <p:sp>
        <p:nvSpPr>
          <p:cNvPr id="32" name="Text 29"/>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33" name="Text 30"/>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Live Demo</a:t>
            </a:r>
            <a:endParaRPr lang="en-US" sz="900" dirty="0"/>
          </a:p>
        </p:txBody>
      </p:sp>
      <p:sp>
        <p:nvSpPr>
          <p:cNvPr id="34" name="Text 31"/>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A6760C"/>
                </a:solidFill>
                <a:latin typeface="Calibri" pitchFamily="34" charset="0"/>
                <a:ea typeface="Calibri" pitchFamily="34" charset="-122"/>
                <a:cs typeface="Calibri" pitchFamily="34" charset="-120"/>
              </a:rPr>
              <a:t>LIVE CODING DEMO · 52:00–67:00</a:t>
            </a:r>
            <a:endParaRPr lang="en-US" sz="1200" dirty="0"/>
          </a:p>
        </p:txBody>
      </p:sp>
      <p:sp>
        <p:nvSpPr>
          <p:cNvPr id="5" name="Text 2"/>
          <p:cNvSpPr/>
          <p:nvPr/>
        </p:nvSpPr>
        <p:spPr>
          <a:xfrm>
            <a:off x="1298448" y="713232"/>
            <a:ext cx="10332720" cy="566928"/>
          </a:xfrm>
          <a:prstGeom prst="rect">
            <a:avLst/>
          </a:prstGeom>
          <a:noFill/>
          <a:ln/>
        </p:spPr>
        <p:txBody>
          <a:bodyPr wrap="square" lIns="0" tIns="0" rIns="0" bIns="0" rtlCol="0" anchor="ctr"/>
          <a:lstStyle/>
          <a:p>
            <a:pPr marL="0" indent="0" algn="l">
              <a:buNone/>
            </a:pPr>
            <a:r>
              <a:rPr lang="en-US" sz="2800" b="1" dirty="0">
                <a:solidFill>
                  <a:srgbClr val="2C3E50"/>
                </a:solidFill>
                <a:latin typeface="Cambria" pitchFamily="34" charset="0"/>
                <a:ea typeface="Cambria" pitchFamily="34" charset="-122"/>
                <a:cs typeface="Cambria" pitchFamily="34" charset="-120"/>
              </a:rPr>
              <a:t>The Persistence Payoff</a:t>
            </a:r>
            <a:endParaRPr lang="en-US" sz="2800" dirty="0"/>
          </a:p>
        </p:txBody>
      </p:sp>
      <p:sp>
        <p:nvSpPr>
          <p:cNvPr id="6" name="Shape 3"/>
          <p:cNvSpPr/>
          <p:nvPr/>
        </p:nvSpPr>
        <p:spPr>
          <a:xfrm>
            <a:off x="548640" y="1920240"/>
            <a:ext cx="2542032" cy="1828800"/>
          </a:xfrm>
          <a:prstGeom prst="roundRect">
            <a:avLst>
              <a:gd name="adj" fmla="val 5000"/>
            </a:avLst>
          </a:prstGeom>
          <a:solidFill>
            <a:srgbClr val="F4F7F9"/>
          </a:solidFill>
          <a:ln w="12700">
            <a:solidFill>
              <a:srgbClr val="DCE5EB"/>
            </a:solidFill>
            <a:prstDash val="solid"/>
          </a:ln>
          <a:effectLst>
            <a:outerShdw blurRad="88900" dist="25400" dir="5400000" algn="bl" rotWithShape="0">
              <a:srgbClr val="35495E">
                <a:alpha val="13000"/>
              </a:srgbClr>
            </a:outerShdw>
          </a:effectLst>
        </p:spPr>
      </p:sp>
      <p:sp>
        <p:nvSpPr>
          <p:cNvPr id="7" name="Shape 4"/>
          <p:cNvSpPr/>
          <p:nvPr/>
        </p:nvSpPr>
        <p:spPr>
          <a:xfrm>
            <a:off x="1490472" y="2176272"/>
            <a:ext cx="658368" cy="658368"/>
          </a:xfrm>
          <a:prstGeom prst="ellipse">
            <a:avLst/>
          </a:prstGeom>
          <a:solidFill>
            <a:srgbClr val="42B883"/>
          </a:solidFill>
          <a:ln/>
        </p:spPr>
      </p:sp>
      <p:pic>
        <p:nvPicPr>
          <p:cNvPr id="8" name="Image 1" descr="preencoded.png"/>
          <p:cNvPicPr>
            <a:picLocks noChangeAspect="1"/>
          </p:cNvPicPr>
          <p:nvPr/>
        </p:nvPicPr>
        <p:blipFill>
          <a:blip r:embed="rId4"/>
          <a:stretch>
            <a:fillRect/>
          </a:stretch>
        </p:blipFill>
        <p:spPr>
          <a:xfrm>
            <a:off x="1636776" y="2322576"/>
            <a:ext cx="365760" cy="365760"/>
          </a:xfrm>
          <a:prstGeom prst="rect">
            <a:avLst/>
          </a:prstGeom>
        </p:spPr>
      </p:pic>
      <p:sp>
        <p:nvSpPr>
          <p:cNvPr id="9" name="Text 5"/>
          <p:cNvSpPr/>
          <p:nvPr/>
        </p:nvSpPr>
        <p:spPr>
          <a:xfrm>
            <a:off x="548640" y="2907792"/>
            <a:ext cx="2542032" cy="365760"/>
          </a:xfrm>
          <a:prstGeom prst="rect">
            <a:avLst/>
          </a:prstGeom>
          <a:noFill/>
          <a:ln/>
        </p:spPr>
        <p:txBody>
          <a:bodyPr wrap="square" lIns="0" tIns="0" rIns="0" bIns="0" rtlCol="0" anchor="ctr"/>
          <a:lstStyle/>
          <a:p>
            <a:pPr marL="0" indent="0" algn="ctr">
              <a:buNone/>
            </a:pPr>
            <a:r>
              <a:rPr lang="en-US" sz="1400" b="1" dirty="0">
                <a:solidFill>
                  <a:srgbClr val="2C3E50"/>
                </a:solidFill>
                <a:latin typeface="Calibri" pitchFamily="34" charset="0"/>
                <a:ea typeface="Calibri" pitchFamily="34" charset="-122"/>
                <a:cs typeface="Calibri" pitchFamily="34" charset="-120"/>
              </a:rPr>
              <a:t>Log in</a:t>
            </a:r>
            <a:endParaRPr lang="en-US" sz="1400" dirty="0"/>
          </a:p>
        </p:txBody>
      </p:sp>
      <p:sp>
        <p:nvSpPr>
          <p:cNvPr id="10" name="Text 6"/>
          <p:cNvSpPr/>
          <p:nvPr/>
        </p:nvSpPr>
        <p:spPr>
          <a:xfrm>
            <a:off x="713232" y="3255264"/>
            <a:ext cx="2212848" cy="457200"/>
          </a:xfrm>
          <a:prstGeom prst="rect">
            <a:avLst/>
          </a:prstGeom>
          <a:noFill/>
          <a:ln/>
        </p:spPr>
        <p:txBody>
          <a:bodyPr wrap="square" lIns="0" tIns="0" rIns="0" bIns="0" rtlCol="0" anchor="t"/>
          <a:lstStyle/>
          <a:p>
            <a:pPr marL="0" indent="0" algn="ctr">
              <a:lnSpc>
                <a:spcPts val="1300"/>
              </a:lnSpc>
              <a:buNone/>
            </a:pPr>
            <a:r>
              <a:rPr lang="en-US" sz="1100" dirty="0">
                <a:solidFill>
                  <a:srgbClr val="6B7C8C"/>
                </a:solidFill>
                <a:latin typeface="Calibri" pitchFamily="34" charset="0"/>
                <a:ea typeface="Calibri" pitchFamily="34" charset="-122"/>
                <a:cs typeface="Calibri" pitchFamily="34" charset="-120"/>
              </a:rPr>
              <a:t>auth.login() sets user + token</a:t>
            </a:r>
            <a:endParaRPr lang="en-US" sz="1100" dirty="0"/>
          </a:p>
        </p:txBody>
      </p:sp>
      <p:sp>
        <p:nvSpPr>
          <p:cNvPr id="11" name="Text 7"/>
          <p:cNvSpPr/>
          <p:nvPr/>
        </p:nvSpPr>
        <p:spPr>
          <a:xfrm>
            <a:off x="3072384" y="1920240"/>
            <a:ext cx="310896" cy="1828800"/>
          </a:xfrm>
          <a:prstGeom prst="rect">
            <a:avLst/>
          </a:prstGeom>
          <a:noFill/>
          <a:ln/>
        </p:spPr>
        <p:txBody>
          <a:bodyPr wrap="square" lIns="0" tIns="0" rIns="0" bIns="0" rtlCol="0" anchor="ctr"/>
          <a:lstStyle/>
          <a:p>
            <a:pPr marL="0" indent="0" algn="ctr">
              <a:buNone/>
            </a:pPr>
            <a:r>
              <a:rPr lang="en-US" sz="2200" b="1" dirty="0">
                <a:solidFill>
                  <a:srgbClr val="9AAAB6"/>
                </a:solidFill>
                <a:latin typeface="Calibri" pitchFamily="34" charset="0"/>
                <a:ea typeface="Calibri" pitchFamily="34" charset="-122"/>
                <a:cs typeface="Calibri" pitchFamily="34" charset="-120"/>
              </a:rPr>
              <a:t>→</a:t>
            </a:r>
            <a:endParaRPr lang="en-US" sz="2200" dirty="0"/>
          </a:p>
        </p:txBody>
      </p:sp>
      <p:sp>
        <p:nvSpPr>
          <p:cNvPr id="12" name="Shape 8"/>
          <p:cNvSpPr/>
          <p:nvPr/>
        </p:nvSpPr>
        <p:spPr>
          <a:xfrm>
            <a:off x="3401568" y="1920240"/>
            <a:ext cx="2542032" cy="1828800"/>
          </a:xfrm>
          <a:prstGeom prst="roundRect">
            <a:avLst>
              <a:gd name="adj" fmla="val 5000"/>
            </a:avLst>
          </a:prstGeom>
          <a:solidFill>
            <a:srgbClr val="F4F7F9"/>
          </a:solidFill>
          <a:ln w="12700">
            <a:solidFill>
              <a:srgbClr val="DCE5EB"/>
            </a:solidFill>
            <a:prstDash val="solid"/>
          </a:ln>
          <a:effectLst>
            <a:outerShdw blurRad="88900" dist="25400" dir="5400000" algn="bl" rotWithShape="0">
              <a:srgbClr val="35495E">
                <a:alpha val="13000"/>
              </a:srgbClr>
            </a:outerShdw>
          </a:effectLst>
        </p:spPr>
      </p:sp>
      <p:sp>
        <p:nvSpPr>
          <p:cNvPr id="13" name="Shape 9"/>
          <p:cNvSpPr/>
          <p:nvPr/>
        </p:nvSpPr>
        <p:spPr>
          <a:xfrm>
            <a:off x="4343400" y="2176272"/>
            <a:ext cx="658368" cy="658368"/>
          </a:xfrm>
          <a:prstGeom prst="ellipse">
            <a:avLst/>
          </a:prstGeom>
          <a:solidFill>
            <a:srgbClr val="42B883"/>
          </a:solidFill>
          <a:ln/>
        </p:spPr>
      </p:sp>
      <p:pic>
        <p:nvPicPr>
          <p:cNvPr id="14" name="Image 2" descr="preencoded.png"/>
          <p:cNvPicPr>
            <a:picLocks noChangeAspect="1"/>
          </p:cNvPicPr>
          <p:nvPr/>
        </p:nvPicPr>
        <p:blipFill>
          <a:blip r:embed="rId5"/>
          <a:stretch>
            <a:fillRect/>
          </a:stretch>
        </p:blipFill>
        <p:spPr>
          <a:xfrm>
            <a:off x="4489704" y="2322576"/>
            <a:ext cx="365760" cy="365760"/>
          </a:xfrm>
          <a:prstGeom prst="rect">
            <a:avLst/>
          </a:prstGeom>
        </p:spPr>
      </p:pic>
      <p:sp>
        <p:nvSpPr>
          <p:cNvPr id="15" name="Text 10"/>
          <p:cNvSpPr/>
          <p:nvPr/>
        </p:nvSpPr>
        <p:spPr>
          <a:xfrm>
            <a:off x="3401568" y="2907792"/>
            <a:ext cx="2542032" cy="365760"/>
          </a:xfrm>
          <a:prstGeom prst="rect">
            <a:avLst/>
          </a:prstGeom>
          <a:noFill/>
          <a:ln/>
        </p:spPr>
        <p:txBody>
          <a:bodyPr wrap="square" lIns="0" tIns="0" rIns="0" bIns="0" rtlCol="0" anchor="ctr"/>
          <a:lstStyle/>
          <a:p>
            <a:pPr marL="0" indent="0" algn="ctr">
              <a:buNone/>
            </a:pPr>
            <a:r>
              <a:rPr lang="en-US" sz="1400" b="1" dirty="0">
                <a:solidFill>
                  <a:srgbClr val="2C3E50"/>
                </a:solidFill>
                <a:latin typeface="Calibri" pitchFamily="34" charset="0"/>
                <a:ea typeface="Calibri" pitchFamily="34" charset="-122"/>
                <a:cs typeface="Calibri" pitchFamily="34" charset="-120"/>
              </a:rPr>
              <a:t>Plugin saves</a:t>
            </a:r>
            <a:endParaRPr lang="en-US" sz="1400" dirty="0"/>
          </a:p>
        </p:txBody>
      </p:sp>
      <p:sp>
        <p:nvSpPr>
          <p:cNvPr id="16" name="Text 11"/>
          <p:cNvSpPr/>
          <p:nvPr/>
        </p:nvSpPr>
        <p:spPr>
          <a:xfrm>
            <a:off x="3566160" y="3255264"/>
            <a:ext cx="2212848" cy="457200"/>
          </a:xfrm>
          <a:prstGeom prst="rect">
            <a:avLst/>
          </a:prstGeom>
          <a:noFill/>
          <a:ln/>
        </p:spPr>
        <p:txBody>
          <a:bodyPr wrap="square" lIns="0" tIns="0" rIns="0" bIns="0" rtlCol="0" anchor="t"/>
          <a:lstStyle/>
          <a:p>
            <a:pPr marL="0" indent="0" algn="ctr">
              <a:lnSpc>
                <a:spcPts val="1300"/>
              </a:lnSpc>
              <a:buNone/>
            </a:pPr>
            <a:r>
              <a:rPr lang="en-US" sz="1100" dirty="0">
                <a:solidFill>
                  <a:srgbClr val="6B7C8C"/>
                </a:solidFill>
                <a:latin typeface="Calibri" pitchFamily="34" charset="0"/>
                <a:ea typeface="Calibri" pitchFamily="34" charset="-122"/>
                <a:cs typeface="Calibri" pitchFamily="34" charset="-120"/>
              </a:rPr>
              <a:t>persistedstate writes to localStorage</a:t>
            </a:r>
            <a:endParaRPr lang="en-US" sz="1100" dirty="0"/>
          </a:p>
        </p:txBody>
      </p:sp>
      <p:sp>
        <p:nvSpPr>
          <p:cNvPr id="17" name="Text 12"/>
          <p:cNvSpPr/>
          <p:nvPr/>
        </p:nvSpPr>
        <p:spPr>
          <a:xfrm>
            <a:off x="5925312" y="1920240"/>
            <a:ext cx="310896" cy="1828800"/>
          </a:xfrm>
          <a:prstGeom prst="rect">
            <a:avLst/>
          </a:prstGeom>
          <a:noFill/>
          <a:ln/>
        </p:spPr>
        <p:txBody>
          <a:bodyPr wrap="square" lIns="0" tIns="0" rIns="0" bIns="0" rtlCol="0" anchor="ctr"/>
          <a:lstStyle/>
          <a:p>
            <a:pPr marL="0" indent="0" algn="ctr">
              <a:buNone/>
            </a:pPr>
            <a:r>
              <a:rPr lang="en-US" sz="2200" b="1" dirty="0">
                <a:solidFill>
                  <a:srgbClr val="9AAAB6"/>
                </a:solidFill>
                <a:latin typeface="Calibri" pitchFamily="34" charset="0"/>
                <a:ea typeface="Calibri" pitchFamily="34" charset="-122"/>
                <a:cs typeface="Calibri" pitchFamily="34" charset="-120"/>
              </a:rPr>
              <a:t>→</a:t>
            </a:r>
            <a:endParaRPr lang="en-US" sz="2200" dirty="0"/>
          </a:p>
        </p:txBody>
      </p:sp>
      <p:sp>
        <p:nvSpPr>
          <p:cNvPr id="18" name="Shape 13"/>
          <p:cNvSpPr/>
          <p:nvPr/>
        </p:nvSpPr>
        <p:spPr>
          <a:xfrm>
            <a:off x="6254496" y="1920240"/>
            <a:ext cx="2542032" cy="1828800"/>
          </a:xfrm>
          <a:prstGeom prst="roundRect">
            <a:avLst>
              <a:gd name="adj" fmla="val 5000"/>
            </a:avLst>
          </a:prstGeom>
          <a:solidFill>
            <a:srgbClr val="F4F7F9"/>
          </a:solidFill>
          <a:ln w="12700">
            <a:solidFill>
              <a:srgbClr val="DCE5EB"/>
            </a:solidFill>
            <a:prstDash val="solid"/>
          </a:ln>
          <a:effectLst>
            <a:outerShdw blurRad="88900" dist="25400" dir="5400000" algn="bl" rotWithShape="0">
              <a:srgbClr val="35495E">
                <a:alpha val="13000"/>
              </a:srgbClr>
            </a:outerShdw>
          </a:effectLst>
        </p:spPr>
      </p:sp>
      <p:sp>
        <p:nvSpPr>
          <p:cNvPr id="19" name="Shape 14"/>
          <p:cNvSpPr/>
          <p:nvPr/>
        </p:nvSpPr>
        <p:spPr>
          <a:xfrm>
            <a:off x="7196328" y="2176272"/>
            <a:ext cx="658368" cy="658368"/>
          </a:xfrm>
          <a:prstGeom prst="ellipse">
            <a:avLst/>
          </a:prstGeom>
          <a:solidFill>
            <a:srgbClr val="42B883"/>
          </a:solidFill>
          <a:ln/>
        </p:spPr>
      </p:sp>
      <p:pic>
        <p:nvPicPr>
          <p:cNvPr id="20" name="Image 3" descr="preencoded.png"/>
          <p:cNvPicPr>
            <a:picLocks noChangeAspect="1"/>
          </p:cNvPicPr>
          <p:nvPr/>
        </p:nvPicPr>
        <p:blipFill>
          <a:blip r:embed="rId6"/>
          <a:stretch>
            <a:fillRect/>
          </a:stretch>
        </p:blipFill>
        <p:spPr>
          <a:xfrm>
            <a:off x="7342632" y="2322576"/>
            <a:ext cx="365760" cy="365760"/>
          </a:xfrm>
          <a:prstGeom prst="rect">
            <a:avLst/>
          </a:prstGeom>
        </p:spPr>
      </p:pic>
      <p:sp>
        <p:nvSpPr>
          <p:cNvPr id="21" name="Text 15"/>
          <p:cNvSpPr/>
          <p:nvPr/>
        </p:nvSpPr>
        <p:spPr>
          <a:xfrm>
            <a:off x="6254496" y="2907792"/>
            <a:ext cx="2542032" cy="365760"/>
          </a:xfrm>
          <a:prstGeom prst="rect">
            <a:avLst/>
          </a:prstGeom>
          <a:noFill/>
          <a:ln/>
        </p:spPr>
        <p:txBody>
          <a:bodyPr wrap="square" lIns="0" tIns="0" rIns="0" bIns="0" rtlCol="0" anchor="ctr"/>
          <a:lstStyle/>
          <a:p>
            <a:pPr marL="0" indent="0" algn="ctr">
              <a:buNone/>
            </a:pPr>
            <a:r>
              <a:rPr lang="en-US" sz="1400" b="1" dirty="0">
                <a:solidFill>
                  <a:srgbClr val="2C3E50"/>
                </a:solidFill>
                <a:latin typeface="Calibri" pitchFamily="34" charset="0"/>
                <a:ea typeface="Calibri" pitchFamily="34" charset="-122"/>
                <a:cs typeface="Calibri" pitchFamily="34" charset="-120"/>
              </a:rPr>
              <a:t>Refresh page</a:t>
            </a:r>
            <a:endParaRPr lang="en-US" sz="1400" dirty="0"/>
          </a:p>
        </p:txBody>
      </p:sp>
      <p:sp>
        <p:nvSpPr>
          <p:cNvPr id="22" name="Text 16"/>
          <p:cNvSpPr/>
          <p:nvPr/>
        </p:nvSpPr>
        <p:spPr>
          <a:xfrm>
            <a:off x="6419088" y="3255264"/>
            <a:ext cx="2212848" cy="457200"/>
          </a:xfrm>
          <a:prstGeom prst="rect">
            <a:avLst/>
          </a:prstGeom>
          <a:noFill/>
          <a:ln/>
        </p:spPr>
        <p:txBody>
          <a:bodyPr wrap="square" lIns="0" tIns="0" rIns="0" bIns="0" rtlCol="0" anchor="t"/>
          <a:lstStyle/>
          <a:p>
            <a:pPr marL="0" indent="0" algn="ctr">
              <a:lnSpc>
                <a:spcPts val="1300"/>
              </a:lnSpc>
              <a:buNone/>
            </a:pPr>
            <a:r>
              <a:rPr lang="en-US" sz="1100" dirty="0">
                <a:solidFill>
                  <a:srgbClr val="6B7C8C"/>
                </a:solidFill>
                <a:latin typeface="Calibri" pitchFamily="34" charset="0"/>
                <a:ea typeface="Calibri" pitchFamily="34" charset="-122"/>
                <a:cs typeface="Calibri" pitchFamily="34" charset="-120"/>
              </a:rPr>
              <a:t>store re-hydrates from storage</a:t>
            </a:r>
            <a:endParaRPr lang="en-US" sz="1100" dirty="0"/>
          </a:p>
        </p:txBody>
      </p:sp>
      <p:sp>
        <p:nvSpPr>
          <p:cNvPr id="23" name="Text 17"/>
          <p:cNvSpPr/>
          <p:nvPr/>
        </p:nvSpPr>
        <p:spPr>
          <a:xfrm>
            <a:off x="8778240" y="1920240"/>
            <a:ext cx="310896" cy="1828800"/>
          </a:xfrm>
          <a:prstGeom prst="rect">
            <a:avLst/>
          </a:prstGeom>
          <a:noFill/>
          <a:ln/>
        </p:spPr>
        <p:txBody>
          <a:bodyPr wrap="square" lIns="0" tIns="0" rIns="0" bIns="0" rtlCol="0" anchor="ctr"/>
          <a:lstStyle/>
          <a:p>
            <a:pPr marL="0" indent="0" algn="ctr">
              <a:buNone/>
            </a:pPr>
            <a:r>
              <a:rPr lang="en-US" sz="2200" b="1" dirty="0">
                <a:solidFill>
                  <a:srgbClr val="9AAAB6"/>
                </a:solidFill>
                <a:latin typeface="Calibri" pitchFamily="34" charset="0"/>
                <a:ea typeface="Calibri" pitchFamily="34" charset="-122"/>
                <a:cs typeface="Calibri" pitchFamily="34" charset="-120"/>
              </a:rPr>
              <a:t>→</a:t>
            </a:r>
            <a:endParaRPr lang="en-US" sz="2200" dirty="0"/>
          </a:p>
        </p:txBody>
      </p:sp>
      <p:sp>
        <p:nvSpPr>
          <p:cNvPr id="24" name="Shape 18"/>
          <p:cNvSpPr/>
          <p:nvPr/>
        </p:nvSpPr>
        <p:spPr>
          <a:xfrm>
            <a:off x="9107424" y="1920240"/>
            <a:ext cx="2542032" cy="1828800"/>
          </a:xfrm>
          <a:prstGeom prst="roundRect">
            <a:avLst>
              <a:gd name="adj" fmla="val 5000"/>
            </a:avLst>
          </a:prstGeom>
          <a:solidFill>
            <a:srgbClr val="FCF4E0"/>
          </a:solidFill>
          <a:ln w="19050">
            <a:solidFill>
              <a:srgbClr val="E0A21B"/>
            </a:solidFill>
            <a:prstDash val="solid"/>
          </a:ln>
          <a:effectLst>
            <a:outerShdw blurRad="88900" dist="25400" dir="5400000" algn="bl" rotWithShape="0">
              <a:srgbClr val="35495E">
                <a:alpha val="13000"/>
              </a:srgbClr>
            </a:outerShdw>
          </a:effectLst>
        </p:spPr>
      </p:sp>
      <p:sp>
        <p:nvSpPr>
          <p:cNvPr id="25" name="Shape 19"/>
          <p:cNvSpPr/>
          <p:nvPr/>
        </p:nvSpPr>
        <p:spPr>
          <a:xfrm>
            <a:off x="10049256" y="2176272"/>
            <a:ext cx="658368" cy="658368"/>
          </a:xfrm>
          <a:prstGeom prst="ellipse">
            <a:avLst/>
          </a:prstGeom>
          <a:solidFill>
            <a:srgbClr val="E0A21B"/>
          </a:solidFill>
          <a:ln/>
        </p:spPr>
      </p:sp>
      <p:pic>
        <p:nvPicPr>
          <p:cNvPr id="26" name="Image 4" descr="preencoded.png"/>
          <p:cNvPicPr>
            <a:picLocks noChangeAspect="1"/>
          </p:cNvPicPr>
          <p:nvPr/>
        </p:nvPicPr>
        <p:blipFill>
          <a:blip r:embed="rId7"/>
          <a:stretch>
            <a:fillRect/>
          </a:stretch>
        </p:blipFill>
        <p:spPr>
          <a:xfrm>
            <a:off x="10195560" y="2322576"/>
            <a:ext cx="365760" cy="365760"/>
          </a:xfrm>
          <a:prstGeom prst="rect">
            <a:avLst/>
          </a:prstGeom>
        </p:spPr>
      </p:pic>
      <p:sp>
        <p:nvSpPr>
          <p:cNvPr id="27" name="Text 20"/>
          <p:cNvSpPr/>
          <p:nvPr/>
        </p:nvSpPr>
        <p:spPr>
          <a:xfrm>
            <a:off x="9107424" y="2907792"/>
            <a:ext cx="2542032" cy="365760"/>
          </a:xfrm>
          <a:prstGeom prst="rect">
            <a:avLst/>
          </a:prstGeom>
          <a:noFill/>
          <a:ln/>
        </p:spPr>
        <p:txBody>
          <a:bodyPr wrap="square" lIns="0" tIns="0" rIns="0" bIns="0" rtlCol="0" anchor="ctr"/>
          <a:lstStyle/>
          <a:p>
            <a:pPr marL="0" indent="0" algn="ctr">
              <a:buNone/>
            </a:pPr>
            <a:r>
              <a:rPr lang="en-US" sz="1400" b="1" dirty="0">
                <a:solidFill>
                  <a:srgbClr val="2C3E50"/>
                </a:solidFill>
                <a:latin typeface="Calibri" pitchFamily="34" charset="0"/>
                <a:ea typeface="Calibri" pitchFamily="34" charset="-122"/>
                <a:cs typeface="Calibri" pitchFamily="34" charset="-120"/>
              </a:rPr>
              <a:t>Still logged in</a:t>
            </a:r>
            <a:endParaRPr lang="en-US" sz="1400" dirty="0"/>
          </a:p>
        </p:txBody>
      </p:sp>
      <p:sp>
        <p:nvSpPr>
          <p:cNvPr id="28" name="Text 21"/>
          <p:cNvSpPr/>
          <p:nvPr/>
        </p:nvSpPr>
        <p:spPr>
          <a:xfrm>
            <a:off x="9272016" y="3255264"/>
            <a:ext cx="2212848" cy="457200"/>
          </a:xfrm>
          <a:prstGeom prst="rect">
            <a:avLst/>
          </a:prstGeom>
          <a:noFill/>
          <a:ln/>
        </p:spPr>
        <p:txBody>
          <a:bodyPr wrap="square" lIns="0" tIns="0" rIns="0" bIns="0" rtlCol="0" anchor="t"/>
          <a:lstStyle/>
          <a:p>
            <a:pPr marL="0" indent="0" algn="ctr">
              <a:lnSpc>
                <a:spcPts val="1300"/>
              </a:lnSpc>
              <a:buNone/>
            </a:pPr>
            <a:r>
              <a:rPr lang="en-US" sz="1100" dirty="0">
                <a:solidFill>
                  <a:srgbClr val="6B7C8C"/>
                </a:solidFill>
                <a:latin typeface="Calibri" pitchFamily="34" charset="0"/>
                <a:ea typeface="Calibri" pitchFamily="34" charset="-122"/>
                <a:cs typeface="Calibri" pitchFamily="34" charset="-120"/>
              </a:rPr>
              <a:t>no re-login — state survived</a:t>
            </a:r>
            <a:endParaRPr lang="en-US" sz="1100" dirty="0"/>
          </a:p>
        </p:txBody>
      </p:sp>
      <p:sp>
        <p:nvSpPr>
          <p:cNvPr id="29" name="Shape 22"/>
          <p:cNvSpPr/>
          <p:nvPr/>
        </p:nvSpPr>
        <p:spPr>
          <a:xfrm>
            <a:off x="548640" y="4114800"/>
            <a:ext cx="11091672" cy="1389888"/>
          </a:xfrm>
          <a:prstGeom prst="roundRect">
            <a:avLst>
              <a:gd name="adj" fmla="val 4605"/>
            </a:avLst>
          </a:prstGeom>
          <a:solidFill>
            <a:srgbClr val="E9F6EF"/>
          </a:solidFill>
          <a:ln/>
          <a:effectLst>
            <a:outerShdw blurRad="88900" dist="25400" dir="5400000" algn="bl" rotWithShape="0">
              <a:srgbClr val="35495E">
                <a:alpha val="13000"/>
              </a:srgbClr>
            </a:outerShdw>
          </a:effectLst>
        </p:spPr>
      </p:sp>
      <p:sp>
        <p:nvSpPr>
          <p:cNvPr id="30" name="Shape 23"/>
          <p:cNvSpPr/>
          <p:nvPr/>
        </p:nvSpPr>
        <p:spPr>
          <a:xfrm>
            <a:off x="749808" y="4315968"/>
            <a:ext cx="457200" cy="457200"/>
          </a:xfrm>
          <a:prstGeom prst="ellipse">
            <a:avLst/>
          </a:prstGeom>
          <a:solidFill>
            <a:srgbClr val="2FA36B"/>
          </a:solidFill>
          <a:ln/>
          <a:effectLst>
            <a:outerShdw blurRad="88900" dist="25400" dir="5400000" algn="bl" rotWithShape="0">
              <a:srgbClr val="35495E">
                <a:alpha val="13000"/>
              </a:srgbClr>
            </a:outerShdw>
          </a:effectLst>
        </p:spPr>
      </p:sp>
      <p:pic>
        <p:nvPicPr>
          <p:cNvPr id="31" name="Image 5" descr="preencoded.png"/>
          <p:cNvPicPr>
            <a:picLocks noChangeAspect="1"/>
          </p:cNvPicPr>
          <p:nvPr/>
        </p:nvPicPr>
        <p:blipFill>
          <a:blip r:embed="rId7"/>
          <a:stretch>
            <a:fillRect/>
          </a:stretch>
        </p:blipFill>
        <p:spPr>
          <a:xfrm>
            <a:off x="873252" y="4439412"/>
            <a:ext cx="210312" cy="210312"/>
          </a:xfrm>
          <a:prstGeom prst="rect">
            <a:avLst/>
          </a:prstGeom>
        </p:spPr>
      </p:pic>
      <p:sp>
        <p:nvSpPr>
          <p:cNvPr id="32" name="Text 24"/>
          <p:cNvSpPr/>
          <p:nvPr/>
        </p:nvSpPr>
        <p:spPr>
          <a:xfrm>
            <a:off x="1335024" y="4279392"/>
            <a:ext cx="10131552" cy="310896"/>
          </a:xfrm>
          <a:prstGeom prst="rect">
            <a:avLst/>
          </a:prstGeom>
          <a:noFill/>
          <a:ln/>
        </p:spPr>
        <p:txBody>
          <a:bodyPr wrap="square" lIns="0" tIns="0" rIns="0" bIns="0" rtlCol="0" anchor="ctr"/>
          <a:lstStyle/>
          <a:p>
            <a:pPr marL="0" indent="0" algn="l">
              <a:buNone/>
            </a:pPr>
            <a:r>
              <a:rPr lang="en-US" sz="1400" b="1" dirty="0">
                <a:solidFill>
                  <a:srgbClr val="1F7A4D"/>
                </a:solidFill>
                <a:latin typeface="Calibri" pitchFamily="34" charset="0"/>
                <a:ea typeface="Calibri" pitchFamily="34" charset="-122"/>
                <a:cs typeface="Calibri" pitchFamily="34" charset="-120"/>
              </a:rPr>
              <a:t>Show it live</a:t>
            </a:r>
            <a:endParaRPr lang="en-US" sz="1400" dirty="0"/>
          </a:p>
        </p:txBody>
      </p:sp>
      <p:sp>
        <p:nvSpPr>
          <p:cNvPr id="33" name="Text 25"/>
          <p:cNvSpPr/>
          <p:nvPr/>
        </p:nvSpPr>
        <p:spPr>
          <a:xfrm>
            <a:off x="1335024" y="4590288"/>
            <a:ext cx="10131552" cy="786384"/>
          </a:xfrm>
          <a:prstGeom prst="rect">
            <a:avLst/>
          </a:prstGeom>
          <a:noFill/>
          <a:ln/>
        </p:spPr>
        <p:txBody>
          <a:bodyPr wrap="square" lIns="0" tIns="0" rIns="0" bIns="0" rtlCol="0" anchor="t"/>
          <a:lstStyle/>
          <a:p>
            <a:pPr marL="0" indent="0" algn="l">
              <a:lnSpc>
                <a:spcPts val="1600"/>
              </a:lnSpc>
              <a:buNone/>
            </a:pPr>
            <a:r>
              <a:rPr lang="en-US" sz="1250" dirty="0">
                <a:solidFill>
                  <a:srgbClr val="2C3E50"/>
                </a:solidFill>
                <a:latin typeface="Calibri" pitchFamily="34" charset="0"/>
                <a:ea typeface="Calibri" pitchFamily="34" charset="-122"/>
                <a:cs typeface="Calibri" pitchFamily="34" charset="-120"/>
              </a:rPr>
              <a:t>Refresh the browser — the user stays logged in. Open DevTools › Application › Local Storage to see the 'auth' key, then the Pinia tab to time-travel through login/logout. This is why Pinia's devtools beat the composable approach.</a:t>
            </a:r>
            <a:endParaRPr lang="en-US" sz="1250" dirty="0"/>
          </a:p>
        </p:txBody>
      </p:sp>
      <p:sp>
        <p:nvSpPr>
          <p:cNvPr id="34" name="Text 26"/>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35" name="Text 27"/>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Live Demo</a:t>
            </a:r>
            <a:endParaRPr lang="en-US" sz="900" dirty="0"/>
          </a:p>
        </p:txBody>
      </p:sp>
      <p:sp>
        <p:nvSpPr>
          <p:cNvPr id="36" name="Text 28"/>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42B883"/>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35A06A"/>
                </a:solidFill>
                <a:latin typeface="Calibri" pitchFamily="34" charset="0"/>
                <a:ea typeface="Calibri" pitchFamily="34" charset="-122"/>
                <a:cs typeface="Calibri" pitchFamily="34" charset="-120"/>
              </a:rPr>
              <a:t>PRACTICE · 67:00–80:00 · CONTINUE YOUR APP</a:t>
            </a:r>
            <a:endParaRPr lang="en-US" sz="1200" dirty="0"/>
          </a:p>
        </p:txBody>
      </p:sp>
      <p:sp>
        <p:nvSpPr>
          <p:cNvPr id="5" name="Text 2"/>
          <p:cNvSpPr/>
          <p:nvPr/>
        </p:nvSpPr>
        <p:spPr>
          <a:xfrm>
            <a:off x="1298448" y="713232"/>
            <a:ext cx="10058400" cy="566928"/>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Wire Auth Into the Job Board</a:t>
            </a:r>
            <a:endParaRPr lang="en-US" sz="2800" dirty="0"/>
          </a:p>
        </p:txBody>
      </p:sp>
      <p:sp>
        <p:nvSpPr>
          <p:cNvPr id="6" name="Text 3"/>
          <p:cNvSpPr/>
          <p:nvPr/>
        </p:nvSpPr>
        <p:spPr>
          <a:xfrm>
            <a:off x="548640" y="1325880"/>
            <a:ext cx="11064240" cy="365760"/>
          </a:xfrm>
          <a:prstGeom prst="rect">
            <a:avLst/>
          </a:prstGeom>
          <a:noFill/>
          <a:ln/>
        </p:spPr>
        <p:txBody>
          <a:bodyPr wrap="square" lIns="0" tIns="0" rIns="0" bIns="0" rtlCol="0" anchor="ctr"/>
          <a:lstStyle/>
          <a:p>
            <a:pPr marL="0" indent="0">
              <a:buNone/>
            </a:pPr>
            <a:r>
              <a:rPr lang="en-US" sz="1300" dirty="0">
                <a:solidFill>
                  <a:srgbClr val="6B7C8C"/>
                </a:solidFill>
                <a:latin typeface="Calibri" pitchFamily="34" charset="0"/>
                <a:ea typeface="Calibri" pitchFamily="34" charset="-122"/>
                <a:cs typeface="Calibri" pitchFamily="34" charset="-120"/>
              </a:rPr>
              <a:t>Migrate the Job Board's useAuth composable to a Pinia store, then add a watchlist store using cross-store composition.</a:t>
            </a:r>
            <a:endParaRPr lang="en-US" sz="1300" dirty="0"/>
          </a:p>
        </p:txBody>
      </p:sp>
      <p:sp>
        <p:nvSpPr>
          <p:cNvPr id="7" name="Shape 4"/>
          <p:cNvSpPr/>
          <p:nvPr/>
        </p:nvSpPr>
        <p:spPr>
          <a:xfrm>
            <a:off x="548640" y="1828800"/>
            <a:ext cx="3611880" cy="3200400"/>
          </a:xfrm>
          <a:prstGeom prst="roundRect">
            <a:avLst>
              <a:gd name="adj" fmla="val 2571"/>
            </a:avLst>
          </a:prstGeom>
          <a:solidFill>
            <a:srgbClr val="FCF4E0"/>
          </a:solidFill>
          <a:ln w="12700">
            <a:solidFill>
              <a:srgbClr val="DCE5EB"/>
            </a:solidFill>
            <a:prstDash val="solid"/>
          </a:ln>
          <a:effectLst>
            <a:outerShdw blurRad="88900" dist="25400" dir="5400000" algn="bl" rotWithShape="0">
              <a:srgbClr val="35495E">
                <a:alpha val="13000"/>
              </a:srgbClr>
            </a:outerShdw>
          </a:effectLst>
        </p:spPr>
      </p:sp>
      <p:sp>
        <p:nvSpPr>
          <p:cNvPr id="8" name="Shape 5"/>
          <p:cNvSpPr/>
          <p:nvPr/>
        </p:nvSpPr>
        <p:spPr>
          <a:xfrm>
            <a:off x="804672" y="2066544"/>
            <a:ext cx="457200" cy="457200"/>
          </a:xfrm>
          <a:prstGeom prst="ellipse">
            <a:avLst/>
          </a:prstGeom>
          <a:solidFill>
            <a:srgbClr val="E0A21B"/>
          </a:solidFill>
          <a:ln/>
        </p:spPr>
      </p:sp>
      <p:pic>
        <p:nvPicPr>
          <p:cNvPr id="9" name="Image 1" descr="preencoded.png"/>
          <p:cNvPicPr>
            <a:picLocks noChangeAspect="1"/>
          </p:cNvPicPr>
          <p:nvPr/>
        </p:nvPicPr>
        <p:blipFill>
          <a:blip r:embed="rId4"/>
          <a:stretch>
            <a:fillRect/>
          </a:stretch>
        </p:blipFill>
        <p:spPr>
          <a:xfrm>
            <a:off x="923544" y="2185416"/>
            <a:ext cx="219456" cy="219456"/>
          </a:xfrm>
          <a:prstGeom prst="rect">
            <a:avLst/>
          </a:prstGeom>
        </p:spPr>
      </p:pic>
      <p:sp>
        <p:nvSpPr>
          <p:cNvPr id="10" name="Text 6"/>
          <p:cNvSpPr/>
          <p:nvPr/>
        </p:nvSpPr>
        <p:spPr>
          <a:xfrm>
            <a:off x="1389888" y="2048256"/>
            <a:ext cx="2606040" cy="493776"/>
          </a:xfrm>
          <a:prstGeom prst="rect">
            <a:avLst/>
          </a:prstGeom>
          <a:noFill/>
          <a:ln/>
        </p:spPr>
        <p:txBody>
          <a:bodyPr wrap="square" lIns="0" tIns="0" rIns="0" bIns="0" rtlCol="0" anchor="ctr"/>
          <a:lstStyle/>
          <a:p>
            <a:pPr marL="0" indent="0">
              <a:buNone/>
            </a:pPr>
            <a:r>
              <a:rPr lang="en-US" sz="1350" b="1" dirty="0">
                <a:solidFill>
                  <a:srgbClr val="2C3E50"/>
                </a:solidFill>
                <a:latin typeface="Courier New" pitchFamily="34" charset="0"/>
                <a:ea typeface="Courier New" pitchFamily="34" charset="-122"/>
                <a:cs typeface="Courier New" pitchFamily="34" charset="-120"/>
              </a:rPr>
              <a:t>useAuthStore</a:t>
            </a:r>
            <a:endParaRPr lang="en-US" sz="1350" dirty="0"/>
          </a:p>
        </p:txBody>
      </p:sp>
      <p:sp>
        <p:nvSpPr>
          <p:cNvPr id="11" name="Shape 7"/>
          <p:cNvSpPr/>
          <p:nvPr/>
        </p:nvSpPr>
        <p:spPr>
          <a:xfrm>
            <a:off x="822960" y="2743200"/>
            <a:ext cx="100584" cy="100584"/>
          </a:xfrm>
          <a:prstGeom prst="ellipse">
            <a:avLst/>
          </a:prstGeom>
          <a:solidFill>
            <a:srgbClr val="E0A21B"/>
          </a:solidFill>
          <a:ln/>
        </p:spPr>
      </p:sp>
      <p:sp>
        <p:nvSpPr>
          <p:cNvPr id="12" name="Text 8"/>
          <p:cNvSpPr/>
          <p:nvPr/>
        </p:nvSpPr>
        <p:spPr>
          <a:xfrm>
            <a:off x="1042416" y="2651760"/>
            <a:ext cx="2880360" cy="548640"/>
          </a:xfrm>
          <a:prstGeom prst="rect">
            <a:avLst/>
          </a:prstGeom>
          <a:noFill/>
          <a:ln/>
        </p:spPr>
        <p:txBody>
          <a:bodyPr wrap="square" lIns="0" tIns="0" rIns="0" bIns="0" rtlCol="0" anchor="t"/>
          <a:lstStyle/>
          <a:p>
            <a:pPr marL="0" indent="0">
              <a:lnSpc>
                <a:spcPts val="1250"/>
              </a:lnSpc>
              <a:buNone/>
            </a:pPr>
            <a:r>
              <a:rPr lang="en-US" sz="1100" dirty="0">
                <a:solidFill>
                  <a:srgbClr val="2C3E50"/>
                </a:solidFill>
                <a:latin typeface="Calibri" pitchFamily="34" charset="0"/>
                <a:ea typeface="Calibri" pitchFamily="34" charset="-122"/>
                <a:cs typeface="Calibri" pitchFamily="34" charset="-120"/>
              </a:rPr>
              <a:t>user · token · loginError</a:t>
            </a:r>
            <a:endParaRPr lang="en-US" sz="1100" dirty="0"/>
          </a:p>
        </p:txBody>
      </p:sp>
      <p:sp>
        <p:nvSpPr>
          <p:cNvPr id="13" name="Shape 9"/>
          <p:cNvSpPr/>
          <p:nvPr/>
        </p:nvSpPr>
        <p:spPr>
          <a:xfrm>
            <a:off x="822960" y="3310128"/>
            <a:ext cx="100584" cy="100584"/>
          </a:xfrm>
          <a:prstGeom prst="ellipse">
            <a:avLst/>
          </a:prstGeom>
          <a:solidFill>
            <a:srgbClr val="E0A21B"/>
          </a:solidFill>
          <a:ln/>
        </p:spPr>
      </p:sp>
      <p:sp>
        <p:nvSpPr>
          <p:cNvPr id="14" name="Text 10"/>
          <p:cNvSpPr/>
          <p:nvPr/>
        </p:nvSpPr>
        <p:spPr>
          <a:xfrm>
            <a:off x="1042416" y="3218688"/>
            <a:ext cx="2880360" cy="548640"/>
          </a:xfrm>
          <a:prstGeom prst="rect">
            <a:avLst/>
          </a:prstGeom>
          <a:noFill/>
          <a:ln/>
        </p:spPr>
        <p:txBody>
          <a:bodyPr wrap="square" lIns="0" tIns="0" rIns="0" bIns="0" rtlCol="0" anchor="t"/>
          <a:lstStyle/>
          <a:p>
            <a:pPr marL="0" indent="0">
              <a:lnSpc>
                <a:spcPts val="1250"/>
              </a:lnSpc>
              <a:buNone/>
            </a:pPr>
            <a:r>
              <a:rPr lang="en-US" sz="1100" dirty="0">
                <a:solidFill>
                  <a:srgbClr val="2C3E50"/>
                </a:solidFill>
                <a:latin typeface="Calibri" pitchFamily="34" charset="0"/>
                <a:ea typeface="Calibri" pitchFamily="34" charset="-122"/>
                <a:cs typeface="Calibri" pitchFamily="34" charset="-120"/>
              </a:rPr>
              <a:t>isLoggedIn · isRecruiter · hasRole()</a:t>
            </a:r>
            <a:endParaRPr lang="en-US" sz="1100" dirty="0"/>
          </a:p>
        </p:txBody>
      </p:sp>
      <p:sp>
        <p:nvSpPr>
          <p:cNvPr id="15" name="Shape 11"/>
          <p:cNvSpPr/>
          <p:nvPr/>
        </p:nvSpPr>
        <p:spPr>
          <a:xfrm>
            <a:off x="822960" y="3877056"/>
            <a:ext cx="100584" cy="100584"/>
          </a:xfrm>
          <a:prstGeom prst="ellipse">
            <a:avLst/>
          </a:prstGeom>
          <a:solidFill>
            <a:srgbClr val="E0A21B"/>
          </a:solidFill>
          <a:ln/>
        </p:spPr>
      </p:sp>
      <p:sp>
        <p:nvSpPr>
          <p:cNvPr id="16" name="Text 12"/>
          <p:cNvSpPr/>
          <p:nvPr/>
        </p:nvSpPr>
        <p:spPr>
          <a:xfrm>
            <a:off x="1042416" y="3785616"/>
            <a:ext cx="2880360" cy="548640"/>
          </a:xfrm>
          <a:prstGeom prst="rect">
            <a:avLst/>
          </a:prstGeom>
          <a:noFill/>
          <a:ln/>
        </p:spPr>
        <p:txBody>
          <a:bodyPr wrap="square" lIns="0" tIns="0" rIns="0" bIns="0" rtlCol="0" anchor="t"/>
          <a:lstStyle/>
          <a:p>
            <a:pPr marL="0" indent="0">
              <a:lnSpc>
                <a:spcPts val="1250"/>
              </a:lnSpc>
              <a:buNone/>
            </a:pPr>
            <a:r>
              <a:rPr lang="en-US" sz="1100" dirty="0">
                <a:solidFill>
                  <a:srgbClr val="2C3E50"/>
                </a:solidFill>
                <a:latin typeface="Calibri" pitchFamily="34" charset="0"/>
                <a:ea typeface="Calibri" pitchFamily="34" charset="-122"/>
                <a:cs typeface="Calibri" pitchFamily="34" charset="-120"/>
              </a:rPr>
              <a:t>login · logout · fetchUser (simulated)</a:t>
            </a:r>
            <a:endParaRPr lang="en-US" sz="1100" dirty="0"/>
          </a:p>
        </p:txBody>
      </p:sp>
      <p:sp>
        <p:nvSpPr>
          <p:cNvPr id="17" name="Shape 13"/>
          <p:cNvSpPr/>
          <p:nvPr/>
        </p:nvSpPr>
        <p:spPr>
          <a:xfrm>
            <a:off x="822960" y="4443984"/>
            <a:ext cx="100584" cy="100584"/>
          </a:xfrm>
          <a:prstGeom prst="ellipse">
            <a:avLst/>
          </a:prstGeom>
          <a:solidFill>
            <a:srgbClr val="E0A21B"/>
          </a:solidFill>
          <a:ln/>
        </p:spPr>
      </p:sp>
      <p:sp>
        <p:nvSpPr>
          <p:cNvPr id="18" name="Text 14"/>
          <p:cNvSpPr/>
          <p:nvPr/>
        </p:nvSpPr>
        <p:spPr>
          <a:xfrm>
            <a:off x="1042416" y="4352544"/>
            <a:ext cx="2880360" cy="548640"/>
          </a:xfrm>
          <a:prstGeom prst="rect">
            <a:avLst/>
          </a:prstGeom>
          <a:noFill/>
          <a:ln/>
        </p:spPr>
        <p:txBody>
          <a:bodyPr wrap="square" lIns="0" tIns="0" rIns="0" bIns="0" rtlCol="0" anchor="t"/>
          <a:lstStyle/>
          <a:p>
            <a:pPr marL="0" indent="0">
              <a:lnSpc>
                <a:spcPts val="1250"/>
              </a:lnSpc>
              <a:buNone/>
            </a:pPr>
            <a:r>
              <a:rPr lang="en-US" sz="1100" dirty="0">
                <a:solidFill>
                  <a:srgbClr val="2C3E50"/>
                </a:solidFill>
                <a:latin typeface="Calibri" pitchFamily="34" charset="0"/>
                <a:ea typeface="Calibri" pitchFamily="34" charset="-122"/>
                <a:cs typeface="Calibri" pitchFamily="34" charset="-120"/>
              </a:rPr>
              <a:t>persist: { pick: ['token','user'] }</a:t>
            </a:r>
            <a:endParaRPr lang="en-US" sz="1100" dirty="0"/>
          </a:p>
        </p:txBody>
      </p:sp>
      <p:sp>
        <p:nvSpPr>
          <p:cNvPr id="19" name="Shape 15"/>
          <p:cNvSpPr/>
          <p:nvPr/>
        </p:nvSpPr>
        <p:spPr>
          <a:xfrm>
            <a:off x="4288536" y="1828800"/>
            <a:ext cx="3611880" cy="3200400"/>
          </a:xfrm>
          <a:prstGeom prst="roundRect">
            <a:avLst>
              <a:gd name="adj" fmla="val 2571"/>
            </a:avLst>
          </a:prstGeom>
          <a:solidFill>
            <a:srgbClr val="ECF7F1"/>
          </a:solidFill>
          <a:ln w="12700">
            <a:solidFill>
              <a:srgbClr val="DCE5EB"/>
            </a:solidFill>
            <a:prstDash val="solid"/>
          </a:ln>
          <a:effectLst>
            <a:outerShdw blurRad="88900" dist="25400" dir="5400000" algn="bl" rotWithShape="0">
              <a:srgbClr val="35495E">
                <a:alpha val="13000"/>
              </a:srgbClr>
            </a:outerShdw>
          </a:effectLst>
        </p:spPr>
      </p:sp>
      <p:sp>
        <p:nvSpPr>
          <p:cNvPr id="20" name="Shape 16"/>
          <p:cNvSpPr/>
          <p:nvPr/>
        </p:nvSpPr>
        <p:spPr>
          <a:xfrm>
            <a:off x="4544568" y="2066544"/>
            <a:ext cx="457200" cy="457200"/>
          </a:xfrm>
          <a:prstGeom prst="ellipse">
            <a:avLst/>
          </a:prstGeom>
          <a:solidFill>
            <a:srgbClr val="42B883"/>
          </a:solidFill>
          <a:ln/>
        </p:spPr>
      </p:sp>
      <p:pic>
        <p:nvPicPr>
          <p:cNvPr id="21" name="Image 2" descr="preencoded.png"/>
          <p:cNvPicPr>
            <a:picLocks noChangeAspect="1"/>
          </p:cNvPicPr>
          <p:nvPr/>
        </p:nvPicPr>
        <p:blipFill>
          <a:blip r:embed="rId5"/>
          <a:stretch>
            <a:fillRect/>
          </a:stretch>
        </p:blipFill>
        <p:spPr>
          <a:xfrm>
            <a:off x="4663440" y="2185416"/>
            <a:ext cx="219456" cy="219456"/>
          </a:xfrm>
          <a:prstGeom prst="rect">
            <a:avLst/>
          </a:prstGeom>
        </p:spPr>
      </p:pic>
      <p:sp>
        <p:nvSpPr>
          <p:cNvPr id="22" name="Text 17"/>
          <p:cNvSpPr/>
          <p:nvPr/>
        </p:nvSpPr>
        <p:spPr>
          <a:xfrm>
            <a:off x="5129784" y="2048256"/>
            <a:ext cx="2606040" cy="493776"/>
          </a:xfrm>
          <a:prstGeom prst="rect">
            <a:avLst/>
          </a:prstGeom>
          <a:noFill/>
          <a:ln/>
        </p:spPr>
        <p:txBody>
          <a:bodyPr wrap="square" lIns="0" tIns="0" rIns="0" bIns="0" rtlCol="0" anchor="ctr"/>
          <a:lstStyle/>
          <a:p>
            <a:pPr marL="0" indent="0">
              <a:buNone/>
            </a:pPr>
            <a:r>
              <a:rPr lang="en-US" sz="1350" b="1" dirty="0">
                <a:solidFill>
                  <a:srgbClr val="2C3E50"/>
                </a:solidFill>
                <a:latin typeface="Courier New" pitchFamily="34" charset="0"/>
                <a:ea typeface="Courier New" pitchFamily="34" charset="-122"/>
                <a:cs typeface="Courier New" pitchFamily="34" charset="-120"/>
              </a:rPr>
              <a:t>useWatchlistStore</a:t>
            </a:r>
            <a:endParaRPr lang="en-US" sz="1350" dirty="0"/>
          </a:p>
        </p:txBody>
      </p:sp>
      <p:sp>
        <p:nvSpPr>
          <p:cNvPr id="23" name="Shape 18"/>
          <p:cNvSpPr/>
          <p:nvPr/>
        </p:nvSpPr>
        <p:spPr>
          <a:xfrm>
            <a:off x="4562856" y="2743200"/>
            <a:ext cx="100584" cy="100584"/>
          </a:xfrm>
          <a:prstGeom prst="ellipse">
            <a:avLst/>
          </a:prstGeom>
          <a:solidFill>
            <a:srgbClr val="42B883"/>
          </a:solidFill>
          <a:ln/>
        </p:spPr>
      </p:sp>
      <p:sp>
        <p:nvSpPr>
          <p:cNvPr id="24" name="Text 19"/>
          <p:cNvSpPr/>
          <p:nvPr/>
        </p:nvSpPr>
        <p:spPr>
          <a:xfrm>
            <a:off x="4782312" y="2651760"/>
            <a:ext cx="2880360" cy="548640"/>
          </a:xfrm>
          <a:prstGeom prst="rect">
            <a:avLst/>
          </a:prstGeom>
          <a:noFill/>
          <a:ln/>
        </p:spPr>
        <p:txBody>
          <a:bodyPr wrap="square" lIns="0" tIns="0" rIns="0" bIns="0" rtlCol="0" anchor="t"/>
          <a:lstStyle/>
          <a:p>
            <a:pPr marL="0" indent="0">
              <a:lnSpc>
                <a:spcPts val="1250"/>
              </a:lnSpc>
              <a:buNone/>
            </a:pPr>
            <a:r>
              <a:rPr lang="en-US" sz="1100" dirty="0">
                <a:solidFill>
                  <a:srgbClr val="2C3E50"/>
                </a:solidFill>
                <a:latin typeface="Calibri" pitchFamily="34" charset="0"/>
                <a:ea typeface="Calibri" pitchFamily="34" charset="-122"/>
                <a:cs typeface="Calibri" pitchFamily="34" charset="-120"/>
              </a:rPr>
              <a:t>savedJobs: ref([]) of job IDs</a:t>
            </a:r>
            <a:endParaRPr lang="en-US" sz="1100" dirty="0"/>
          </a:p>
        </p:txBody>
      </p:sp>
      <p:sp>
        <p:nvSpPr>
          <p:cNvPr id="25" name="Shape 20"/>
          <p:cNvSpPr/>
          <p:nvPr/>
        </p:nvSpPr>
        <p:spPr>
          <a:xfrm>
            <a:off x="4562856" y="3310128"/>
            <a:ext cx="100584" cy="100584"/>
          </a:xfrm>
          <a:prstGeom prst="ellipse">
            <a:avLst/>
          </a:prstGeom>
          <a:solidFill>
            <a:srgbClr val="42B883"/>
          </a:solidFill>
          <a:ln/>
        </p:spPr>
      </p:sp>
      <p:sp>
        <p:nvSpPr>
          <p:cNvPr id="26" name="Text 21"/>
          <p:cNvSpPr/>
          <p:nvPr/>
        </p:nvSpPr>
        <p:spPr>
          <a:xfrm>
            <a:off x="4782312" y="3218688"/>
            <a:ext cx="2880360" cy="548640"/>
          </a:xfrm>
          <a:prstGeom prst="rect">
            <a:avLst/>
          </a:prstGeom>
          <a:noFill/>
          <a:ln/>
        </p:spPr>
        <p:txBody>
          <a:bodyPr wrap="square" lIns="0" tIns="0" rIns="0" bIns="0" rtlCol="0" anchor="t"/>
          <a:lstStyle/>
          <a:p>
            <a:pPr marL="0" indent="0">
              <a:lnSpc>
                <a:spcPts val="1250"/>
              </a:lnSpc>
              <a:buNone/>
            </a:pPr>
            <a:r>
              <a:rPr lang="en-US" sz="1100" dirty="0">
                <a:solidFill>
                  <a:srgbClr val="2C3E50"/>
                </a:solidFill>
                <a:latin typeface="Calibri" pitchFamily="34" charset="0"/>
                <a:ea typeface="Calibri" pitchFamily="34" charset="-122"/>
                <a:cs typeface="Calibri" pitchFamily="34" charset="-120"/>
              </a:rPr>
              <a:t>savedCount · isSaved(jobId)</a:t>
            </a:r>
            <a:endParaRPr lang="en-US" sz="1100" dirty="0"/>
          </a:p>
        </p:txBody>
      </p:sp>
      <p:sp>
        <p:nvSpPr>
          <p:cNvPr id="27" name="Shape 22"/>
          <p:cNvSpPr/>
          <p:nvPr/>
        </p:nvSpPr>
        <p:spPr>
          <a:xfrm>
            <a:off x="4562856" y="3877056"/>
            <a:ext cx="100584" cy="100584"/>
          </a:xfrm>
          <a:prstGeom prst="ellipse">
            <a:avLst/>
          </a:prstGeom>
          <a:solidFill>
            <a:srgbClr val="42B883"/>
          </a:solidFill>
          <a:ln/>
        </p:spPr>
      </p:sp>
      <p:sp>
        <p:nvSpPr>
          <p:cNvPr id="28" name="Text 23"/>
          <p:cNvSpPr/>
          <p:nvPr/>
        </p:nvSpPr>
        <p:spPr>
          <a:xfrm>
            <a:off x="4782312" y="3785616"/>
            <a:ext cx="2880360" cy="548640"/>
          </a:xfrm>
          <a:prstGeom prst="rect">
            <a:avLst/>
          </a:prstGeom>
          <a:noFill/>
          <a:ln/>
        </p:spPr>
        <p:txBody>
          <a:bodyPr wrap="square" lIns="0" tIns="0" rIns="0" bIns="0" rtlCol="0" anchor="t"/>
          <a:lstStyle/>
          <a:p>
            <a:pPr marL="0" indent="0">
              <a:lnSpc>
                <a:spcPts val="1250"/>
              </a:lnSpc>
              <a:buNone/>
            </a:pPr>
            <a:r>
              <a:rPr lang="en-US" sz="1100" dirty="0">
                <a:solidFill>
                  <a:srgbClr val="2C3E50"/>
                </a:solidFill>
                <a:latin typeface="Calibri" pitchFamily="34" charset="0"/>
                <a:ea typeface="Calibri" pitchFamily="34" charset="-122"/>
                <a:cs typeface="Calibri" pitchFamily="34" charset="-120"/>
              </a:rPr>
              <a:t>toggleSave() calls useAuthStore — throws if guest</a:t>
            </a:r>
            <a:endParaRPr lang="en-US" sz="1100" dirty="0"/>
          </a:p>
        </p:txBody>
      </p:sp>
      <p:sp>
        <p:nvSpPr>
          <p:cNvPr id="29" name="Shape 24"/>
          <p:cNvSpPr/>
          <p:nvPr/>
        </p:nvSpPr>
        <p:spPr>
          <a:xfrm>
            <a:off x="4562856" y="4443984"/>
            <a:ext cx="100584" cy="100584"/>
          </a:xfrm>
          <a:prstGeom prst="ellipse">
            <a:avLst/>
          </a:prstGeom>
          <a:solidFill>
            <a:srgbClr val="42B883"/>
          </a:solidFill>
          <a:ln/>
        </p:spPr>
      </p:sp>
      <p:sp>
        <p:nvSpPr>
          <p:cNvPr id="30" name="Text 25"/>
          <p:cNvSpPr/>
          <p:nvPr/>
        </p:nvSpPr>
        <p:spPr>
          <a:xfrm>
            <a:off x="4782312" y="4352544"/>
            <a:ext cx="2880360" cy="548640"/>
          </a:xfrm>
          <a:prstGeom prst="rect">
            <a:avLst/>
          </a:prstGeom>
          <a:noFill/>
          <a:ln/>
        </p:spPr>
        <p:txBody>
          <a:bodyPr wrap="square" lIns="0" tIns="0" rIns="0" bIns="0" rtlCol="0" anchor="t"/>
          <a:lstStyle/>
          <a:p>
            <a:pPr marL="0" indent="0">
              <a:lnSpc>
                <a:spcPts val="1250"/>
              </a:lnSpc>
              <a:buNone/>
            </a:pPr>
            <a:r>
              <a:rPr lang="en-US" sz="1100" dirty="0">
                <a:solidFill>
                  <a:srgbClr val="2C3E50"/>
                </a:solidFill>
                <a:latin typeface="Calibri" pitchFamily="34" charset="0"/>
                <a:ea typeface="Calibri" pitchFamily="34" charset="-122"/>
                <a:cs typeface="Calibri" pitchFamily="34" charset="-120"/>
              </a:rPr>
              <a:t>persist: { key:'watchlist', pick:['savedJobs'] }</a:t>
            </a:r>
            <a:endParaRPr lang="en-US" sz="1100" dirty="0"/>
          </a:p>
        </p:txBody>
      </p:sp>
      <p:sp>
        <p:nvSpPr>
          <p:cNvPr id="31" name="Shape 26"/>
          <p:cNvSpPr/>
          <p:nvPr/>
        </p:nvSpPr>
        <p:spPr>
          <a:xfrm>
            <a:off x="8028432" y="1828800"/>
            <a:ext cx="3611880" cy="3200400"/>
          </a:xfrm>
          <a:prstGeom prst="roundRect">
            <a:avLst>
              <a:gd name="adj" fmla="val 2571"/>
            </a:avLst>
          </a:prstGeom>
          <a:solidFill>
            <a:srgbClr val="EAF0F6"/>
          </a:solidFill>
          <a:ln w="12700">
            <a:solidFill>
              <a:srgbClr val="DCE5EB"/>
            </a:solidFill>
            <a:prstDash val="solid"/>
          </a:ln>
          <a:effectLst>
            <a:outerShdw blurRad="88900" dist="25400" dir="5400000" algn="bl" rotWithShape="0">
              <a:srgbClr val="35495E">
                <a:alpha val="13000"/>
              </a:srgbClr>
            </a:outerShdw>
          </a:effectLst>
        </p:spPr>
      </p:sp>
      <p:sp>
        <p:nvSpPr>
          <p:cNvPr id="32" name="Shape 27"/>
          <p:cNvSpPr/>
          <p:nvPr/>
        </p:nvSpPr>
        <p:spPr>
          <a:xfrm>
            <a:off x="8284464" y="2066544"/>
            <a:ext cx="457200" cy="457200"/>
          </a:xfrm>
          <a:prstGeom prst="ellipse">
            <a:avLst/>
          </a:prstGeom>
          <a:solidFill>
            <a:srgbClr val="35495E"/>
          </a:solidFill>
          <a:ln/>
        </p:spPr>
      </p:sp>
      <p:pic>
        <p:nvPicPr>
          <p:cNvPr id="33" name="Image 3" descr="preencoded.png"/>
          <p:cNvPicPr>
            <a:picLocks noChangeAspect="1"/>
          </p:cNvPicPr>
          <p:nvPr/>
        </p:nvPicPr>
        <p:blipFill>
          <a:blip r:embed="rId6"/>
          <a:stretch>
            <a:fillRect/>
          </a:stretch>
        </p:blipFill>
        <p:spPr>
          <a:xfrm>
            <a:off x="8403336" y="2185416"/>
            <a:ext cx="219456" cy="219456"/>
          </a:xfrm>
          <a:prstGeom prst="rect">
            <a:avLst/>
          </a:prstGeom>
        </p:spPr>
      </p:pic>
      <p:sp>
        <p:nvSpPr>
          <p:cNvPr id="34" name="Text 28"/>
          <p:cNvSpPr/>
          <p:nvPr/>
        </p:nvSpPr>
        <p:spPr>
          <a:xfrm>
            <a:off x="8869680" y="2048256"/>
            <a:ext cx="2606040" cy="493776"/>
          </a:xfrm>
          <a:prstGeom prst="rect">
            <a:avLst/>
          </a:prstGeom>
          <a:noFill/>
          <a:ln/>
        </p:spPr>
        <p:txBody>
          <a:bodyPr wrap="square" lIns="0" tIns="0" rIns="0" bIns="0" rtlCol="0" anchor="ctr"/>
          <a:lstStyle/>
          <a:p>
            <a:pPr marL="0" indent="0">
              <a:buNone/>
            </a:pPr>
            <a:r>
              <a:rPr lang="en-US" sz="1350" b="1" dirty="0">
                <a:solidFill>
                  <a:srgbClr val="2C3E50"/>
                </a:solidFill>
                <a:latin typeface="Courier New" pitchFamily="34" charset="0"/>
                <a:ea typeface="Courier New" pitchFamily="34" charset="-122"/>
                <a:cs typeface="Courier New" pitchFamily="34" charset="-120"/>
              </a:rPr>
              <a:t>Router integration</a:t>
            </a:r>
            <a:endParaRPr lang="en-US" sz="1350" dirty="0"/>
          </a:p>
        </p:txBody>
      </p:sp>
      <p:sp>
        <p:nvSpPr>
          <p:cNvPr id="35" name="Shape 29"/>
          <p:cNvSpPr/>
          <p:nvPr/>
        </p:nvSpPr>
        <p:spPr>
          <a:xfrm>
            <a:off x="8302752" y="2743200"/>
            <a:ext cx="100584" cy="100584"/>
          </a:xfrm>
          <a:prstGeom prst="ellipse">
            <a:avLst/>
          </a:prstGeom>
          <a:solidFill>
            <a:srgbClr val="35495E"/>
          </a:solidFill>
          <a:ln/>
        </p:spPr>
      </p:sp>
      <p:sp>
        <p:nvSpPr>
          <p:cNvPr id="36" name="Text 30"/>
          <p:cNvSpPr/>
          <p:nvPr/>
        </p:nvSpPr>
        <p:spPr>
          <a:xfrm>
            <a:off x="8522208" y="2651760"/>
            <a:ext cx="2880360" cy="548640"/>
          </a:xfrm>
          <a:prstGeom prst="rect">
            <a:avLst/>
          </a:prstGeom>
          <a:noFill/>
          <a:ln/>
        </p:spPr>
        <p:txBody>
          <a:bodyPr wrap="square" lIns="0" tIns="0" rIns="0" bIns="0" rtlCol="0" anchor="t"/>
          <a:lstStyle/>
          <a:p>
            <a:pPr marL="0" indent="0">
              <a:lnSpc>
                <a:spcPts val="1250"/>
              </a:lnSpc>
              <a:buNone/>
            </a:pPr>
            <a:r>
              <a:rPr lang="en-US" sz="1100" dirty="0">
                <a:solidFill>
                  <a:srgbClr val="2C3E50"/>
                </a:solidFill>
                <a:latin typeface="Calibri" pitchFamily="34" charset="0"/>
                <a:ea typeface="Calibri" pitchFamily="34" charset="-122"/>
                <a:cs typeface="Calibri" pitchFamily="34" charset="-120"/>
              </a:rPr>
              <a:t>beforeEach uses useAuthStore</a:t>
            </a:r>
            <a:endParaRPr lang="en-US" sz="1100" dirty="0"/>
          </a:p>
        </p:txBody>
      </p:sp>
      <p:sp>
        <p:nvSpPr>
          <p:cNvPr id="37" name="Shape 31"/>
          <p:cNvSpPr/>
          <p:nvPr/>
        </p:nvSpPr>
        <p:spPr>
          <a:xfrm>
            <a:off x="8302752" y="3310128"/>
            <a:ext cx="100584" cy="100584"/>
          </a:xfrm>
          <a:prstGeom prst="ellipse">
            <a:avLst/>
          </a:prstGeom>
          <a:solidFill>
            <a:srgbClr val="35495E"/>
          </a:solidFill>
          <a:ln/>
        </p:spPr>
      </p:sp>
      <p:sp>
        <p:nvSpPr>
          <p:cNvPr id="38" name="Text 32"/>
          <p:cNvSpPr/>
          <p:nvPr/>
        </p:nvSpPr>
        <p:spPr>
          <a:xfrm>
            <a:off x="8522208" y="3218688"/>
            <a:ext cx="2880360" cy="548640"/>
          </a:xfrm>
          <a:prstGeom prst="rect">
            <a:avLst/>
          </a:prstGeom>
          <a:noFill/>
          <a:ln/>
        </p:spPr>
        <p:txBody>
          <a:bodyPr wrap="square" lIns="0" tIns="0" rIns="0" bIns="0" rtlCol="0" anchor="t"/>
          <a:lstStyle/>
          <a:p>
            <a:pPr marL="0" indent="0">
              <a:lnSpc>
                <a:spcPts val="1250"/>
              </a:lnSpc>
              <a:buNone/>
            </a:pPr>
            <a:r>
              <a:rPr lang="en-US" sz="1100" dirty="0">
                <a:solidFill>
                  <a:srgbClr val="2C3E50"/>
                </a:solidFill>
                <a:latin typeface="Calibri" pitchFamily="34" charset="0"/>
                <a:ea typeface="Calibri" pitchFamily="34" charset="-122"/>
                <a:cs typeface="Calibri" pitchFamily="34" charset="-120"/>
              </a:rPr>
              <a:t>await fetchUser() if token but no user</a:t>
            </a:r>
            <a:endParaRPr lang="en-US" sz="1100" dirty="0"/>
          </a:p>
        </p:txBody>
      </p:sp>
      <p:sp>
        <p:nvSpPr>
          <p:cNvPr id="39" name="Shape 33"/>
          <p:cNvSpPr/>
          <p:nvPr/>
        </p:nvSpPr>
        <p:spPr>
          <a:xfrm>
            <a:off x="8302752" y="3877056"/>
            <a:ext cx="100584" cy="100584"/>
          </a:xfrm>
          <a:prstGeom prst="ellipse">
            <a:avLst/>
          </a:prstGeom>
          <a:solidFill>
            <a:srgbClr val="35495E"/>
          </a:solidFill>
          <a:ln/>
        </p:spPr>
      </p:sp>
      <p:sp>
        <p:nvSpPr>
          <p:cNvPr id="40" name="Text 34"/>
          <p:cNvSpPr/>
          <p:nvPr/>
        </p:nvSpPr>
        <p:spPr>
          <a:xfrm>
            <a:off x="8522208" y="3785616"/>
            <a:ext cx="2880360" cy="548640"/>
          </a:xfrm>
          <a:prstGeom prst="rect">
            <a:avLst/>
          </a:prstGeom>
          <a:noFill/>
          <a:ln/>
        </p:spPr>
        <p:txBody>
          <a:bodyPr wrap="square" lIns="0" tIns="0" rIns="0" bIns="0" rtlCol="0" anchor="t"/>
          <a:lstStyle/>
          <a:p>
            <a:pPr marL="0" indent="0">
              <a:lnSpc>
                <a:spcPts val="1250"/>
              </a:lnSpc>
              <a:buNone/>
            </a:pPr>
            <a:r>
              <a:rPr lang="en-US" sz="1100" dirty="0">
                <a:solidFill>
                  <a:srgbClr val="2C3E50"/>
                </a:solidFill>
                <a:latin typeface="Calibri" pitchFamily="34" charset="0"/>
                <a:ea typeface="Calibri" pitchFamily="34" charset="-122"/>
                <a:cs typeface="Calibri" pitchFamily="34" charset="-120"/>
              </a:rPr>
              <a:t>/watchlist guard calls useWatchlistStore()</a:t>
            </a:r>
            <a:endParaRPr lang="en-US" sz="1100" dirty="0"/>
          </a:p>
        </p:txBody>
      </p:sp>
      <p:sp>
        <p:nvSpPr>
          <p:cNvPr id="41" name="Shape 35"/>
          <p:cNvSpPr/>
          <p:nvPr/>
        </p:nvSpPr>
        <p:spPr>
          <a:xfrm>
            <a:off x="8302752" y="4443984"/>
            <a:ext cx="100584" cy="100584"/>
          </a:xfrm>
          <a:prstGeom prst="ellipse">
            <a:avLst/>
          </a:prstGeom>
          <a:solidFill>
            <a:srgbClr val="35495E"/>
          </a:solidFill>
          <a:ln/>
        </p:spPr>
      </p:sp>
      <p:sp>
        <p:nvSpPr>
          <p:cNvPr id="42" name="Text 36"/>
          <p:cNvSpPr/>
          <p:nvPr/>
        </p:nvSpPr>
        <p:spPr>
          <a:xfrm>
            <a:off x="8522208" y="4352544"/>
            <a:ext cx="2880360" cy="548640"/>
          </a:xfrm>
          <a:prstGeom prst="rect">
            <a:avLst/>
          </a:prstGeom>
          <a:noFill/>
          <a:ln/>
        </p:spPr>
        <p:txBody>
          <a:bodyPr wrap="square" lIns="0" tIns="0" rIns="0" bIns="0" rtlCol="0" anchor="t"/>
          <a:lstStyle/>
          <a:p>
            <a:pPr marL="0" indent="0">
              <a:lnSpc>
                <a:spcPts val="1250"/>
              </a:lnSpc>
              <a:buNone/>
            </a:pPr>
            <a:r>
              <a:rPr lang="en-US" sz="1100" dirty="0">
                <a:solidFill>
                  <a:srgbClr val="2C3E50"/>
                </a:solidFill>
                <a:latin typeface="Calibri" pitchFamily="34" charset="0"/>
                <a:ea typeface="Calibri" pitchFamily="34" charset="-122"/>
                <a:cs typeface="Calibri" pitchFamily="34" charset="-120"/>
              </a:rPr>
              <a:t>afterEach updates document.title</a:t>
            </a:r>
            <a:endParaRPr lang="en-US" sz="1100" dirty="0"/>
          </a:p>
        </p:txBody>
      </p:sp>
      <p:sp>
        <p:nvSpPr>
          <p:cNvPr id="43" name="Shape 37"/>
          <p:cNvSpPr/>
          <p:nvPr/>
        </p:nvSpPr>
        <p:spPr>
          <a:xfrm>
            <a:off x="548640" y="5166360"/>
            <a:ext cx="11091672" cy="1152144"/>
          </a:xfrm>
          <a:prstGeom prst="roundRect">
            <a:avLst>
              <a:gd name="adj" fmla="val 5556"/>
            </a:avLst>
          </a:prstGeom>
          <a:solidFill>
            <a:srgbClr val="FCF4E0"/>
          </a:solidFill>
          <a:ln/>
          <a:effectLst>
            <a:outerShdw blurRad="88900" dist="25400" dir="5400000" algn="bl" rotWithShape="0">
              <a:srgbClr val="35495E">
                <a:alpha val="13000"/>
              </a:srgbClr>
            </a:outerShdw>
          </a:effectLst>
        </p:spPr>
      </p:sp>
      <p:sp>
        <p:nvSpPr>
          <p:cNvPr id="44" name="Shape 38"/>
          <p:cNvSpPr/>
          <p:nvPr/>
        </p:nvSpPr>
        <p:spPr>
          <a:xfrm>
            <a:off x="749808" y="5367528"/>
            <a:ext cx="457200" cy="457200"/>
          </a:xfrm>
          <a:prstGeom prst="ellipse">
            <a:avLst/>
          </a:prstGeom>
          <a:solidFill>
            <a:srgbClr val="E0A21B"/>
          </a:solidFill>
          <a:ln/>
          <a:effectLst>
            <a:outerShdw blurRad="88900" dist="25400" dir="5400000" algn="bl" rotWithShape="0">
              <a:srgbClr val="35495E">
                <a:alpha val="13000"/>
              </a:srgbClr>
            </a:outerShdw>
          </a:effectLst>
        </p:spPr>
      </p:sp>
      <p:pic>
        <p:nvPicPr>
          <p:cNvPr id="45" name="Image 4" descr="preencoded.png"/>
          <p:cNvPicPr>
            <a:picLocks noChangeAspect="1"/>
          </p:cNvPicPr>
          <p:nvPr/>
        </p:nvPicPr>
        <p:blipFill>
          <a:blip r:embed="rId7"/>
          <a:stretch>
            <a:fillRect/>
          </a:stretch>
        </p:blipFill>
        <p:spPr>
          <a:xfrm>
            <a:off x="873252" y="5490972"/>
            <a:ext cx="210312" cy="210312"/>
          </a:xfrm>
          <a:prstGeom prst="rect">
            <a:avLst/>
          </a:prstGeom>
        </p:spPr>
      </p:pic>
      <p:sp>
        <p:nvSpPr>
          <p:cNvPr id="46" name="Text 39"/>
          <p:cNvSpPr/>
          <p:nvPr/>
        </p:nvSpPr>
        <p:spPr>
          <a:xfrm>
            <a:off x="1335024" y="5330952"/>
            <a:ext cx="10131552" cy="310896"/>
          </a:xfrm>
          <a:prstGeom prst="rect">
            <a:avLst/>
          </a:prstGeom>
          <a:noFill/>
          <a:ln/>
        </p:spPr>
        <p:txBody>
          <a:bodyPr wrap="square" lIns="0" tIns="0" rIns="0" bIns="0" rtlCol="0" anchor="ctr"/>
          <a:lstStyle/>
          <a:p>
            <a:pPr marL="0" indent="0" algn="l">
              <a:buNone/>
            </a:pPr>
            <a:r>
              <a:rPr lang="en-US" sz="1400" b="1" dirty="0">
                <a:solidFill>
                  <a:srgbClr val="A6760C"/>
                </a:solidFill>
                <a:latin typeface="Calibri" pitchFamily="34" charset="0"/>
                <a:ea typeface="Calibri" pitchFamily="34" charset="-122"/>
                <a:cs typeface="Calibri" pitchFamily="34" charset="-120"/>
              </a:rPr>
              <a:t>Stretch goal</a:t>
            </a:r>
            <a:endParaRPr lang="en-US" sz="1400" dirty="0"/>
          </a:p>
        </p:txBody>
      </p:sp>
      <p:sp>
        <p:nvSpPr>
          <p:cNvPr id="47" name="Text 40"/>
          <p:cNvSpPr/>
          <p:nvPr/>
        </p:nvSpPr>
        <p:spPr>
          <a:xfrm>
            <a:off x="1335024" y="5641848"/>
            <a:ext cx="10131552" cy="548640"/>
          </a:xfrm>
          <a:prstGeom prst="rect">
            <a:avLst/>
          </a:prstGeom>
          <a:noFill/>
          <a:ln/>
        </p:spPr>
        <p:txBody>
          <a:bodyPr wrap="square" lIns="0" tIns="0" rIns="0" bIns="0" rtlCol="0" anchor="t"/>
          <a:lstStyle/>
          <a:p>
            <a:pPr marL="0" indent="0" algn="l">
              <a:lnSpc>
                <a:spcPts val="1600"/>
              </a:lnSpc>
              <a:buNone/>
            </a:pPr>
            <a:r>
              <a:rPr lang="en-US" sz="1250" dirty="0">
                <a:solidFill>
                  <a:srgbClr val="2C3E50"/>
                </a:solidFill>
                <a:latin typeface="Calibri" pitchFamily="34" charset="0"/>
                <a:ea typeface="Calibri" pitchFamily="34" charset="-122"/>
                <a:cs typeface="Calibri" pitchFamily="34" charset="-120"/>
              </a:rPr>
              <a:t>Add a useJobsStore exposing filteredJobs as a computed getter; HomeView reads from it. Navigate away and back — the filter state is preserved via persistence.</a:t>
            </a:r>
            <a:endParaRPr lang="en-US" sz="1250" dirty="0"/>
          </a:p>
        </p:txBody>
      </p:sp>
      <p:sp>
        <p:nvSpPr>
          <p:cNvPr id="48" name="Text 41"/>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49" name="Text 42"/>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Practice</a:t>
            </a:r>
            <a:endParaRPr lang="en-US" sz="900" dirty="0"/>
          </a:p>
        </p:txBody>
      </p:sp>
      <p:sp>
        <p:nvSpPr>
          <p:cNvPr id="50" name="Text 43"/>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D7574B"/>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D7574B"/>
                </a:solidFill>
                <a:latin typeface="Calibri" pitchFamily="34" charset="0"/>
                <a:ea typeface="Calibri" pitchFamily="34" charset="-122"/>
                <a:cs typeface="Calibri" pitchFamily="34" charset="-120"/>
              </a:rPr>
              <a:t>COMMON MISTAKES · 80:00–85:00</a:t>
            </a:r>
            <a:endParaRPr lang="en-US" sz="1200" dirty="0"/>
          </a:p>
        </p:txBody>
      </p:sp>
      <p:sp>
        <p:nvSpPr>
          <p:cNvPr id="5" name="Text 2"/>
          <p:cNvSpPr/>
          <p:nvPr/>
        </p:nvSpPr>
        <p:spPr>
          <a:xfrm>
            <a:off x="1298448" y="713232"/>
            <a:ext cx="10058400" cy="566928"/>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Four Advanced Traps</a:t>
            </a:r>
            <a:endParaRPr lang="en-US" sz="2800" dirty="0"/>
          </a:p>
        </p:txBody>
      </p:sp>
      <p:sp>
        <p:nvSpPr>
          <p:cNvPr id="6" name="Shape 3"/>
          <p:cNvSpPr/>
          <p:nvPr/>
        </p:nvSpPr>
        <p:spPr>
          <a:xfrm>
            <a:off x="548640" y="1572768"/>
            <a:ext cx="11091672" cy="1078992"/>
          </a:xfrm>
          <a:prstGeom prst="roundRect">
            <a:avLst>
              <a:gd name="adj" fmla="val 6780"/>
            </a:avLst>
          </a:prstGeom>
          <a:solidFill>
            <a:srgbClr val="FBEDEC"/>
          </a:solidFill>
          <a:ln w="12700">
            <a:solidFill>
              <a:srgbClr val="F1C9C4"/>
            </a:solidFill>
            <a:prstDash val="solid"/>
          </a:ln>
        </p:spPr>
      </p:sp>
      <p:sp>
        <p:nvSpPr>
          <p:cNvPr id="7" name="Shape 4"/>
          <p:cNvSpPr/>
          <p:nvPr/>
        </p:nvSpPr>
        <p:spPr>
          <a:xfrm>
            <a:off x="804672" y="1883664"/>
            <a:ext cx="457200" cy="457200"/>
          </a:xfrm>
          <a:prstGeom prst="ellipse">
            <a:avLst/>
          </a:prstGeom>
          <a:solidFill>
            <a:srgbClr val="D7574B"/>
          </a:solidFill>
          <a:ln/>
        </p:spPr>
      </p:sp>
      <p:pic>
        <p:nvPicPr>
          <p:cNvPr id="8" name="Image 1" descr="preencoded.png"/>
          <p:cNvPicPr>
            <a:picLocks noChangeAspect="1"/>
          </p:cNvPicPr>
          <p:nvPr/>
        </p:nvPicPr>
        <p:blipFill>
          <a:blip r:embed="rId3"/>
          <a:stretch>
            <a:fillRect/>
          </a:stretch>
        </p:blipFill>
        <p:spPr>
          <a:xfrm>
            <a:off x="923544" y="2002536"/>
            <a:ext cx="219456" cy="219456"/>
          </a:xfrm>
          <a:prstGeom prst="rect">
            <a:avLst/>
          </a:prstGeom>
        </p:spPr>
      </p:pic>
      <p:sp>
        <p:nvSpPr>
          <p:cNvPr id="9" name="Text 5"/>
          <p:cNvSpPr/>
          <p:nvPr/>
        </p:nvSpPr>
        <p:spPr>
          <a:xfrm>
            <a:off x="1463040" y="1719072"/>
            <a:ext cx="9902952" cy="365760"/>
          </a:xfrm>
          <a:prstGeom prst="rect">
            <a:avLst/>
          </a:prstGeom>
          <a:noFill/>
          <a:ln/>
        </p:spPr>
        <p:txBody>
          <a:bodyPr wrap="square" lIns="0" tIns="0" rIns="0" bIns="0" rtlCol="0" anchor="ctr"/>
          <a:lstStyle/>
          <a:p>
            <a:pPr marL="0" indent="0">
              <a:buNone/>
            </a:pPr>
            <a:r>
              <a:rPr lang="en-US" sz="1500" b="1" dirty="0">
                <a:solidFill>
                  <a:srgbClr val="B43A2E"/>
                </a:solidFill>
                <a:latin typeface="Calibri" pitchFamily="34" charset="0"/>
                <a:ea typeface="Calibri" pitchFamily="34" charset="-122"/>
                <a:cs typeface="Calibri" pitchFamily="34" charset="-120"/>
              </a:rPr>
              <a:t>Circular store dependencies</a:t>
            </a:r>
            <a:endParaRPr lang="en-US" sz="1500" dirty="0"/>
          </a:p>
        </p:txBody>
      </p:sp>
      <p:sp>
        <p:nvSpPr>
          <p:cNvPr id="10" name="Text 6"/>
          <p:cNvSpPr/>
          <p:nvPr/>
        </p:nvSpPr>
        <p:spPr>
          <a:xfrm>
            <a:off x="1463040" y="2075688"/>
            <a:ext cx="9902952" cy="512064"/>
          </a:xfrm>
          <a:prstGeom prst="rect">
            <a:avLst/>
          </a:prstGeom>
          <a:noFill/>
          <a:ln/>
        </p:spPr>
        <p:txBody>
          <a:bodyPr wrap="square" lIns="0" tIns="0" rIns="0" bIns="0" rtlCol="0" anchor="t"/>
          <a:lstStyle/>
          <a:p>
            <a:pPr marL="0" indent="0">
              <a:lnSpc>
                <a:spcPts val="1400"/>
              </a:lnSpc>
              <a:buNone/>
            </a:pPr>
            <a:r>
              <a:rPr lang="en-US" sz="1200" dirty="0">
                <a:solidFill>
                  <a:srgbClr val="2C3E50"/>
                </a:solidFill>
                <a:latin typeface="Calibri" pitchFamily="34" charset="0"/>
                <a:ea typeface="Calibri" pitchFamily="34" charset="-122"/>
                <a:cs typeface="Calibri" pitchFamily="34" charset="-120"/>
              </a:rPr>
              <a:t>auth imports cart while cart imports auth → runtime error. Call the other store inside a function, or enforce one-way layers.</a:t>
            </a:r>
            <a:endParaRPr lang="en-US" sz="1200" dirty="0"/>
          </a:p>
        </p:txBody>
      </p:sp>
      <p:sp>
        <p:nvSpPr>
          <p:cNvPr id="11" name="Shape 7"/>
          <p:cNvSpPr/>
          <p:nvPr/>
        </p:nvSpPr>
        <p:spPr>
          <a:xfrm>
            <a:off x="548640" y="2770632"/>
            <a:ext cx="11091672" cy="1078992"/>
          </a:xfrm>
          <a:prstGeom prst="roundRect">
            <a:avLst>
              <a:gd name="adj" fmla="val 6780"/>
            </a:avLst>
          </a:prstGeom>
          <a:solidFill>
            <a:srgbClr val="FBEDEC"/>
          </a:solidFill>
          <a:ln w="12700">
            <a:solidFill>
              <a:srgbClr val="F1C9C4"/>
            </a:solidFill>
            <a:prstDash val="solid"/>
          </a:ln>
        </p:spPr>
      </p:sp>
      <p:sp>
        <p:nvSpPr>
          <p:cNvPr id="12" name="Shape 8"/>
          <p:cNvSpPr/>
          <p:nvPr/>
        </p:nvSpPr>
        <p:spPr>
          <a:xfrm>
            <a:off x="804672" y="3081528"/>
            <a:ext cx="457200" cy="457200"/>
          </a:xfrm>
          <a:prstGeom prst="ellipse">
            <a:avLst/>
          </a:prstGeom>
          <a:solidFill>
            <a:srgbClr val="D7574B"/>
          </a:solidFill>
          <a:ln/>
        </p:spPr>
      </p:sp>
      <p:pic>
        <p:nvPicPr>
          <p:cNvPr id="13" name="Image 2" descr="preencoded.png"/>
          <p:cNvPicPr>
            <a:picLocks noChangeAspect="1"/>
          </p:cNvPicPr>
          <p:nvPr/>
        </p:nvPicPr>
        <p:blipFill>
          <a:blip r:embed="rId3"/>
          <a:stretch>
            <a:fillRect/>
          </a:stretch>
        </p:blipFill>
        <p:spPr>
          <a:xfrm>
            <a:off x="923544" y="3200400"/>
            <a:ext cx="219456" cy="219456"/>
          </a:xfrm>
          <a:prstGeom prst="rect">
            <a:avLst/>
          </a:prstGeom>
        </p:spPr>
      </p:pic>
      <p:sp>
        <p:nvSpPr>
          <p:cNvPr id="14" name="Text 9"/>
          <p:cNvSpPr/>
          <p:nvPr/>
        </p:nvSpPr>
        <p:spPr>
          <a:xfrm>
            <a:off x="1463040" y="2916936"/>
            <a:ext cx="9902952" cy="365760"/>
          </a:xfrm>
          <a:prstGeom prst="rect">
            <a:avLst/>
          </a:prstGeom>
          <a:noFill/>
          <a:ln/>
        </p:spPr>
        <p:txBody>
          <a:bodyPr wrap="square" lIns="0" tIns="0" rIns="0" bIns="0" rtlCol="0" anchor="ctr"/>
          <a:lstStyle/>
          <a:p>
            <a:pPr marL="0" indent="0">
              <a:buNone/>
            </a:pPr>
            <a:r>
              <a:rPr lang="en-US" sz="1500" b="1" dirty="0">
                <a:solidFill>
                  <a:srgbClr val="B43A2E"/>
                </a:solidFill>
                <a:latin typeface="Calibri" pitchFamily="34" charset="0"/>
                <a:ea typeface="Calibri" pitchFamily="34" charset="-122"/>
                <a:cs typeface="Calibri" pitchFamily="34" charset="-120"/>
              </a:rPr>
              <a:t>Registering pinia AFTER the router</a:t>
            </a:r>
            <a:endParaRPr lang="en-US" sz="1500" dirty="0"/>
          </a:p>
        </p:txBody>
      </p:sp>
      <p:sp>
        <p:nvSpPr>
          <p:cNvPr id="15" name="Text 10"/>
          <p:cNvSpPr/>
          <p:nvPr/>
        </p:nvSpPr>
        <p:spPr>
          <a:xfrm>
            <a:off x="1463040" y="3273552"/>
            <a:ext cx="9902952" cy="512064"/>
          </a:xfrm>
          <a:prstGeom prst="rect">
            <a:avLst/>
          </a:prstGeom>
          <a:noFill/>
          <a:ln/>
        </p:spPr>
        <p:txBody>
          <a:bodyPr wrap="square" lIns="0" tIns="0" rIns="0" bIns="0" rtlCol="0" anchor="t"/>
          <a:lstStyle/>
          <a:p>
            <a:pPr marL="0" indent="0">
              <a:lnSpc>
                <a:spcPts val="1400"/>
              </a:lnSpc>
              <a:buNone/>
            </a:pPr>
            <a:r>
              <a:rPr lang="en-US" sz="1200" dirty="0">
                <a:solidFill>
                  <a:srgbClr val="2C3E50"/>
                </a:solidFill>
                <a:latin typeface="Calibri" pitchFamily="34" charset="0"/>
                <a:ea typeface="Calibri" pitchFamily="34" charset="-122"/>
                <a:cs typeface="Calibri" pitchFamily="34" charset="-120"/>
              </a:rPr>
              <a:t>Guards fire on startup; if pinia isn't installed yet, useXxxStore() throws. Always .use(pinia) before .use(router).</a:t>
            </a:r>
            <a:endParaRPr lang="en-US" sz="1200" dirty="0"/>
          </a:p>
        </p:txBody>
      </p:sp>
      <p:sp>
        <p:nvSpPr>
          <p:cNvPr id="16" name="Shape 11"/>
          <p:cNvSpPr/>
          <p:nvPr/>
        </p:nvSpPr>
        <p:spPr>
          <a:xfrm>
            <a:off x="548640" y="3968496"/>
            <a:ext cx="11091672" cy="1078992"/>
          </a:xfrm>
          <a:prstGeom prst="roundRect">
            <a:avLst>
              <a:gd name="adj" fmla="val 6780"/>
            </a:avLst>
          </a:prstGeom>
          <a:solidFill>
            <a:srgbClr val="FBEDEC"/>
          </a:solidFill>
          <a:ln w="12700">
            <a:solidFill>
              <a:srgbClr val="F1C9C4"/>
            </a:solidFill>
            <a:prstDash val="solid"/>
          </a:ln>
        </p:spPr>
      </p:sp>
      <p:sp>
        <p:nvSpPr>
          <p:cNvPr id="17" name="Shape 12"/>
          <p:cNvSpPr/>
          <p:nvPr/>
        </p:nvSpPr>
        <p:spPr>
          <a:xfrm>
            <a:off x="804672" y="4279392"/>
            <a:ext cx="457200" cy="457200"/>
          </a:xfrm>
          <a:prstGeom prst="ellipse">
            <a:avLst/>
          </a:prstGeom>
          <a:solidFill>
            <a:srgbClr val="D7574B"/>
          </a:solidFill>
          <a:ln/>
        </p:spPr>
      </p:sp>
      <p:pic>
        <p:nvPicPr>
          <p:cNvPr id="18" name="Image 3" descr="preencoded.png"/>
          <p:cNvPicPr>
            <a:picLocks noChangeAspect="1"/>
          </p:cNvPicPr>
          <p:nvPr/>
        </p:nvPicPr>
        <p:blipFill>
          <a:blip r:embed="rId3"/>
          <a:stretch>
            <a:fillRect/>
          </a:stretch>
        </p:blipFill>
        <p:spPr>
          <a:xfrm>
            <a:off x="923544" y="4398264"/>
            <a:ext cx="219456" cy="219456"/>
          </a:xfrm>
          <a:prstGeom prst="rect">
            <a:avLst/>
          </a:prstGeom>
        </p:spPr>
      </p:pic>
      <p:sp>
        <p:nvSpPr>
          <p:cNvPr id="19" name="Text 13"/>
          <p:cNvSpPr/>
          <p:nvPr/>
        </p:nvSpPr>
        <p:spPr>
          <a:xfrm>
            <a:off x="1463040" y="4114800"/>
            <a:ext cx="9902952" cy="365760"/>
          </a:xfrm>
          <a:prstGeom prst="rect">
            <a:avLst/>
          </a:prstGeom>
          <a:noFill/>
          <a:ln/>
        </p:spPr>
        <p:txBody>
          <a:bodyPr wrap="square" lIns="0" tIns="0" rIns="0" bIns="0" rtlCol="0" anchor="ctr"/>
          <a:lstStyle/>
          <a:p>
            <a:pPr marL="0" indent="0">
              <a:buNone/>
            </a:pPr>
            <a:r>
              <a:rPr lang="en-US" sz="1500" b="1" dirty="0">
                <a:solidFill>
                  <a:srgbClr val="B43A2E"/>
                </a:solidFill>
                <a:latin typeface="Calibri" pitchFamily="34" charset="0"/>
                <a:ea typeface="Calibri" pitchFamily="34" charset="-122"/>
                <a:cs typeface="Calibri" pitchFamily="34" charset="-120"/>
              </a:rPr>
              <a:t>Persisting sensitive state</a:t>
            </a:r>
            <a:endParaRPr lang="en-US" sz="1500" dirty="0"/>
          </a:p>
        </p:txBody>
      </p:sp>
      <p:sp>
        <p:nvSpPr>
          <p:cNvPr id="20" name="Text 14"/>
          <p:cNvSpPr/>
          <p:nvPr/>
        </p:nvSpPr>
        <p:spPr>
          <a:xfrm>
            <a:off x="1463040" y="4471416"/>
            <a:ext cx="9902952" cy="512064"/>
          </a:xfrm>
          <a:prstGeom prst="rect">
            <a:avLst/>
          </a:prstGeom>
          <a:noFill/>
          <a:ln/>
        </p:spPr>
        <p:txBody>
          <a:bodyPr wrap="square" lIns="0" tIns="0" rIns="0" bIns="0" rtlCol="0" anchor="t"/>
          <a:lstStyle/>
          <a:p>
            <a:pPr marL="0" indent="0">
              <a:lnSpc>
                <a:spcPts val="1400"/>
              </a:lnSpc>
              <a:buNone/>
            </a:pPr>
            <a:r>
              <a:rPr lang="en-US" sz="1200" dirty="0">
                <a:solidFill>
                  <a:srgbClr val="2C3E50"/>
                </a:solidFill>
                <a:latin typeface="Calibri" pitchFamily="34" charset="0"/>
                <a:ea typeface="Calibri" pitchFamily="34" charset="-122"/>
                <a:cs typeface="Calibri" pitchFamily="34" charset="-120"/>
              </a:rPr>
              <a:t>persist: true can dump tokens, passwordHash, SSN to localStorage (XSS-readable). pick only what's safe; prefer httpOnly cookies for tokens.</a:t>
            </a:r>
            <a:endParaRPr lang="en-US" sz="1200" dirty="0"/>
          </a:p>
        </p:txBody>
      </p:sp>
      <p:sp>
        <p:nvSpPr>
          <p:cNvPr id="21" name="Shape 15"/>
          <p:cNvSpPr/>
          <p:nvPr/>
        </p:nvSpPr>
        <p:spPr>
          <a:xfrm>
            <a:off x="548640" y="5166360"/>
            <a:ext cx="11091672" cy="1078992"/>
          </a:xfrm>
          <a:prstGeom prst="roundRect">
            <a:avLst>
              <a:gd name="adj" fmla="val 6780"/>
            </a:avLst>
          </a:prstGeom>
          <a:solidFill>
            <a:srgbClr val="FBEDEC"/>
          </a:solidFill>
          <a:ln w="12700">
            <a:solidFill>
              <a:srgbClr val="F1C9C4"/>
            </a:solidFill>
            <a:prstDash val="solid"/>
          </a:ln>
        </p:spPr>
      </p:sp>
      <p:sp>
        <p:nvSpPr>
          <p:cNvPr id="22" name="Shape 16"/>
          <p:cNvSpPr/>
          <p:nvPr/>
        </p:nvSpPr>
        <p:spPr>
          <a:xfrm>
            <a:off x="804672" y="5477256"/>
            <a:ext cx="457200" cy="457200"/>
          </a:xfrm>
          <a:prstGeom prst="ellipse">
            <a:avLst/>
          </a:prstGeom>
          <a:solidFill>
            <a:srgbClr val="D7574B"/>
          </a:solidFill>
          <a:ln/>
        </p:spPr>
      </p:sp>
      <p:pic>
        <p:nvPicPr>
          <p:cNvPr id="23" name="Image 4" descr="preencoded.png"/>
          <p:cNvPicPr>
            <a:picLocks noChangeAspect="1"/>
          </p:cNvPicPr>
          <p:nvPr/>
        </p:nvPicPr>
        <p:blipFill>
          <a:blip r:embed="rId3"/>
          <a:stretch>
            <a:fillRect/>
          </a:stretch>
        </p:blipFill>
        <p:spPr>
          <a:xfrm>
            <a:off x="923544" y="5596128"/>
            <a:ext cx="219456" cy="219456"/>
          </a:xfrm>
          <a:prstGeom prst="rect">
            <a:avLst/>
          </a:prstGeom>
        </p:spPr>
      </p:pic>
      <p:sp>
        <p:nvSpPr>
          <p:cNvPr id="24" name="Text 17"/>
          <p:cNvSpPr/>
          <p:nvPr/>
        </p:nvSpPr>
        <p:spPr>
          <a:xfrm>
            <a:off x="1463040" y="5312664"/>
            <a:ext cx="9902952" cy="365760"/>
          </a:xfrm>
          <a:prstGeom prst="rect">
            <a:avLst/>
          </a:prstGeom>
          <a:noFill/>
          <a:ln/>
        </p:spPr>
        <p:txBody>
          <a:bodyPr wrap="square" lIns="0" tIns="0" rIns="0" bIns="0" rtlCol="0" anchor="ctr"/>
          <a:lstStyle/>
          <a:p>
            <a:pPr marL="0" indent="0">
              <a:buNone/>
            </a:pPr>
            <a:r>
              <a:rPr lang="en-US" sz="1500" b="1" dirty="0">
                <a:solidFill>
                  <a:srgbClr val="B43A2E"/>
                </a:solidFill>
                <a:latin typeface="Calibri" pitchFamily="34" charset="0"/>
                <a:ea typeface="Calibri" pitchFamily="34" charset="-122"/>
                <a:cs typeface="Calibri" pitchFamily="34" charset="-120"/>
              </a:rPr>
              <a:t>useRoute / useRouter inside a store</a:t>
            </a:r>
            <a:endParaRPr lang="en-US" sz="1500" dirty="0"/>
          </a:p>
        </p:txBody>
      </p:sp>
      <p:sp>
        <p:nvSpPr>
          <p:cNvPr id="25" name="Text 18"/>
          <p:cNvSpPr/>
          <p:nvPr/>
        </p:nvSpPr>
        <p:spPr>
          <a:xfrm>
            <a:off x="1463040" y="5669280"/>
            <a:ext cx="9902952" cy="512064"/>
          </a:xfrm>
          <a:prstGeom prst="rect">
            <a:avLst/>
          </a:prstGeom>
          <a:noFill/>
          <a:ln/>
        </p:spPr>
        <p:txBody>
          <a:bodyPr wrap="square" lIns="0" tIns="0" rIns="0" bIns="0" rtlCol="0" anchor="t"/>
          <a:lstStyle/>
          <a:p>
            <a:pPr marL="0" indent="0">
              <a:lnSpc>
                <a:spcPts val="1400"/>
              </a:lnSpc>
              <a:buNone/>
            </a:pPr>
            <a:r>
              <a:rPr lang="en-US" sz="1200" dirty="0">
                <a:solidFill>
                  <a:srgbClr val="2C3E50"/>
                </a:solidFill>
                <a:latin typeface="Calibri" pitchFamily="34" charset="0"/>
                <a:ea typeface="Calibri" pitchFamily="34" charset="-122"/>
                <a:cs typeface="Calibri" pitchFamily="34" charset="-120"/>
              </a:rPr>
              <a:t>Composables need a component instance. Stores run outside one — import the router instance directly instead.</a:t>
            </a:r>
            <a:endParaRPr lang="en-US" sz="1200" dirty="0"/>
          </a:p>
        </p:txBody>
      </p:sp>
      <p:sp>
        <p:nvSpPr>
          <p:cNvPr id="26" name="Text 19"/>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27" name="Text 20"/>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Pitfalls</a:t>
            </a:r>
            <a:endParaRPr lang="en-US" sz="900" dirty="0"/>
          </a:p>
        </p:txBody>
      </p:sp>
      <p:sp>
        <p:nvSpPr>
          <p:cNvPr id="28" name="Text 21"/>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E2B38"/>
        </a:solidFill>
        <a:effectLst/>
      </p:bgPr>
    </p:bg>
    <p:spTree>
      <p:nvGrpSpPr>
        <p:cNvPr id="1" name=""/>
        <p:cNvGrpSpPr/>
        <p:nvPr/>
      </p:nvGrpSpPr>
      <p:grpSpPr>
        <a:xfrm>
          <a:off x="0" y="0"/>
          <a:ext cx="0" cy="0"/>
          <a:chOff x="0" y="0"/>
          <a:chExt cx="0" cy="0"/>
        </a:xfrm>
      </p:grpSpPr>
      <p:sp>
        <p:nvSpPr>
          <p:cNvPr id="2" name="Shape 0"/>
          <p:cNvSpPr/>
          <p:nvPr/>
        </p:nvSpPr>
        <p:spPr>
          <a:xfrm>
            <a:off x="10058400" y="-1280160"/>
            <a:ext cx="3840480" cy="3840480"/>
          </a:xfrm>
          <a:prstGeom prst="ellipse">
            <a:avLst/>
          </a:prstGeom>
          <a:solidFill>
            <a:srgbClr val="E0A21B">
              <a:alpha val="12000"/>
            </a:srgbClr>
          </a:solidFill>
          <a:ln/>
        </p:spPr>
      </p:sp>
      <p:sp>
        <p:nvSpPr>
          <p:cNvPr id="3" name="Shape 1"/>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4"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5" name="Text 2"/>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F2C94C"/>
                </a:solidFill>
                <a:latin typeface="Calibri" pitchFamily="34" charset="0"/>
                <a:ea typeface="Calibri" pitchFamily="34" charset="-122"/>
                <a:cs typeface="Calibri" pitchFamily="34" charset="-120"/>
              </a:rPr>
              <a:t>QUIZ · 85:00–90:00 · 45S EACH</a:t>
            </a:r>
            <a:endParaRPr lang="en-US" sz="1200" dirty="0"/>
          </a:p>
        </p:txBody>
      </p:sp>
      <p:sp>
        <p:nvSpPr>
          <p:cNvPr id="6" name="Text 3"/>
          <p:cNvSpPr/>
          <p:nvPr/>
        </p:nvSpPr>
        <p:spPr>
          <a:xfrm>
            <a:off x="1298448" y="713232"/>
            <a:ext cx="10058400" cy="566928"/>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Quick Check — Session 11</a:t>
            </a:r>
            <a:endParaRPr lang="en-US" sz="2800" dirty="0"/>
          </a:p>
        </p:txBody>
      </p:sp>
      <p:sp>
        <p:nvSpPr>
          <p:cNvPr id="7" name="Shape 4"/>
          <p:cNvSpPr/>
          <p:nvPr/>
        </p:nvSpPr>
        <p:spPr>
          <a:xfrm>
            <a:off x="548640" y="1600200"/>
            <a:ext cx="11091672" cy="841248"/>
          </a:xfrm>
          <a:prstGeom prst="roundRect">
            <a:avLst>
              <a:gd name="adj" fmla="val 7609"/>
            </a:avLst>
          </a:prstGeom>
          <a:solidFill>
            <a:srgbClr val="243748"/>
          </a:solidFill>
          <a:ln w="12700">
            <a:solidFill>
              <a:srgbClr val="37506A"/>
            </a:solidFill>
            <a:prstDash val="solid"/>
          </a:ln>
        </p:spPr>
      </p:sp>
      <p:sp>
        <p:nvSpPr>
          <p:cNvPr id="8" name="Shape 5"/>
          <p:cNvSpPr/>
          <p:nvPr/>
        </p:nvSpPr>
        <p:spPr>
          <a:xfrm>
            <a:off x="713232" y="1819656"/>
            <a:ext cx="566928" cy="402336"/>
          </a:xfrm>
          <a:prstGeom prst="roundRect">
            <a:avLst>
              <a:gd name="adj" fmla="val 18182"/>
            </a:avLst>
          </a:prstGeom>
          <a:solidFill>
            <a:srgbClr val="E0A21B"/>
          </a:solidFill>
          <a:ln/>
        </p:spPr>
      </p:sp>
      <p:sp>
        <p:nvSpPr>
          <p:cNvPr id="9" name="Text 6"/>
          <p:cNvSpPr/>
          <p:nvPr/>
        </p:nvSpPr>
        <p:spPr>
          <a:xfrm>
            <a:off x="713232" y="1819656"/>
            <a:ext cx="56692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Q1</a:t>
            </a:r>
            <a:endParaRPr lang="en-US" sz="1300" dirty="0"/>
          </a:p>
        </p:txBody>
      </p:sp>
      <p:sp>
        <p:nvSpPr>
          <p:cNvPr id="10" name="Text 7"/>
          <p:cNvSpPr/>
          <p:nvPr/>
        </p:nvSpPr>
        <p:spPr>
          <a:xfrm>
            <a:off x="1463040" y="1691640"/>
            <a:ext cx="6035040" cy="658368"/>
          </a:xfrm>
          <a:prstGeom prst="rect">
            <a:avLst/>
          </a:prstGeom>
          <a:noFill/>
          <a:ln/>
        </p:spPr>
        <p:txBody>
          <a:bodyPr wrap="square" lIns="0" tIns="0" rIns="0" bIns="0" rtlCol="0" anchor="ctr"/>
          <a:lstStyle/>
          <a:p>
            <a:pPr marL="0" indent="0">
              <a:lnSpc>
                <a:spcPts val="1400"/>
              </a:lnSpc>
              <a:buNone/>
            </a:pPr>
            <a:r>
              <a:rPr lang="en-US" sz="1250" dirty="0">
                <a:solidFill>
                  <a:srgbClr val="E4EBF1"/>
                </a:solidFill>
                <a:latin typeface="Calibri" pitchFamily="34" charset="0"/>
                <a:ea typeface="Calibri" pitchFamily="34" charset="-122"/>
                <a:cs typeface="Calibri" pitchFamily="34" charset="-120"/>
              </a:rPr>
              <a:t>Where do you call useAuthStore() in a beforeEach guard?</a:t>
            </a:r>
            <a:endParaRPr lang="en-US" sz="1250" dirty="0"/>
          </a:p>
        </p:txBody>
      </p:sp>
      <p:sp>
        <p:nvSpPr>
          <p:cNvPr id="11" name="Shape 8"/>
          <p:cNvSpPr/>
          <p:nvPr/>
        </p:nvSpPr>
        <p:spPr>
          <a:xfrm>
            <a:off x="7726680" y="1746504"/>
            <a:ext cx="0" cy="548640"/>
          </a:xfrm>
          <a:prstGeom prst="line">
            <a:avLst/>
          </a:prstGeom>
          <a:noFill/>
          <a:ln w="12700">
            <a:solidFill>
              <a:srgbClr val="37506A"/>
            </a:solidFill>
            <a:prstDash val="solid"/>
          </a:ln>
        </p:spPr>
      </p:sp>
      <p:sp>
        <p:nvSpPr>
          <p:cNvPr id="12" name="Text 9"/>
          <p:cNvSpPr/>
          <p:nvPr/>
        </p:nvSpPr>
        <p:spPr>
          <a:xfrm>
            <a:off x="7909560" y="1691640"/>
            <a:ext cx="3566160" cy="658368"/>
          </a:xfrm>
          <a:prstGeom prst="rect">
            <a:avLst/>
          </a:prstGeom>
          <a:noFill/>
          <a:ln/>
        </p:spPr>
        <p:txBody>
          <a:bodyPr wrap="square" lIns="0" tIns="0" rIns="0" bIns="0" rtlCol="0" anchor="ctr"/>
          <a:lstStyle/>
          <a:p>
            <a:pPr marL="0" indent="0">
              <a:lnSpc>
                <a:spcPts val="1300"/>
              </a:lnSpc>
              <a:buNone/>
            </a:pPr>
            <a:r>
              <a:rPr lang="en-US" sz="1150" b="1" dirty="0">
                <a:solidFill>
                  <a:srgbClr val="F2C94C"/>
                </a:solidFill>
                <a:latin typeface="Calibri" pitchFamily="34" charset="0"/>
                <a:ea typeface="Calibri" pitchFamily="34" charset="-122"/>
                <a:cs typeface="Calibri" pitchFamily="34" charset="-120"/>
              </a:rPr>
              <a:t>✓  </a:t>
            </a:r>
            <a:r>
              <a:rPr lang="en-US" sz="1150" dirty="0">
                <a:solidFill>
                  <a:srgbClr val="CFE0CF"/>
                </a:solidFill>
                <a:latin typeface="Calibri" pitchFamily="34" charset="0"/>
                <a:ea typeface="Calibri" pitchFamily="34" charset="-122"/>
                <a:cs typeface="Calibri" pitchFamily="34" charset="-120"/>
              </a:rPr>
              <a:t>Inside the beforeEach callback function</a:t>
            </a:r>
            <a:endParaRPr lang="en-US" sz="1150" dirty="0"/>
          </a:p>
        </p:txBody>
      </p:sp>
      <p:sp>
        <p:nvSpPr>
          <p:cNvPr id="13" name="Shape 10"/>
          <p:cNvSpPr/>
          <p:nvPr/>
        </p:nvSpPr>
        <p:spPr>
          <a:xfrm>
            <a:off x="548640" y="2551176"/>
            <a:ext cx="11091672" cy="841248"/>
          </a:xfrm>
          <a:prstGeom prst="roundRect">
            <a:avLst>
              <a:gd name="adj" fmla="val 7609"/>
            </a:avLst>
          </a:prstGeom>
          <a:solidFill>
            <a:srgbClr val="243748"/>
          </a:solidFill>
          <a:ln w="12700">
            <a:solidFill>
              <a:srgbClr val="37506A"/>
            </a:solidFill>
            <a:prstDash val="solid"/>
          </a:ln>
        </p:spPr>
      </p:sp>
      <p:sp>
        <p:nvSpPr>
          <p:cNvPr id="14" name="Shape 11"/>
          <p:cNvSpPr/>
          <p:nvPr/>
        </p:nvSpPr>
        <p:spPr>
          <a:xfrm>
            <a:off x="713232" y="2770632"/>
            <a:ext cx="566928" cy="402336"/>
          </a:xfrm>
          <a:prstGeom prst="roundRect">
            <a:avLst>
              <a:gd name="adj" fmla="val 18182"/>
            </a:avLst>
          </a:prstGeom>
          <a:solidFill>
            <a:srgbClr val="E0A21B"/>
          </a:solidFill>
          <a:ln/>
        </p:spPr>
      </p:sp>
      <p:sp>
        <p:nvSpPr>
          <p:cNvPr id="15" name="Text 12"/>
          <p:cNvSpPr/>
          <p:nvPr/>
        </p:nvSpPr>
        <p:spPr>
          <a:xfrm>
            <a:off x="713232" y="2770632"/>
            <a:ext cx="56692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Q2</a:t>
            </a:r>
            <a:endParaRPr lang="en-US" sz="1300" dirty="0"/>
          </a:p>
        </p:txBody>
      </p:sp>
      <p:sp>
        <p:nvSpPr>
          <p:cNvPr id="16" name="Text 13"/>
          <p:cNvSpPr/>
          <p:nvPr/>
        </p:nvSpPr>
        <p:spPr>
          <a:xfrm>
            <a:off x="1463040" y="2642616"/>
            <a:ext cx="6035040" cy="658368"/>
          </a:xfrm>
          <a:prstGeom prst="rect">
            <a:avLst/>
          </a:prstGeom>
          <a:noFill/>
          <a:ln/>
        </p:spPr>
        <p:txBody>
          <a:bodyPr wrap="square" lIns="0" tIns="0" rIns="0" bIns="0" rtlCol="0" anchor="ctr"/>
          <a:lstStyle/>
          <a:p>
            <a:pPr marL="0" indent="0">
              <a:lnSpc>
                <a:spcPts val="1400"/>
              </a:lnSpc>
              <a:buNone/>
            </a:pPr>
            <a:r>
              <a:rPr lang="en-US" sz="1250" dirty="0">
                <a:solidFill>
                  <a:srgbClr val="E4EBF1"/>
                </a:solidFill>
                <a:latin typeface="Calibri" pitchFamily="34" charset="0"/>
                <a:ea typeface="Calibri" pitchFamily="34" charset="-122"/>
                <a:cs typeface="Calibri" pitchFamily="34" charset="-120"/>
              </a:rPr>
              <a:t>What does persistedstate's pick option do?</a:t>
            </a:r>
            <a:endParaRPr lang="en-US" sz="1250" dirty="0"/>
          </a:p>
        </p:txBody>
      </p:sp>
      <p:sp>
        <p:nvSpPr>
          <p:cNvPr id="17" name="Shape 14"/>
          <p:cNvSpPr/>
          <p:nvPr/>
        </p:nvSpPr>
        <p:spPr>
          <a:xfrm>
            <a:off x="7726680" y="2697480"/>
            <a:ext cx="0" cy="548640"/>
          </a:xfrm>
          <a:prstGeom prst="line">
            <a:avLst/>
          </a:prstGeom>
          <a:noFill/>
          <a:ln w="12700">
            <a:solidFill>
              <a:srgbClr val="37506A"/>
            </a:solidFill>
            <a:prstDash val="solid"/>
          </a:ln>
        </p:spPr>
      </p:sp>
      <p:sp>
        <p:nvSpPr>
          <p:cNvPr id="18" name="Text 15"/>
          <p:cNvSpPr/>
          <p:nvPr/>
        </p:nvSpPr>
        <p:spPr>
          <a:xfrm>
            <a:off x="7909560" y="2642616"/>
            <a:ext cx="3566160" cy="658368"/>
          </a:xfrm>
          <a:prstGeom prst="rect">
            <a:avLst/>
          </a:prstGeom>
          <a:noFill/>
          <a:ln/>
        </p:spPr>
        <p:txBody>
          <a:bodyPr wrap="square" lIns="0" tIns="0" rIns="0" bIns="0" rtlCol="0" anchor="ctr"/>
          <a:lstStyle/>
          <a:p>
            <a:pPr marL="0" indent="0">
              <a:lnSpc>
                <a:spcPts val="1300"/>
              </a:lnSpc>
              <a:buNone/>
            </a:pPr>
            <a:r>
              <a:rPr lang="en-US" sz="1150" b="1" dirty="0">
                <a:solidFill>
                  <a:srgbClr val="F2C94C"/>
                </a:solidFill>
                <a:latin typeface="Calibri" pitchFamily="34" charset="0"/>
                <a:ea typeface="Calibri" pitchFamily="34" charset="-122"/>
                <a:cs typeface="Calibri" pitchFamily="34" charset="-120"/>
              </a:rPr>
              <a:t>✓  </a:t>
            </a:r>
            <a:r>
              <a:rPr lang="en-US" sz="1150" dirty="0">
                <a:solidFill>
                  <a:srgbClr val="CFE0CF"/>
                </a:solidFill>
                <a:latin typeface="Calibri" pitchFamily="34" charset="0"/>
                <a:ea typeface="Calibri" pitchFamily="34" charset="-122"/>
                <a:cs typeface="Calibri" pitchFamily="34" charset="-120"/>
              </a:rPr>
              <a:t>Persists only the listed state keys</a:t>
            </a:r>
            <a:endParaRPr lang="en-US" sz="1150" dirty="0"/>
          </a:p>
        </p:txBody>
      </p:sp>
      <p:sp>
        <p:nvSpPr>
          <p:cNvPr id="19" name="Shape 16"/>
          <p:cNvSpPr/>
          <p:nvPr/>
        </p:nvSpPr>
        <p:spPr>
          <a:xfrm>
            <a:off x="548640" y="3502152"/>
            <a:ext cx="11091672" cy="841248"/>
          </a:xfrm>
          <a:prstGeom prst="roundRect">
            <a:avLst>
              <a:gd name="adj" fmla="val 7609"/>
            </a:avLst>
          </a:prstGeom>
          <a:solidFill>
            <a:srgbClr val="243748"/>
          </a:solidFill>
          <a:ln w="12700">
            <a:solidFill>
              <a:srgbClr val="37506A"/>
            </a:solidFill>
            <a:prstDash val="solid"/>
          </a:ln>
        </p:spPr>
      </p:sp>
      <p:sp>
        <p:nvSpPr>
          <p:cNvPr id="20" name="Shape 17"/>
          <p:cNvSpPr/>
          <p:nvPr/>
        </p:nvSpPr>
        <p:spPr>
          <a:xfrm>
            <a:off x="713232" y="3721608"/>
            <a:ext cx="566928" cy="402336"/>
          </a:xfrm>
          <a:prstGeom prst="roundRect">
            <a:avLst>
              <a:gd name="adj" fmla="val 18182"/>
            </a:avLst>
          </a:prstGeom>
          <a:solidFill>
            <a:srgbClr val="E0A21B"/>
          </a:solidFill>
          <a:ln/>
        </p:spPr>
      </p:sp>
      <p:sp>
        <p:nvSpPr>
          <p:cNvPr id="21" name="Text 18"/>
          <p:cNvSpPr/>
          <p:nvPr/>
        </p:nvSpPr>
        <p:spPr>
          <a:xfrm>
            <a:off x="713232" y="3721608"/>
            <a:ext cx="56692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Q3</a:t>
            </a:r>
            <a:endParaRPr lang="en-US" sz="1300" dirty="0"/>
          </a:p>
        </p:txBody>
      </p:sp>
      <p:sp>
        <p:nvSpPr>
          <p:cNvPr id="22" name="Text 19"/>
          <p:cNvSpPr/>
          <p:nvPr/>
        </p:nvSpPr>
        <p:spPr>
          <a:xfrm>
            <a:off x="1463040" y="3593592"/>
            <a:ext cx="6035040" cy="658368"/>
          </a:xfrm>
          <a:prstGeom prst="rect">
            <a:avLst/>
          </a:prstGeom>
          <a:noFill/>
          <a:ln/>
        </p:spPr>
        <p:txBody>
          <a:bodyPr wrap="square" lIns="0" tIns="0" rIns="0" bIns="0" rtlCol="0" anchor="ctr"/>
          <a:lstStyle/>
          <a:p>
            <a:pPr marL="0" indent="0">
              <a:lnSpc>
                <a:spcPts val="1400"/>
              </a:lnSpc>
              <a:buNone/>
            </a:pPr>
            <a:r>
              <a:rPr lang="en-US" sz="1250" dirty="0">
                <a:solidFill>
                  <a:srgbClr val="E4EBF1"/>
                </a:solidFill>
                <a:latin typeface="Calibri" pitchFamily="34" charset="0"/>
                <a:ea typeface="Calibri" pitchFamily="34" charset="-122"/>
                <a:cs typeface="Calibri" pitchFamily="34" charset="-120"/>
              </a:rPr>
              <a:t>Why .use(pinia) before .use(router)?</a:t>
            </a:r>
            <a:endParaRPr lang="en-US" sz="1250" dirty="0"/>
          </a:p>
        </p:txBody>
      </p:sp>
      <p:sp>
        <p:nvSpPr>
          <p:cNvPr id="23" name="Shape 20"/>
          <p:cNvSpPr/>
          <p:nvPr/>
        </p:nvSpPr>
        <p:spPr>
          <a:xfrm>
            <a:off x="7726680" y="3648456"/>
            <a:ext cx="0" cy="548640"/>
          </a:xfrm>
          <a:prstGeom prst="line">
            <a:avLst/>
          </a:prstGeom>
          <a:noFill/>
          <a:ln w="12700">
            <a:solidFill>
              <a:srgbClr val="37506A"/>
            </a:solidFill>
            <a:prstDash val="solid"/>
          </a:ln>
        </p:spPr>
      </p:sp>
      <p:sp>
        <p:nvSpPr>
          <p:cNvPr id="24" name="Text 21"/>
          <p:cNvSpPr/>
          <p:nvPr/>
        </p:nvSpPr>
        <p:spPr>
          <a:xfrm>
            <a:off x="7909560" y="3593592"/>
            <a:ext cx="3566160" cy="658368"/>
          </a:xfrm>
          <a:prstGeom prst="rect">
            <a:avLst/>
          </a:prstGeom>
          <a:noFill/>
          <a:ln/>
        </p:spPr>
        <p:txBody>
          <a:bodyPr wrap="square" lIns="0" tIns="0" rIns="0" bIns="0" rtlCol="0" anchor="ctr"/>
          <a:lstStyle/>
          <a:p>
            <a:pPr marL="0" indent="0">
              <a:lnSpc>
                <a:spcPts val="1300"/>
              </a:lnSpc>
              <a:buNone/>
            </a:pPr>
            <a:r>
              <a:rPr lang="en-US" sz="1150" b="1" dirty="0">
                <a:solidFill>
                  <a:srgbClr val="F2C94C"/>
                </a:solidFill>
                <a:latin typeface="Calibri" pitchFamily="34" charset="0"/>
                <a:ea typeface="Calibri" pitchFamily="34" charset="-122"/>
                <a:cs typeface="Calibri" pitchFamily="34" charset="-120"/>
              </a:rPr>
              <a:t>✓  </a:t>
            </a:r>
            <a:r>
              <a:rPr lang="en-US" sz="1150" dirty="0">
                <a:solidFill>
                  <a:srgbClr val="CFE0CF"/>
                </a:solidFill>
                <a:latin typeface="Calibri" pitchFamily="34" charset="0"/>
                <a:ea typeface="Calibri" pitchFamily="34" charset="-122"/>
                <a:cs typeface="Calibri" pitchFamily="34" charset="-120"/>
              </a:rPr>
              <a:t>Guards call stores on startup — Pinia must exist</a:t>
            </a:r>
            <a:endParaRPr lang="en-US" sz="1150" dirty="0"/>
          </a:p>
        </p:txBody>
      </p:sp>
      <p:sp>
        <p:nvSpPr>
          <p:cNvPr id="25" name="Shape 22"/>
          <p:cNvSpPr/>
          <p:nvPr/>
        </p:nvSpPr>
        <p:spPr>
          <a:xfrm>
            <a:off x="548640" y="4453128"/>
            <a:ext cx="11091672" cy="841248"/>
          </a:xfrm>
          <a:prstGeom prst="roundRect">
            <a:avLst>
              <a:gd name="adj" fmla="val 7609"/>
            </a:avLst>
          </a:prstGeom>
          <a:solidFill>
            <a:srgbClr val="243748"/>
          </a:solidFill>
          <a:ln w="12700">
            <a:solidFill>
              <a:srgbClr val="37506A"/>
            </a:solidFill>
            <a:prstDash val="solid"/>
          </a:ln>
        </p:spPr>
      </p:sp>
      <p:sp>
        <p:nvSpPr>
          <p:cNvPr id="26" name="Shape 23"/>
          <p:cNvSpPr/>
          <p:nvPr/>
        </p:nvSpPr>
        <p:spPr>
          <a:xfrm>
            <a:off x="713232" y="4672584"/>
            <a:ext cx="566928" cy="402336"/>
          </a:xfrm>
          <a:prstGeom prst="roundRect">
            <a:avLst>
              <a:gd name="adj" fmla="val 18182"/>
            </a:avLst>
          </a:prstGeom>
          <a:solidFill>
            <a:srgbClr val="E0A21B"/>
          </a:solidFill>
          <a:ln/>
        </p:spPr>
      </p:sp>
      <p:sp>
        <p:nvSpPr>
          <p:cNvPr id="27" name="Text 24"/>
          <p:cNvSpPr/>
          <p:nvPr/>
        </p:nvSpPr>
        <p:spPr>
          <a:xfrm>
            <a:off x="713232" y="4672584"/>
            <a:ext cx="56692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Q4</a:t>
            </a:r>
            <a:endParaRPr lang="en-US" sz="1300" dirty="0"/>
          </a:p>
        </p:txBody>
      </p:sp>
      <p:sp>
        <p:nvSpPr>
          <p:cNvPr id="28" name="Text 25"/>
          <p:cNvSpPr/>
          <p:nvPr/>
        </p:nvSpPr>
        <p:spPr>
          <a:xfrm>
            <a:off x="1463040" y="4544568"/>
            <a:ext cx="6035040" cy="658368"/>
          </a:xfrm>
          <a:prstGeom prst="rect">
            <a:avLst/>
          </a:prstGeom>
          <a:noFill/>
          <a:ln/>
        </p:spPr>
        <p:txBody>
          <a:bodyPr wrap="square" lIns="0" tIns="0" rIns="0" bIns="0" rtlCol="0" anchor="ctr"/>
          <a:lstStyle/>
          <a:p>
            <a:pPr marL="0" indent="0">
              <a:lnSpc>
                <a:spcPts val="1400"/>
              </a:lnSpc>
              <a:buNone/>
            </a:pPr>
            <a:r>
              <a:rPr lang="en-US" sz="1250" dirty="0">
                <a:solidFill>
                  <a:srgbClr val="E4EBF1"/>
                </a:solidFill>
                <a:latin typeface="Calibri" pitchFamily="34" charset="0"/>
                <a:ea typeface="Calibri" pitchFamily="34" charset="-122"/>
                <a:cs typeface="Calibri" pitchFamily="34" charset="-120"/>
              </a:rPr>
              <a:t>Two stores need each other — how to resolve it?</a:t>
            </a:r>
            <a:endParaRPr lang="en-US" sz="1250" dirty="0"/>
          </a:p>
        </p:txBody>
      </p:sp>
      <p:sp>
        <p:nvSpPr>
          <p:cNvPr id="29" name="Shape 26"/>
          <p:cNvSpPr/>
          <p:nvPr/>
        </p:nvSpPr>
        <p:spPr>
          <a:xfrm>
            <a:off x="7726680" y="4599432"/>
            <a:ext cx="0" cy="548640"/>
          </a:xfrm>
          <a:prstGeom prst="line">
            <a:avLst/>
          </a:prstGeom>
          <a:noFill/>
          <a:ln w="12700">
            <a:solidFill>
              <a:srgbClr val="37506A"/>
            </a:solidFill>
            <a:prstDash val="solid"/>
          </a:ln>
        </p:spPr>
      </p:sp>
      <p:sp>
        <p:nvSpPr>
          <p:cNvPr id="30" name="Text 27"/>
          <p:cNvSpPr/>
          <p:nvPr/>
        </p:nvSpPr>
        <p:spPr>
          <a:xfrm>
            <a:off x="7909560" y="4544568"/>
            <a:ext cx="3566160" cy="658368"/>
          </a:xfrm>
          <a:prstGeom prst="rect">
            <a:avLst/>
          </a:prstGeom>
          <a:noFill/>
          <a:ln/>
        </p:spPr>
        <p:txBody>
          <a:bodyPr wrap="square" lIns="0" tIns="0" rIns="0" bIns="0" rtlCol="0" anchor="ctr"/>
          <a:lstStyle/>
          <a:p>
            <a:pPr marL="0" indent="0">
              <a:lnSpc>
                <a:spcPts val="1300"/>
              </a:lnSpc>
              <a:buNone/>
            </a:pPr>
            <a:r>
              <a:rPr lang="en-US" sz="1150" b="1" dirty="0">
                <a:solidFill>
                  <a:srgbClr val="F2C94C"/>
                </a:solidFill>
                <a:latin typeface="Calibri" pitchFamily="34" charset="0"/>
                <a:ea typeface="Calibri" pitchFamily="34" charset="-122"/>
                <a:cs typeface="Calibri" pitchFamily="34" charset="-120"/>
              </a:rPr>
              <a:t>✓  </a:t>
            </a:r>
            <a:r>
              <a:rPr lang="en-US" sz="1150" dirty="0">
                <a:solidFill>
                  <a:srgbClr val="CFE0CF"/>
                </a:solidFill>
                <a:latin typeface="Calibri" pitchFamily="34" charset="0"/>
                <a:ea typeface="Calibri" pitchFamily="34" charset="-122"/>
                <a:cs typeface="Calibri" pitchFamily="34" charset="-120"/>
              </a:rPr>
              <a:t>Call useStore() inside actions, not at module top</a:t>
            </a:r>
            <a:endParaRPr lang="en-US" sz="1150" dirty="0"/>
          </a:p>
        </p:txBody>
      </p:sp>
      <p:sp>
        <p:nvSpPr>
          <p:cNvPr id="31" name="Shape 28"/>
          <p:cNvSpPr/>
          <p:nvPr/>
        </p:nvSpPr>
        <p:spPr>
          <a:xfrm>
            <a:off x="548640" y="5404104"/>
            <a:ext cx="11091672" cy="841248"/>
          </a:xfrm>
          <a:prstGeom prst="roundRect">
            <a:avLst>
              <a:gd name="adj" fmla="val 7609"/>
            </a:avLst>
          </a:prstGeom>
          <a:solidFill>
            <a:srgbClr val="243748"/>
          </a:solidFill>
          <a:ln w="12700">
            <a:solidFill>
              <a:srgbClr val="37506A"/>
            </a:solidFill>
            <a:prstDash val="solid"/>
          </a:ln>
        </p:spPr>
      </p:sp>
      <p:sp>
        <p:nvSpPr>
          <p:cNvPr id="32" name="Shape 29"/>
          <p:cNvSpPr/>
          <p:nvPr/>
        </p:nvSpPr>
        <p:spPr>
          <a:xfrm>
            <a:off x="713232" y="5623560"/>
            <a:ext cx="566928" cy="402336"/>
          </a:xfrm>
          <a:prstGeom prst="roundRect">
            <a:avLst>
              <a:gd name="adj" fmla="val 18182"/>
            </a:avLst>
          </a:prstGeom>
          <a:solidFill>
            <a:srgbClr val="E0A21B"/>
          </a:solidFill>
          <a:ln/>
        </p:spPr>
      </p:sp>
      <p:sp>
        <p:nvSpPr>
          <p:cNvPr id="33" name="Text 30"/>
          <p:cNvSpPr/>
          <p:nvPr/>
        </p:nvSpPr>
        <p:spPr>
          <a:xfrm>
            <a:off x="713232" y="5623560"/>
            <a:ext cx="56692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Q5</a:t>
            </a:r>
            <a:endParaRPr lang="en-US" sz="1300" dirty="0"/>
          </a:p>
        </p:txBody>
      </p:sp>
      <p:sp>
        <p:nvSpPr>
          <p:cNvPr id="34" name="Text 31"/>
          <p:cNvSpPr/>
          <p:nvPr/>
        </p:nvSpPr>
        <p:spPr>
          <a:xfrm>
            <a:off x="1463040" y="5495544"/>
            <a:ext cx="6035040" cy="658368"/>
          </a:xfrm>
          <a:prstGeom prst="rect">
            <a:avLst/>
          </a:prstGeom>
          <a:noFill/>
          <a:ln/>
        </p:spPr>
        <p:txBody>
          <a:bodyPr wrap="square" lIns="0" tIns="0" rIns="0" bIns="0" rtlCol="0" anchor="ctr"/>
          <a:lstStyle/>
          <a:p>
            <a:pPr marL="0" indent="0">
              <a:lnSpc>
                <a:spcPts val="1400"/>
              </a:lnSpc>
              <a:buNone/>
            </a:pPr>
            <a:r>
              <a:rPr lang="en-US" sz="1250" dirty="0">
                <a:solidFill>
                  <a:srgbClr val="E4EBF1"/>
                </a:solidFill>
                <a:latin typeface="Calibri" pitchFamily="34" charset="0"/>
                <a:ea typeface="Calibri" pitchFamily="34" charset="-122"/>
                <a:cs typeface="Calibri" pitchFamily="34" charset="-120"/>
              </a:rPr>
              <a:t>const { logout } = useAuthStore() with no storeToRefs — works?</a:t>
            </a:r>
            <a:endParaRPr lang="en-US" sz="1250" dirty="0"/>
          </a:p>
        </p:txBody>
      </p:sp>
      <p:sp>
        <p:nvSpPr>
          <p:cNvPr id="35" name="Shape 32"/>
          <p:cNvSpPr/>
          <p:nvPr/>
        </p:nvSpPr>
        <p:spPr>
          <a:xfrm>
            <a:off x="7726680" y="5550408"/>
            <a:ext cx="0" cy="548640"/>
          </a:xfrm>
          <a:prstGeom prst="line">
            <a:avLst/>
          </a:prstGeom>
          <a:noFill/>
          <a:ln w="12700">
            <a:solidFill>
              <a:srgbClr val="37506A"/>
            </a:solidFill>
            <a:prstDash val="solid"/>
          </a:ln>
        </p:spPr>
      </p:sp>
      <p:sp>
        <p:nvSpPr>
          <p:cNvPr id="36" name="Text 33"/>
          <p:cNvSpPr/>
          <p:nvPr/>
        </p:nvSpPr>
        <p:spPr>
          <a:xfrm>
            <a:off x="7909560" y="5495544"/>
            <a:ext cx="3566160" cy="658368"/>
          </a:xfrm>
          <a:prstGeom prst="rect">
            <a:avLst/>
          </a:prstGeom>
          <a:noFill/>
          <a:ln/>
        </p:spPr>
        <p:txBody>
          <a:bodyPr wrap="square" lIns="0" tIns="0" rIns="0" bIns="0" rtlCol="0" anchor="ctr"/>
          <a:lstStyle/>
          <a:p>
            <a:pPr marL="0" indent="0">
              <a:lnSpc>
                <a:spcPts val="1300"/>
              </a:lnSpc>
              <a:buNone/>
            </a:pPr>
            <a:r>
              <a:rPr lang="en-US" sz="1150" b="1" dirty="0">
                <a:solidFill>
                  <a:srgbClr val="F2C94C"/>
                </a:solidFill>
                <a:latin typeface="Calibri" pitchFamily="34" charset="0"/>
                <a:ea typeface="Calibri" pitchFamily="34" charset="-122"/>
                <a:cs typeface="Calibri" pitchFamily="34" charset="-120"/>
              </a:rPr>
              <a:t>✓  </a:t>
            </a:r>
            <a:r>
              <a:rPr lang="en-US" sz="1150" dirty="0">
                <a:solidFill>
                  <a:srgbClr val="CFE0CF"/>
                </a:solidFill>
                <a:latin typeface="Calibri" pitchFamily="34" charset="0"/>
                <a:ea typeface="Calibri" pitchFamily="34" charset="-122"/>
                <a:cs typeface="Calibri" pitchFamily="34" charset="-120"/>
              </a:rPr>
              <a:t>Yes — actions are plain functions</a:t>
            </a:r>
            <a:endParaRPr lang="en-US" sz="1150" dirty="0"/>
          </a:p>
        </p:txBody>
      </p:sp>
      <p:sp>
        <p:nvSpPr>
          <p:cNvPr id="37" name="Text 34"/>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38" name="Text 35"/>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Quiz</a:t>
            </a:r>
            <a:endParaRPr lang="en-US" sz="900" dirty="0"/>
          </a:p>
        </p:txBody>
      </p:sp>
      <p:sp>
        <p:nvSpPr>
          <p:cNvPr id="39" name="Text 36"/>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A6760C"/>
                </a:solidFill>
                <a:latin typeface="Calibri" pitchFamily="34" charset="0"/>
                <a:ea typeface="Calibri" pitchFamily="34" charset="-122"/>
                <a:cs typeface="Calibri" pitchFamily="34" charset="-120"/>
              </a:rPr>
              <a:t>HOMEWORK · COMBINED ASSIGNMENT · DUE BEFORE SESSION 12</a:t>
            </a:r>
            <a:endParaRPr lang="en-US" sz="1200" dirty="0"/>
          </a:p>
        </p:txBody>
      </p:sp>
      <p:sp>
        <p:nvSpPr>
          <p:cNvPr id="5" name="Text 2"/>
          <p:cNvSpPr/>
          <p:nvPr/>
        </p:nvSpPr>
        <p:spPr>
          <a:xfrm>
            <a:off x="1298448" y="713232"/>
            <a:ext cx="10332720" cy="566928"/>
          </a:xfrm>
          <a:prstGeom prst="rect">
            <a:avLst/>
          </a:prstGeom>
          <a:noFill/>
          <a:ln/>
        </p:spPr>
        <p:txBody>
          <a:bodyPr wrap="square" lIns="0" tIns="0" rIns="0" bIns="0" rtlCol="0" anchor="ctr"/>
          <a:lstStyle/>
          <a:p>
            <a:pPr marL="0" indent="0" algn="l">
              <a:buNone/>
            </a:pPr>
            <a:r>
              <a:rPr lang="en-US" sz="2800" b="1" dirty="0">
                <a:solidFill>
                  <a:srgbClr val="2C3E50"/>
                </a:solidFill>
                <a:latin typeface="Cambria" pitchFamily="34" charset="0"/>
                <a:ea typeface="Cambria" pitchFamily="34" charset="-122"/>
                <a:cs typeface="Cambria" pitchFamily="34" charset="-120"/>
              </a:rPr>
              <a:t>Job Board — Full Pinia Integration</a:t>
            </a:r>
            <a:endParaRPr lang="en-US" sz="2800" dirty="0"/>
          </a:p>
        </p:txBody>
      </p:sp>
      <p:sp>
        <p:nvSpPr>
          <p:cNvPr id="6" name="Text 3"/>
          <p:cNvSpPr/>
          <p:nvPr/>
        </p:nvSpPr>
        <p:spPr>
          <a:xfrm>
            <a:off x="548640" y="1280160"/>
            <a:ext cx="11091672" cy="365760"/>
          </a:xfrm>
          <a:prstGeom prst="rect">
            <a:avLst/>
          </a:prstGeom>
          <a:noFill/>
          <a:ln/>
        </p:spPr>
        <p:txBody>
          <a:bodyPr wrap="square" lIns="0" tIns="0" rIns="0" bIns="0" rtlCol="0" anchor="ctr"/>
          <a:lstStyle/>
          <a:p>
            <a:pPr marL="0" indent="0">
              <a:buNone/>
            </a:pPr>
            <a:r>
              <a:rPr lang="en-US" sz="1250" dirty="0">
                <a:solidFill>
                  <a:srgbClr val="6B7C8C"/>
                </a:solidFill>
                <a:latin typeface="Calibri" pitchFamily="34" charset="0"/>
                <a:ea typeface="Calibri" pitchFamily="34" charset="-122"/>
                <a:cs typeface="Calibri" pitchFamily="34" charset="-120"/>
              </a:rPr>
              <a:t>Refactor the Job Board SPA to a complete store architecture: persistence, cross-store composition, and router integration. Push to GitHub.</a:t>
            </a:r>
            <a:endParaRPr lang="en-US" sz="1250" dirty="0"/>
          </a:p>
        </p:txBody>
      </p:sp>
      <p:sp>
        <p:nvSpPr>
          <p:cNvPr id="7" name="Shape 4"/>
          <p:cNvSpPr/>
          <p:nvPr/>
        </p:nvSpPr>
        <p:spPr>
          <a:xfrm>
            <a:off x="548640" y="1755648"/>
            <a:ext cx="11091672" cy="420624"/>
          </a:xfrm>
          <a:prstGeom prst="rect">
            <a:avLst/>
          </a:prstGeom>
          <a:solidFill>
            <a:srgbClr val="35495E"/>
          </a:solidFill>
          <a:ln/>
        </p:spPr>
      </p:sp>
      <p:sp>
        <p:nvSpPr>
          <p:cNvPr id="8" name="Text 5"/>
          <p:cNvSpPr/>
          <p:nvPr/>
        </p:nvSpPr>
        <p:spPr>
          <a:xfrm>
            <a:off x="731520" y="1755648"/>
            <a:ext cx="2103120" cy="42062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Store</a:t>
            </a:r>
            <a:endParaRPr lang="en-US" sz="1200" dirty="0"/>
          </a:p>
        </p:txBody>
      </p:sp>
      <p:sp>
        <p:nvSpPr>
          <p:cNvPr id="9" name="Text 6"/>
          <p:cNvSpPr/>
          <p:nvPr/>
        </p:nvSpPr>
        <p:spPr>
          <a:xfrm>
            <a:off x="3017520" y="1755648"/>
            <a:ext cx="6153912" cy="42062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Responsibilities</a:t>
            </a:r>
            <a:endParaRPr lang="en-US" sz="1200" dirty="0"/>
          </a:p>
        </p:txBody>
      </p:sp>
      <p:sp>
        <p:nvSpPr>
          <p:cNvPr id="10" name="Text 7"/>
          <p:cNvSpPr/>
          <p:nvPr/>
        </p:nvSpPr>
        <p:spPr>
          <a:xfrm>
            <a:off x="9445752" y="1755648"/>
            <a:ext cx="2011680" cy="42062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Persist</a:t>
            </a:r>
            <a:endParaRPr lang="en-US" sz="1200" dirty="0"/>
          </a:p>
        </p:txBody>
      </p:sp>
      <p:sp>
        <p:nvSpPr>
          <p:cNvPr id="11" name="Shape 8"/>
          <p:cNvSpPr/>
          <p:nvPr/>
        </p:nvSpPr>
        <p:spPr>
          <a:xfrm>
            <a:off x="548640" y="2176272"/>
            <a:ext cx="11091672" cy="402336"/>
          </a:xfrm>
          <a:prstGeom prst="rect">
            <a:avLst/>
          </a:prstGeom>
          <a:solidFill>
            <a:srgbClr val="FFFFFF"/>
          </a:solidFill>
          <a:ln w="12700">
            <a:solidFill>
              <a:srgbClr val="DCE5EB"/>
            </a:solidFill>
            <a:prstDash val="solid"/>
          </a:ln>
        </p:spPr>
      </p:sp>
      <p:sp>
        <p:nvSpPr>
          <p:cNvPr id="12" name="Text 9"/>
          <p:cNvSpPr/>
          <p:nvPr/>
        </p:nvSpPr>
        <p:spPr>
          <a:xfrm>
            <a:off x="731520" y="2176272"/>
            <a:ext cx="2103120" cy="402336"/>
          </a:xfrm>
          <a:prstGeom prst="rect">
            <a:avLst/>
          </a:prstGeom>
          <a:noFill/>
          <a:ln/>
        </p:spPr>
        <p:txBody>
          <a:bodyPr wrap="square" lIns="0" tIns="0" rIns="0" bIns="0" rtlCol="0" anchor="ctr"/>
          <a:lstStyle/>
          <a:p>
            <a:pPr marL="0" indent="0">
              <a:buNone/>
            </a:pPr>
            <a:r>
              <a:rPr lang="en-US" sz="1100" b="1" dirty="0">
                <a:solidFill>
                  <a:srgbClr val="A6760C"/>
                </a:solidFill>
                <a:latin typeface="Courier New" pitchFamily="34" charset="0"/>
                <a:ea typeface="Courier New" pitchFamily="34" charset="-122"/>
                <a:cs typeface="Courier New" pitchFamily="34" charset="-120"/>
              </a:rPr>
              <a:t>auth.js</a:t>
            </a:r>
            <a:endParaRPr lang="en-US" sz="1100" dirty="0"/>
          </a:p>
        </p:txBody>
      </p:sp>
      <p:sp>
        <p:nvSpPr>
          <p:cNvPr id="13" name="Text 10"/>
          <p:cNvSpPr/>
          <p:nvPr/>
        </p:nvSpPr>
        <p:spPr>
          <a:xfrm>
            <a:off x="3017520" y="2176272"/>
            <a:ext cx="6153912" cy="402336"/>
          </a:xfrm>
          <a:prstGeom prst="rect">
            <a:avLst/>
          </a:prstGeom>
          <a:noFill/>
          <a:ln/>
        </p:spPr>
        <p:txBody>
          <a:bodyPr wrap="square" lIns="0" tIns="0" rIns="0" bIns="0" rtlCol="0" anchor="ctr"/>
          <a:lstStyle/>
          <a:p>
            <a:pPr marL="0" indent="0">
              <a:buNone/>
            </a:pPr>
            <a:r>
              <a:rPr lang="en-US" sz="1150" dirty="0">
                <a:solidFill>
                  <a:srgbClr val="2C3E50"/>
                </a:solidFill>
                <a:latin typeface="Calibri" pitchFamily="34" charset="0"/>
                <a:ea typeface="Calibri" pitchFamily="34" charset="-122"/>
                <a:cs typeface="Calibri" pitchFamily="34" charset="-120"/>
              </a:rPr>
              <a:t>user, token, login, logout, fetchUser</a:t>
            </a:r>
            <a:endParaRPr lang="en-US" sz="1150" dirty="0"/>
          </a:p>
        </p:txBody>
      </p:sp>
      <p:sp>
        <p:nvSpPr>
          <p:cNvPr id="14" name="Text 11"/>
          <p:cNvSpPr/>
          <p:nvPr/>
        </p:nvSpPr>
        <p:spPr>
          <a:xfrm>
            <a:off x="9445752" y="2176272"/>
            <a:ext cx="2011680" cy="402336"/>
          </a:xfrm>
          <a:prstGeom prst="rect">
            <a:avLst/>
          </a:prstGeom>
          <a:noFill/>
          <a:ln/>
        </p:spPr>
        <p:txBody>
          <a:bodyPr wrap="square" lIns="0" tIns="0" rIns="0" bIns="0" rtlCol="0" anchor="ctr"/>
          <a:lstStyle/>
          <a:p>
            <a:pPr marL="0" indent="0">
              <a:buNone/>
            </a:pPr>
            <a:r>
              <a:rPr lang="en-US" sz="1050" dirty="0">
                <a:solidFill>
                  <a:srgbClr val="42B883"/>
                </a:solidFill>
                <a:latin typeface="Courier New" pitchFamily="34" charset="0"/>
                <a:ea typeface="Courier New" pitchFamily="34" charset="-122"/>
                <a:cs typeface="Courier New" pitchFamily="34" charset="-120"/>
              </a:rPr>
              <a:t>token, user</a:t>
            </a:r>
            <a:endParaRPr lang="en-US" sz="1050" dirty="0"/>
          </a:p>
        </p:txBody>
      </p:sp>
      <p:sp>
        <p:nvSpPr>
          <p:cNvPr id="15" name="Shape 12"/>
          <p:cNvSpPr/>
          <p:nvPr/>
        </p:nvSpPr>
        <p:spPr>
          <a:xfrm>
            <a:off x="548640" y="2578608"/>
            <a:ext cx="11091672" cy="402336"/>
          </a:xfrm>
          <a:prstGeom prst="rect">
            <a:avLst/>
          </a:prstGeom>
          <a:solidFill>
            <a:srgbClr val="F4F7F9"/>
          </a:solidFill>
          <a:ln w="12700">
            <a:solidFill>
              <a:srgbClr val="DCE5EB"/>
            </a:solidFill>
            <a:prstDash val="solid"/>
          </a:ln>
        </p:spPr>
      </p:sp>
      <p:sp>
        <p:nvSpPr>
          <p:cNvPr id="16" name="Text 13"/>
          <p:cNvSpPr/>
          <p:nvPr/>
        </p:nvSpPr>
        <p:spPr>
          <a:xfrm>
            <a:off x="731520" y="2578608"/>
            <a:ext cx="2103120" cy="402336"/>
          </a:xfrm>
          <a:prstGeom prst="rect">
            <a:avLst/>
          </a:prstGeom>
          <a:noFill/>
          <a:ln/>
        </p:spPr>
        <p:txBody>
          <a:bodyPr wrap="square" lIns="0" tIns="0" rIns="0" bIns="0" rtlCol="0" anchor="ctr"/>
          <a:lstStyle/>
          <a:p>
            <a:pPr marL="0" indent="0">
              <a:buNone/>
            </a:pPr>
            <a:r>
              <a:rPr lang="en-US" sz="1100" b="1" dirty="0">
                <a:solidFill>
                  <a:srgbClr val="A6760C"/>
                </a:solidFill>
                <a:latin typeface="Courier New" pitchFamily="34" charset="0"/>
                <a:ea typeface="Courier New" pitchFamily="34" charset="-122"/>
                <a:cs typeface="Courier New" pitchFamily="34" charset="-120"/>
              </a:rPr>
              <a:t>jobs.js</a:t>
            </a:r>
            <a:endParaRPr lang="en-US" sz="1100" dirty="0"/>
          </a:p>
        </p:txBody>
      </p:sp>
      <p:sp>
        <p:nvSpPr>
          <p:cNvPr id="17" name="Text 14"/>
          <p:cNvSpPr/>
          <p:nvPr/>
        </p:nvSpPr>
        <p:spPr>
          <a:xfrm>
            <a:off x="3017520" y="2578608"/>
            <a:ext cx="6153912" cy="402336"/>
          </a:xfrm>
          <a:prstGeom prst="rect">
            <a:avLst/>
          </a:prstGeom>
          <a:noFill/>
          <a:ln/>
        </p:spPr>
        <p:txBody>
          <a:bodyPr wrap="square" lIns="0" tIns="0" rIns="0" bIns="0" rtlCol="0" anchor="ctr"/>
          <a:lstStyle/>
          <a:p>
            <a:pPr marL="0" indent="0">
              <a:buNone/>
            </a:pPr>
            <a:r>
              <a:rPr lang="en-US" sz="1150" dirty="0">
                <a:solidFill>
                  <a:srgbClr val="2C3E50"/>
                </a:solidFill>
                <a:latin typeface="Calibri" pitchFamily="34" charset="0"/>
                <a:ea typeface="Calibri" pitchFamily="34" charset="-122"/>
                <a:cs typeface="Calibri" pitchFamily="34" charset="-120"/>
              </a:rPr>
              <a:t>jobs, filters, fetchJobs, filteredJobs</a:t>
            </a:r>
            <a:endParaRPr lang="en-US" sz="1150" dirty="0"/>
          </a:p>
        </p:txBody>
      </p:sp>
      <p:sp>
        <p:nvSpPr>
          <p:cNvPr id="18" name="Text 15"/>
          <p:cNvSpPr/>
          <p:nvPr/>
        </p:nvSpPr>
        <p:spPr>
          <a:xfrm>
            <a:off x="9445752" y="2578608"/>
            <a:ext cx="2011680" cy="402336"/>
          </a:xfrm>
          <a:prstGeom prst="rect">
            <a:avLst/>
          </a:prstGeom>
          <a:noFill/>
          <a:ln/>
        </p:spPr>
        <p:txBody>
          <a:bodyPr wrap="square" lIns="0" tIns="0" rIns="0" bIns="0" rtlCol="0" anchor="ctr"/>
          <a:lstStyle/>
          <a:p>
            <a:pPr marL="0" indent="0">
              <a:buNone/>
            </a:pPr>
            <a:r>
              <a:rPr lang="en-US" sz="1050" dirty="0">
                <a:solidFill>
                  <a:srgbClr val="9AAAB6"/>
                </a:solidFill>
                <a:latin typeface="Courier New" pitchFamily="34" charset="0"/>
                <a:ea typeface="Courier New" pitchFamily="34" charset="-122"/>
                <a:cs typeface="Courier New" pitchFamily="34" charset="-120"/>
              </a:rPr>
              <a:t>—</a:t>
            </a:r>
            <a:endParaRPr lang="en-US" sz="1050" dirty="0"/>
          </a:p>
        </p:txBody>
      </p:sp>
      <p:sp>
        <p:nvSpPr>
          <p:cNvPr id="19" name="Shape 16"/>
          <p:cNvSpPr/>
          <p:nvPr/>
        </p:nvSpPr>
        <p:spPr>
          <a:xfrm>
            <a:off x="548640" y="2980944"/>
            <a:ext cx="11091672" cy="402336"/>
          </a:xfrm>
          <a:prstGeom prst="rect">
            <a:avLst/>
          </a:prstGeom>
          <a:solidFill>
            <a:srgbClr val="FFFFFF"/>
          </a:solidFill>
          <a:ln w="12700">
            <a:solidFill>
              <a:srgbClr val="DCE5EB"/>
            </a:solidFill>
            <a:prstDash val="solid"/>
          </a:ln>
        </p:spPr>
      </p:sp>
      <p:sp>
        <p:nvSpPr>
          <p:cNvPr id="20" name="Text 17"/>
          <p:cNvSpPr/>
          <p:nvPr/>
        </p:nvSpPr>
        <p:spPr>
          <a:xfrm>
            <a:off x="731520" y="2980944"/>
            <a:ext cx="2103120" cy="402336"/>
          </a:xfrm>
          <a:prstGeom prst="rect">
            <a:avLst/>
          </a:prstGeom>
          <a:noFill/>
          <a:ln/>
        </p:spPr>
        <p:txBody>
          <a:bodyPr wrap="square" lIns="0" tIns="0" rIns="0" bIns="0" rtlCol="0" anchor="ctr"/>
          <a:lstStyle/>
          <a:p>
            <a:pPr marL="0" indent="0">
              <a:buNone/>
            </a:pPr>
            <a:r>
              <a:rPr lang="en-US" sz="1100" b="1" dirty="0">
                <a:solidFill>
                  <a:srgbClr val="A6760C"/>
                </a:solidFill>
                <a:latin typeface="Courier New" pitchFamily="34" charset="0"/>
                <a:ea typeface="Courier New" pitchFamily="34" charset="-122"/>
                <a:cs typeface="Courier New" pitchFamily="34" charset="-120"/>
              </a:rPr>
              <a:t>watchlist.js</a:t>
            </a:r>
            <a:endParaRPr lang="en-US" sz="1100" dirty="0"/>
          </a:p>
        </p:txBody>
      </p:sp>
      <p:sp>
        <p:nvSpPr>
          <p:cNvPr id="21" name="Text 18"/>
          <p:cNvSpPr/>
          <p:nvPr/>
        </p:nvSpPr>
        <p:spPr>
          <a:xfrm>
            <a:off x="3017520" y="2980944"/>
            <a:ext cx="6153912" cy="402336"/>
          </a:xfrm>
          <a:prstGeom prst="rect">
            <a:avLst/>
          </a:prstGeom>
          <a:noFill/>
          <a:ln/>
        </p:spPr>
        <p:txBody>
          <a:bodyPr wrap="square" lIns="0" tIns="0" rIns="0" bIns="0" rtlCol="0" anchor="ctr"/>
          <a:lstStyle/>
          <a:p>
            <a:pPr marL="0" indent="0">
              <a:buNone/>
            </a:pPr>
            <a:r>
              <a:rPr lang="en-US" sz="1150" dirty="0">
                <a:solidFill>
                  <a:srgbClr val="2C3E50"/>
                </a:solidFill>
                <a:latin typeface="Calibri" pitchFamily="34" charset="0"/>
                <a:ea typeface="Calibri" pitchFamily="34" charset="-122"/>
                <a:cs typeface="Calibri" pitchFamily="34" charset="-120"/>
              </a:rPr>
              <a:t>savedJobIds, isSaved, toggleSave (uses auth)</a:t>
            </a:r>
            <a:endParaRPr lang="en-US" sz="1150" dirty="0"/>
          </a:p>
        </p:txBody>
      </p:sp>
      <p:sp>
        <p:nvSpPr>
          <p:cNvPr id="22" name="Text 19"/>
          <p:cNvSpPr/>
          <p:nvPr/>
        </p:nvSpPr>
        <p:spPr>
          <a:xfrm>
            <a:off x="9445752" y="2980944"/>
            <a:ext cx="2011680" cy="402336"/>
          </a:xfrm>
          <a:prstGeom prst="rect">
            <a:avLst/>
          </a:prstGeom>
          <a:noFill/>
          <a:ln/>
        </p:spPr>
        <p:txBody>
          <a:bodyPr wrap="square" lIns="0" tIns="0" rIns="0" bIns="0" rtlCol="0" anchor="ctr"/>
          <a:lstStyle/>
          <a:p>
            <a:pPr marL="0" indent="0">
              <a:buNone/>
            </a:pPr>
            <a:r>
              <a:rPr lang="en-US" sz="1050" dirty="0">
                <a:solidFill>
                  <a:srgbClr val="42B883"/>
                </a:solidFill>
                <a:latin typeface="Courier New" pitchFamily="34" charset="0"/>
                <a:ea typeface="Courier New" pitchFamily="34" charset="-122"/>
                <a:cs typeface="Courier New" pitchFamily="34" charset="-120"/>
              </a:rPr>
              <a:t>savedJobIds</a:t>
            </a:r>
            <a:endParaRPr lang="en-US" sz="1050" dirty="0"/>
          </a:p>
        </p:txBody>
      </p:sp>
      <p:sp>
        <p:nvSpPr>
          <p:cNvPr id="23" name="Shape 20"/>
          <p:cNvSpPr/>
          <p:nvPr/>
        </p:nvSpPr>
        <p:spPr>
          <a:xfrm>
            <a:off x="548640" y="3383280"/>
            <a:ext cx="11091672" cy="402336"/>
          </a:xfrm>
          <a:prstGeom prst="rect">
            <a:avLst/>
          </a:prstGeom>
          <a:solidFill>
            <a:srgbClr val="F4F7F9"/>
          </a:solidFill>
          <a:ln w="12700">
            <a:solidFill>
              <a:srgbClr val="DCE5EB"/>
            </a:solidFill>
            <a:prstDash val="solid"/>
          </a:ln>
        </p:spPr>
      </p:sp>
      <p:sp>
        <p:nvSpPr>
          <p:cNvPr id="24" name="Text 21"/>
          <p:cNvSpPr/>
          <p:nvPr/>
        </p:nvSpPr>
        <p:spPr>
          <a:xfrm>
            <a:off x="731520" y="3383280"/>
            <a:ext cx="2103120" cy="402336"/>
          </a:xfrm>
          <a:prstGeom prst="rect">
            <a:avLst/>
          </a:prstGeom>
          <a:noFill/>
          <a:ln/>
        </p:spPr>
        <p:txBody>
          <a:bodyPr wrap="square" lIns="0" tIns="0" rIns="0" bIns="0" rtlCol="0" anchor="ctr"/>
          <a:lstStyle/>
          <a:p>
            <a:pPr marL="0" indent="0">
              <a:buNone/>
            </a:pPr>
            <a:r>
              <a:rPr lang="en-US" sz="1100" b="1" dirty="0">
                <a:solidFill>
                  <a:srgbClr val="A6760C"/>
                </a:solidFill>
                <a:latin typeface="Courier New" pitchFamily="34" charset="0"/>
                <a:ea typeface="Courier New" pitchFamily="34" charset="-122"/>
                <a:cs typeface="Courier New" pitchFamily="34" charset="-120"/>
              </a:rPr>
              <a:t>applications.js</a:t>
            </a:r>
            <a:endParaRPr lang="en-US" sz="1100" dirty="0"/>
          </a:p>
        </p:txBody>
      </p:sp>
      <p:sp>
        <p:nvSpPr>
          <p:cNvPr id="25" name="Text 22"/>
          <p:cNvSpPr/>
          <p:nvPr/>
        </p:nvSpPr>
        <p:spPr>
          <a:xfrm>
            <a:off x="3017520" y="3383280"/>
            <a:ext cx="6153912" cy="402336"/>
          </a:xfrm>
          <a:prstGeom prst="rect">
            <a:avLst/>
          </a:prstGeom>
          <a:noFill/>
          <a:ln/>
        </p:spPr>
        <p:txBody>
          <a:bodyPr wrap="square" lIns="0" tIns="0" rIns="0" bIns="0" rtlCol="0" anchor="ctr"/>
          <a:lstStyle/>
          <a:p>
            <a:pPr marL="0" indent="0">
              <a:buNone/>
            </a:pPr>
            <a:r>
              <a:rPr lang="en-US" sz="1150" dirty="0">
                <a:solidFill>
                  <a:srgbClr val="2C3E50"/>
                </a:solidFill>
                <a:latin typeface="Calibri" pitchFamily="34" charset="0"/>
                <a:ea typeface="Calibri" pitchFamily="34" charset="-122"/>
                <a:cs typeface="Calibri" pitchFamily="34" charset="-120"/>
              </a:rPr>
              <a:t>submit(jobId, form), myApplications</a:t>
            </a:r>
            <a:endParaRPr lang="en-US" sz="1150" dirty="0"/>
          </a:p>
        </p:txBody>
      </p:sp>
      <p:sp>
        <p:nvSpPr>
          <p:cNvPr id="26" name="Text 23"/>
          <p:cNvSpPr/>
          <p:nvPr/>
        </p:nvSpPr>
        <p:spPr>
          <a:xfrm>
            <a:off x="9445752" y="3383280"/>
            <a:ext cx="2011680" cy="402336"/>
          </a:xfrm>
          <a:prstGeom prst="rect">
            <a:avLst/>
          </a:prstGeom>
          <a:noFill/>
          <a:ln/>
        </p:spPr>
        <p:txBody>
          <a:bodyPr wrap="square" lIns="0" tIns="0" rIns="0" bIns="0" rtlCol="0" anchor="ctr"/>
          <a:lstStyle/>
          <a:p>
            <a:pPr marL="0" indent="0">
              <a:buNone/>
            </a:pPr>
            <a:r>
              <a:rPr lang="en-US" sz="1050" dirty="0">
                <a:solidFill>
                  <a:srgbClr val="42B883"/>
                </a:solidFill>
                <a:latin typeface="Courier New" pitchFamily="34" charset="0"/>
                <a:ea typeface="Courier New" pitchFamily="34" charset="-122"/>
                <a:cs typeface="Courier New" pitchFamily="34" charset="-120"/>
              </a:rPr>
              <a:t>applications</a:t>
            </a:r>
            <a:endParaRPr lang="en-US" sz="1050" dirty="0"/>
          </a:p>
        </p:txBody>
      </p:sp>
      <p:sp>
        <p:nvSpPr>
          <p:cNvPr id="27" name="Shape 24"/>
          <p:cNvSpPr/>
          <p:nvPr/>
        </p:nvSpPr>
        <p:spPr>
          <a:xfrm>
            <a:off x="548640" y="3785616"/>
            <a:ext cx="11091672" cy="402336"/>
          </a:xfrm>
          <a:prstGeom prst="rect">
            <a:avLst/>
          </a:prstGeom>
          <a:solidFill>
            <a:srgbClr val="FFFFFF"/>
          </a:solidFill>
          <a:ln w="12700">
            <a:solidFill>
              <a:srgbClr val="DCE5EB"/>
            </a:solidFill>
            <a:prstDash val="solid"/>
          </a:ln>
        </p:spPr>
      </p:sp>
      <p:sp>
        <p:nvSpPr>
          <p:cNvPr id="28" name="Text 25"/>
          <p:cNvSpPr/>
          <p:nvPr/>
        </p:nvSpPr>
        <p:spPr>
          <a:xfrm>
            <a:off x="731520" y="3785616"/>
            <a:ext cx="2103120" cy="402336"/>
          </a:xfrm>
          <a:prstGeom prst="rect">
            <a:avLst/>
          </a:prstGeom>
          <a:noFill/>
          <a:ln/>
        </p:spPr>
        <p:txBody>
          <a:bodyPr wrap="square" lIns="0" tIns="0" rIns="0" bIns="0" rtlCol="0" anchor="ctr"/>
          <a:lstStyle/>
          <a:p>
            <a:pPr marL="0" indent="0">
              <a:buNone/>
            </a:pPr>
            <a:r>
              <a:rPr lang="en-US" sz="1100" b="1" dirty="0">
                <a:solidFill>
                  <a:srgbClr val="A6760C"/>
                </a:solidFill>
                <a:latin typeface="Courier New" pitchFamily="34" charset="0"/>
                <a:ea typeface="Courier New" pitchFamily="34" charset="-122"/>
                <a:cs typeface="Courier New" pitchFamily="34" charset="-120"/>
              </a:rPr>
              <a:t>notifications.js</a:t>
            </a:r>
            <a:endParaRPr lang="en-US" sz="1100" dirty="0"/>
          </a:p>
        </p:txBody>
      </p:sp>
      <p:sp>
        <p:nvSpPr>
          <p:cNvPr id="29" name="Text 26"/>
          <p:cNvSpPr/>
          <p:nvPr/>
        </p:nvSpPr>
        <p:spPr>
          <a:xfrm>
            <a:off x="3017520" y="3785616"/>
            <a:ext cx="6153912" cy="402336"/>
          </a:xfrm>
          <a:prstGeom prst="rect">
            <a:avLst/>
          </a:prstGeom>
          <a:noFill/>
          <a:ln/>
        </p:spPr>
        <p:txBody>
          <a:bodyPr wrap="square" lIns="0" tIns="0" rIns="0" bIns="0" rtlCol="0" anchor="ctr"/>
          <a:lstStyle/>
          <a:p>
            <a:pPr marL="0" indent="0">
              <a:buNone/>
            </a:pPr>
            <a:r>
              <a:rPr lang="en-US" sz="1150" dirty="0">
                <a:solidFill>
                  <a:srgbClr val="2C3E50"/>
                </a:solidFill>
                <a:latin typeface="Calibri" pitchFamily="34" charset="0"/>
                <a:ea typeface="Calibri" pitchFamily="34" charset="-122"/>
                <a:cs typeface="Calibri" pitchFamily="34" charset="-120"/>
              </a:rPr>
              <a:t>toasts, add, remove, clearAll</a:t>
            </a:r>
            <a:endParaRPr lang="en-US" sz="1150" dirty="0"/>
          </a:p>
        </p:txBody>
      </p:sp>
      <p:sp>
        <p:nvSpPr>
          <p:cNvPr id="30" name="Text 27"/>
          <p:cNvSpPr/>
          <p:nvPr/>
        </p:nvSpPr>
        <p:spPr>
          <a:xfrm>
            <a:off x="9445752" y="3785616"/>
            <a:ext cx="2011680" cy="402336"/>
          </a:xfrm>
          <a:prstGeom prst="rect">
            <a:avLst/>
          </a:prstGeom>
          <a:noFill/>
          <a:ln/>
        </p:spPr>
        <p:txBody>
          <a:bodyPr wrap="square" lIns="0" tIns="0" rIns="0" bIns="0" rtlCol="0" anchor="ctr"/>
          <a:lstStyle/>
          <a:p>
            <a:pPr marL="0" indent="0">
              <a:buNone/>
            </a:pPr>
            <a:r>
              <a:rPr lang="en-US" sz="1050" dirty="0">
                <a:solidFill>
                  <a:srgbClr val="9AAAB6"/>
                </a:solidFill>
                <a:latin typeface="Courier New" pitchFamily="34" charset="0"/>
                <a:ea typeface="Courier New" pitchFamily="34" charset="-122"/>
                <a:cs typeface="Courier New" pitchFamily="34" charset="-120"/>
              </a:rPr>
              <a:t>—</a:t>
            </a:r>
            <a:endParaRPr lang="en-US" sz="1050" dirty="0"/>
          </a:p>
        </p:txBody>
      </p:sp>
      <p:sp>
        <p:nvSpPr>
          <p:cNvPr id="31" name="Shape 28"/>
          <p:cNvSpPr/>
          <p:nvPr/>
        </p:nvSpPr>
        <p:spPr>
          <a:xfrm>
            <a:off x="548640" y="4187952"/>
            <a:ext cx="11091672" cy="402336"/>
          </a:xfrm>
          <a:prstGeom prst="rect">
            <a:avLst/>
          </a:prstGeom>
          <a:solidFill>
            <a:srgbClr val="F4F7F9"/>
          </a:solidFill>
          <a:ln w="12700">
            <a:solidFill>
              <a:srgbClr val="DCE5EB"/>
            </a:solidFill>
            <a:prstDash val="solid"/>
          </a:ln>
        </p:spPr>
      </p:sp>
      <p:sp>
        <p:nvSpPr>
          <p:cNvPr id="32" name="Text 29"/>
          <p:cNvSpPr/>
          <p:nvPr/>
        </p:nvSpPr>
        <p:spPr>
          <a:xfrm>
            <a:off x="731520" y="4187952"/>
            <a:ext cx="2103120" cy="402336"/>
          </a:xfrm>
          <a:prstGeom prst="rect">
            <a:avLst/>
          </a:prstGeom>
          <a:noFill/>
          <a:ln/>
        </p:spPr>
        <p:txBody>
          <a:bodyPr wrap="square" lIns="0" tIns="0" rIns="0" bIns="0" rtlCol="0" anchor="ctr"/>
          <a:lstStyle/>
          <a:p>
            <a:pPr marL="0" indent="0">
              <a:buNone/>
            </a:pPr>
            <a:r>
              <a:rPr lang="en-US" sz="1100" b="1" dirty="0">
                <a:solidFill>
                  <a:srgbClr val="A6760C"/>
                </a:solidFill>
                <a:latin typeface="Courier New" pitchFamily="34" charset="0"/>
                <a:ea typeface="Courier New" pitchFamily="34" charset="-122"/>
                <a:cs typeface="Courier New" pitchFamily="34" charset="-120"/>
              </a:rPr>
              <a:t>ui.js</a:t>
            </a:r>
            <a:endParaRPr lang="en-US" sz="1100" dirty="0"/>
          </a:p>
        </p:txBody>
      </p:sp>
      <p:sp>
        <p:nvSpPr>
          <p:cNvPr id="33" name="Text 30"/>
          <p:cNvSpPr/>
          <p:nvPr/>
        </p:nvSpPr>
        <p:spPr>
          <a:xfrm>
            <a:off x="3017520" y="4187952"/>
            <a:ext cx="6153912" cy="402336"/>
          </a:xfrm>
          <a:prstGeom prst="rect">
            <a:avLst/>
          </a:prstGeom>
          <a:noFill/>
          <a:ln/>
        </p:spPr>
        <p:txBody>
          <a:bodyPr wrap="square" lIns="0" tIns="0" rIns="0" bIns="0" rtlCol="0" anchor="ctr"/>
          <a:lstStyle/>
          <a:p>
            <a:pPr marL="0" indent="0">
              <a:buNone/>
            </a:pPr>
            <a:r>
              <a:rPr lang="en-US" sz="1150" dirty="0">
                <a:solidFill>
                  <a:srgbClr val="2C3E50"/>
                </a:solidFill>
                <a:latin typeface="Calibri" pitchFamily="34" charset="0"/>
                <a:ea typeface="Calibri" pitchFamily="34" charset="-122"/>
                <a:cs typeface="Calibri" pitchFamily="34" charset="-120"/>
              </a:rPr>
              <a:t>activeModal, theme, isMobileMenuOpen</a:t>
            </a:r>
            <a:endParaRPr lang="en-US" sz="1150" dirty="0"/>
          </a:p>
        </p:txBody>
      </p:sp>
      <p:sp>
        <p:nvSpPr>
          <p:cNvPr id="34" name="Text 31"/>
          <p:cNvSpPr/>
          <p:nvPr/>
        </p:nvSpPr>
        <p:spPr>
          <a:xfrm>
            <a:off x="9445752" y="4187952"/>
            <a:ext cx="2011680" cy="402336"/>
          </a:xfrm>
          <a:prstGeom prst="rect">
            <a:avLst/>
          </a:prstGeom>
          <a:noFill/>
          <a:ln/>
        </p:spPr>
        <p:txBody>
          <a:bodyPr wrap="square" lIns="0" tIns="0" rIns="0" bIns="0" rtlCol="0" anchor="ctr"/>
          <a:lstStyle/>
          <a:p>
            <a:pPr marL="0" indent="0">
              <a:buNone/>
            </a:pPr>
            <a:r>
              <a:rPr lang="en-US" sz="1050" dirty="0">
                <a:solidFill>
                  <a:srgbClr val="42B883"/>
                </a:solidFill>
                <a:latin typeface="Courier New" pitchFamily="34" charset="0"/>
                <a:ea typeface="Courier New" pitchFamily="34" charset="-122"/>
                <a:cs typeface="Courier New" pitchFamily="34" charset="-120"/>
              </a:rPr>
              <a:t>theme</a:t>
            </a:r>
            <a:endParaRPr lang="en-US" sz="1050" dirty="0"/>
          </a:p>
        </p:txBody>
      </p:sp>
      <p:sp>
        <p:nvSpPr>
          <p:cNvPr id="35" name="Shape 32"/>
          <p:cNvSpPr/>
          <p:nvPr/>
        </p:nvSpPr>
        <p:spPr>
          <a:xfrm>
            <a:off x="548640" y="4754880"/>
            <a:ext cx="3575304" cy="1298448"/>
          </a:xfrm>
          <a:prstGeom prst="roundRect">
            <a:avLst>
              <a:gd name="adj" fmla="val 5634"/>
            </a:avLst>
          </a:prstGeom>
          <a:solidFill>
            <a:srgbClr val="FCF4E0"/>
          </a:solidFill>
          <a:ln w="12700">
            <a:solidFill>
              <a:srgbClr val="DCE5EB"/>
            </a:solidFill>
            <a:prstDash val="solid"/>
          </a:ln>
        </p:spPr>
      </p:sp>
      <p:sp>
        <p:nvSpPr>
          <p:cNvPr id="36" name="Shape 33"/>
          <p:cNvSpPr/>
          <p:nvPr/>
        </p:nvSpPr>
        <p:spPr>
          <a:xfrm>
            <a:off x="749808" y="4956048"/>
            <a:ext cx="420624" cy="420624"/>
          </a:xfrm>
          <a:prstGeom prst="ellipse">
            <a:avLst/>
          </a:prstGeom>
          <a:solidFill>
            <a:srgbClr val="E0A21B"/>
          </a:solidFill>
          <a:ln/>
        </p:spPr>
      </p:sp>
      <p:sp>
        <p:nvSpPr>
          <p:cNvPr id="37" name="Text 34"/>
          <p:cNvSpPr/>
          <p:nvPr/>
        </p:nvSpPr>
        <p:spPr>
          <a:xfrm>
            <a:off x="749808" y="4956048"/>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38" name="Text 35"/>
          <p:cNvSpPr/>
          <p:nvPr/>
        </p:nvSpPr>
        <p:spPr>
          <a:xfrm>
            <a:off x="1280160" y="4937760"/>
            <a:ext cx="2660904" cy="457200"/>
          </a:xfrm>
          <a:prstGeom prst="rect">
            <a:avLst/>
          </a:prstGeom>
          <a:noFill/>
          <a:ln/>
        </p:spPr>
        <p:txBody>
          <a:bodyPr wrap="square" lIns="0" tIns="0" rIns="0" bIns="0" rtlCol="0" anchor="ctr"/>
          <a:lstStyle/>
          <a:p>
            <a:pPr marL="0" indent="0">
              <a:lnSpc>
                <a:spcPts val="1300"/>
              </a:lnSpc>
              <a:buNone/>
            </a:pPr>
            <a:r>
              <a:rPr lang="en-US" sz="1250" b="1" dirty="0">
                <a:solidFill>
                  <a:srgbClr val="2C3E50"/>
                </a:solidFill>
                <a:latin typeface="Calibri" pitchFamily="34" charset="0"/>
                <a:ea typeface="Calibri" pitchFamily="34" charset="-122"/>
                <a:cs typeface="Calibri" pitchFamily="34" charset="-120"/>
              </a:rPr>
              <a:t>Part A — Store Implementation</a:t>
            </a:r>
            <a:endParaRPr lang="en-US" sz="1250" dirty="0"/>
          </a:p>
        </p:txBody>
      </p:sp>
      <p:sp>
        <p:nvSpPr>
          <p:cNvPr id="39" name="Text 36"/>
          <p:cNvSpPr/>
          <p:nvPr/>
        </p:nvSpPr>
        <p:spPr>
          <a:xfrm>
            <a:off x="768096" y="5431536"/>
            <a:ext cx="3136392" cy="548640"/>
          </a:xfrm>
          <a:prstGeom prst="rect">
            <a:avLst/>
          </a:prstGeom>
          <a:noFill/>
          <a:ln/>
        </p:spPr>
        <p:txBody>
          <a:bodyPr wrap="square" lIns="0" tIns="0" rIns="0" bIns="0" rtlCol="0" anchor="t"/>
          <a:lstStyle/>
          <a:p>
            <a:pPr marL="0" indent="0">
              <a:lnSpc>
                <a:spcPts val="1250"/>
              </a:lnSpc>
              <a:buNone/>
            </a:pPr>
            <a:r>
              <a:rPr lang="en-US" sz="1050" dirty="0">
                <a:solidFill>
                  <a:srgbClr val="6B7C8C"/>
                </a:solidFill>
                <a:latin typeface="Calibri" pitchFamily="34" charset="0"/>
                <a:ea typeface="Calibri" pitchFamily="34" charset="-122"/>
                <a:cs typeface="Calibri" pitchFamily="34" charset="-120"/>
              </a:rPr>
              <a:t>All 6 stores in Setup syntax; filteredJobs computed; cross-store auth check + $onAction toast.</a:t>
            </a:r>
            <a:endParaRPr lang="en-US" sz="1050" dirty="0"/>
          </a:p>
        </p:txBody>
      </p:sp>
      <p:sp>
        <p:nvSpPr>
          <p:cNvPr id="40" name="Shape 37"/>
          <p:cNvSpPr/>
          <p:nvPr/>
        </p:nvSpPr>
        <p:spPr>
          <a:xfrm>
            <a:off x="4306824" y="4754880"/>
            <a:ext cx="3575304" cy="1298448"/>
          </a:xfrm>
          <a:prstGeom prst="roundRect">
            <a:avLst>
              <a:gd name="adj" fmla="val 5634"/>
            </a:avLst>
          </a:prstGeom>
          <a:solidFill>
            <a:srgbClr val="FCF4E0"/>
          </a:solidFill>
          <a:ln w="12700">
            <a:solidFill>
              <a:srgbClr val="DCE5EB"/>
            </a:solidFill>
            <a:prstDash val="solid"/>
          </a:ln>
        </p:spPr>
      </p:sp>
      <p:sp>
        <p:nvSpPr>
          <p:cNvPr id="41" name="Shape 38"/>
          <p:cNvSpPr/>
          <p:nvPr/>
        </p:nvSpPr>
        <p:spPr>
          <a:xfrm>
            <a:off x="4507992" y="4956048"/>
            <a:ext cx="420624" cy="420624"/>
          </a:xfrm>
          <a:prstGeom prst="ellipse">
            <a:avLst/>
          </a:prstGeom>
          <a:solidFill>
            <a:srgbClr val="E0A21B"/>
          </a:solidFill>
          <a:ln/>
        </p:spPr>
      </p:sp>
      <p:sp>
        <p:nvSpPr>
          <p:cNvPr id="42" name="Text 39"/>
          <p:cNvSpPr/>
          <p:nvPr/>
        </p:nvSpPr>
        <p:spPr>
          <a:xfrm>
            <a:off x="4507992" y="4956048"/>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43" name="Text 40"/>
          <p:cNvSpPr/>
          <p:nvPr/>
        </p:nvSpPr>
        <p:spPr>
          <a:xfrm>
            <a:off x="5038344" y="4937760"/>
            <a:ext cx="2660904" cy="457200"/>
          </a:xfrm>
          <a:prstGeom prst="rect">
            <a:avLst/>
          </a:prstGeom>
          <a:noFill/>
          <a:ln/>
        </p:spPr>
        <p:txBody>
          <a:bodyPr wrap="square" lIns="0" tIns="0" rIns="0" bIns="0" rtlCol="0" anchor="ctr"/>
          <a:lstStyle/>
          <a:p>
            <a:pPr marL="0" indent="0">
              <a:lnSpc>
                <a:spcPts val="1300"/>
              </a:lnSpc>
              <a:buNone/>
            </a:pPr>
            <a:r>
              <a:rPr lang="en-US" sz="1250" b="1" dirty="0">
                <a:solidFill>
                  <a:srgbClr val="2C3E50"/>
                </a:solidFill>
                <a:latin typeface="Calibri" pitchFamily="34" charset="0"/>
                <a:ea typeface="Calibri" pitchFamily="34" charset="-122"/>
                <a:cs typeface="Calibri" pitchFamily="34" charset="-120"/>
              </a:rPr>
              <a:t>Part B — Router + Store</a:t>
            </a:r>
            <a:endParaRPr lang="en-US" sz="1250" dirty="0"/>
          </a:p>
        </p:txBody>
      </p:sp>
      <p:sp>
        <p:nvSpPr>
          <p:cNvPr id="44" name="Text 41"/>
          <p:cNvSpPr/>
          <p:nvPr/>
        </p:nvSpPr>
        <p:spPr>
          <a:xfrm>
            <a:off x="4526280" y="5431536"/>
            <a:ext cx="3136392" cy="548640"/>
          </a:xfrm>
          <a:prstGeom prst="rect">
            <a:avLst/>
          </a:prstGeom>
          <a:noFill/>
          <a:ln/>
        </p:spPr>
        <p:txBody>
          <a:bodyPr wrap="square" lIns="0" tIns="0" rIns="0" bIns="0" rtlCol="0" anchor="t"/>
          <a:lstStyle/>
          <a:p>
            <a:pPr marL="0" indent="0">
              <a:lnSpc>
                <a:spcPts val="1250"/>
              </a:lnSpc>
              <a:buNone/>
            </a:pPr>
            <a:r>
              <a:rPr lang="en-US" sz="1050" dirty="0">
                <a:solidFill>
                  <a:srgbClr val="6B7C8C"/>
                </a:solidFill>
                <a:latin typeface="Calibri" pitchFamily="34" charset="0"/>
                <a:ea typeface="Calibri" pitchFamily="34" charset="-122"/>
                <a:cs typeface="Calibri" pitchFamily="34" charset="-120"/>
              </a:rPr>
              <a:t>beforeEach uses auth; fetchUser() on token-without-user; per-route beforeEnter; afterEach title.</a:t>
            </a:r>
            <a:endParaRPr lang="en-US" sz="1050" dirty="0"/>
          </a:p>
        </p:txBody>
      </p:sp>
      <p:sp>
        <p:nvSpPr>
          <p:cNvPr id="45" name="Shape 42"/>
          <p:cNvSpPr/>
          <p:nvPr/>
        </p:nvSpPr>
        <p:spPr>
          <a:xfrm>
            <a:off x="8065008" y="4754880"/>
            <a:ext cx="3575304" cy="1298448"/>
          </a:xfrm>
          <a:prstGeom prst="roundRect">
            <a:avLst>
              <a:gd name="adj" fmla="val 5634"/>
            </a:avLst>
          </a:prstGeom>
          <a:solidFill>
            <a:srgbClr val="FCF4E0"/>
          </a:solidFill>
          <a:ln w="12700">
            <a:solidFill>
              <a:srgbClr val="DCE5EB"/>
            </a:solidFill>
            <a:prstDash val="solid"/>
          </a:ln>
        </p:spPr>
      </p:sp>
      <p:sp>
        <p:nvSpPr>
          <p:cNvPr id="46" name="Shape 43"/>
          <p:cNvSpPr/>
          <p:nvPr/>
        </p:nvSpPr>
        <p:spPr>
          <a:xfrm>
            <a:off x="8266176" y="4956048"/>
            <a:ext cx="420624" cy="420624"/>
          </a:xfrm>
          <a:prstGeom prst="ellipse">
            <a:avLst/>
          </a:prstGeom>
          <a:solidFill>
            <a:srgbClr val="E0A21B"/>
          </a:solidFill>
          <a:ln/>
        </p:spPr>
      </p:sp>
      <p:sp>
        <p:nvSpPr>
          <p:cNvPr id="47" name="Text 44"/>
          <p:cNvSpPr/>
          <p:nvPr/>
        </p:nvSpPr>
        <p:spPr>
          <a:xfrm>
            <a:off x="8266176" y="4956048"/>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48" name="Text 45"/>
          <p:cNvSpPr/>
          <p:nvPr/>
        </p:nvSpPr>
        <p:spPr>
          <a:xfrm>
            <a:off x="8796528" y="4937760"/>
            <a:ext cx="2660904" cy="457200"/>
          </a:xfrm>
          <a:prstGeom prst="rect">
            <a:avLst/>
          </a:prstGeom>
          <a:noFill/>
          <a:ln/>
        </p:spPr>
        <p:txBody>
          <a:bodyPr wrap="square" lIns="0" tIns="0" rIns="0" bIns="0" rtlCol="0" anchor="ctr"/>
          <a:lstStyle/>
          <a:p>
            <a:pPr marL="0" indent="0">
              <a:lnSpc>
                <a:spcPts val="1300"/>
              </a:lnSpc>
              <a:buNone/>
            </a:pPr>
            <a:r>
              <a:rPr lang="en-US" sz="1250" b="1" dirty="0">
                <a:solidFill>
                  <a:srgbClr val="2C3E50"/>
                </a:solidFill>
                <a:latin typeface="Calibri" pitchFamily="34" charset="0"/>
                <a:ea typeface="Calibri" pitchFamily="34" charset="-122"/>
                <a:cs typeface="Calibri" pitchFamily="34" charset="-120"/>
              </a:rPr>
              <a:t>Part C — Component Integration</a:t>
            </a:r>
            <a:endParaRPr lang="en-US" sz="1250" dirty="0"/>
          </a:p>
        </p:txBody>
      </p:sp>
      <p:sp>
        <p:nvSpPr>
          <p:cNvPr id="49" name="Text 46"/>
          <p:cNvSpPr/>
          <p:nvPr/>
        </p:nvSpPr>
        <p:spPr>
          <a:xfrm>
            <a:off x="8284464" y="5431536"/>
            <a:ext cx="3136392" cy="548640"/>
          </a:xfrm>
          <a:prstGeom prst="rect">
            <a:avLst/>
          </a:prstGeom>
          <a:noFill/>
          <a:ln/>
        </p:spPr>
        <p:txBody>
          <a:bodyPr wrap="square" lIns="0" tIns="0" rIns="0" bIns="0" rtlCol="0" anchor="t"/>
          <a:lstStyle/>
          <a:p>
            <a:pPr marL="0" indent="0">
              <a:lnSpc>
                <a:spcPts val="1250"/>
              </a:lnSpc>
              <a:buNone/>
            </a:pPr>
            <a:r>
              <a:rPr lang="en-US" sz="1050" dirty="0">
                <a:solidFill>
                  <a:srgbClr val="6B7C8C"/>
                </a:solidFill>
                <a:latin typeface="Calibri" pitchFamily="34" charset="0"/>
                <a:ea typeface="Calibri" pitchFamily="34" charset="-122"/>
                <a:cs typeface="Calibri" pitchFamily="34" charset="-120"/>
              </a:rPr>
              <a:t>Views read via storeToRefs; no prop drilling; theme persists to document.body.</a:t>
            </a:r>
            <a:endParaRPr lang="en-US" sz="1050" dirty="0"/>
          </a:p>
        </p:txBody>
      </p:sp>
      <p:sp>
        <p:nvSpPr>
          <p:cNvPr id="50" name="Text 47"/>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51" name="Text 48"/>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Homework</a:t>
            </a:r>
            <a:endParaRPr lang="en-US" sz="900" dirty="0"/>
          </a:p>
        </p:txBody>
      </p:sp>
      <p:sp>
        <p:nvSpPr>
          <p:cNvPr id="52" name="Text 49"/>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3"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4" name="Text 1"/>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A6760C"/>
                </a:solidFill>
                <a:latin typeface="Calibri" pitchFamily="34" charset="0"/>
                <a:ea typeface="Calibri" pitchFamily="34" charset="-122"/>
                <a:cs typeface="Calibri" pitchFamily="34" charset="-120"/>
              </a:rPr>
              <a:t>HOMEWORK · HOW IT'S GRADED</a:t>
            </a:r>
            <a:endParaRPr lang="en-US" sz="1200" dirty="0"/>
          </a:p>
        </p:txBody>
      </p:sp>
      <p:sp>
        <p:nvSpPr>
          <p:cNvPr id="5" name="Text 2"/>
          <p:cNvSpPr/>
          <p:nvPr/>
        </p:nvSpPr>
        <p:spPr>
          <a:xfrm>
            <a:off x="1298448" y="713232"/>
            <a:ext cx="10332720" cy="566928"/>
          </a:xfrm>
          <a:prstGeom prst="rect">
            <a:avLst/>
          </a:prstGeom>
          <a:noFill/>
          <a:ln/>
        </p:spPr>
        <p:txBody>
          <a:bodyPr wrap="square" lIns="0" tIns="0" rIns="0" bIns="0" rtlCol="0" anchor="ctr"/>
          <a:lstStyle/>
          <a:p>
            <a:pPr marL="0" indent="0" algn="l">
              <a:buNone/>
            </a:pPr>
            <a:r>
              <a:rPr lang="en-US" sz="2800" b="1" dirty="0">
                <a:solidFill>
                  <a:srgbClr val="2C3E50"/>
                </a:solidFill>
                <a:latin typeface="Cambria" pitchFamily="34" charset="0"/>
                <a:ea typeface="Cambria" pitchFamily="34" charset="-122"/>
                <a:cs typeface="Cambria" pitchFamily="34" charset="-120"/>
              </a:rPr>
              <a:t>Evaluation — 100 Points</a:t>
            </a:r>
            <a:endParaRPr lang="en-US" sz="2800" dirty="0"/>
          </a:p>
        </p:txBody>
      </p:sp>
      <p:sp>
        <p:nvSpPr>
          <p:cNvPr id="6" name="Shape 3"/>
          <p:cNvSpPr/>
          <p:nvPr/>
        </p:nvSpPr>
        <p:spPr>
          <a:xfrm>
            <a:off x="548640" y="1554480"/>
            <a:ext cx="11091672" cy="420624"/>
          </a:xfrm>
          <a:prstGeom prst="rect">
            <a:avLst/>
          </a:prstGeom>
          <a:solidFill>
            <a:srgbClr val="FFFFFF"/>
          </a:solidFill>
          <a:ln w="12700">
            <a:solidFill>
              <a:srgbClr val="DCE5EB"/>
            </a:solidFill>
            <a:prstDash val="solid"/>
          </a:ln>
        </p:spPr>
      </p:sp>
      <p:sp>
        <p:nvSpPr>
          <p:cNvPr id="7" name="Text 4"/>
          <p:cNvSpPr/>
          <p:nvPr/>
        </p:nvSpPr>
        <p:spPr>
          <a:xfrm>
            <a:off x="777240" y="1554480"/>
            <a:ext cx="9537192" cy="420624"/>
          </a:xfrm>
          <a:prstGeom prst="rect">
            <a:avLst/>
          </a:prstGeom>
          <a:noFill/>
          <a:ln/>
        </p:spPr>
        <p:txBody>
          <a:bodyPr wrap="square" lIns="0" tIns="0" rIns="0" bIns="0" rtlCol="0" anchor="ctr"/>
          <a:lstStyle/>
          <a:p>
            <a:pPr marL="0" indent="0">
              <a:buNone/>
            </a:pPr>
            <a:r>
              <a:rPr lang="en-US" sz="1200" dirty="0">
                <a:solidFill>
                  <a:srgbClr val="2C3E50"/>
                </a:solidFill>
                <a:latin typeface="Calibri" pitchFamily="34" charset="0"/>
                <a:ea typeface="Calibri" pitchFamily="34" charset="-122"/>
                <a:cs typeface="Calibri" pitchFamily="34" charset="-120"/>
              </a:rPr>
              <a:t>All 6 stores — correct Setup syntax &amp; return statements</a:t>
            </a:r>
            <a:endParaRPr lang="en-US" sz="1200" dirty="0"/>
          </a:p>
        </p:txBody>
      </p:sp>
      <p:sp>
        <p:nvSpPr>
          <p:cNvPr id="8" name="Shape 5"/>
          <p:cNvSpPr/>
          <p:nvPr/>
        </p:nvSpPr>
        <p:spPr>
          <a:xfrm>
            <a:off x="10588752" y="1627632"/>
            <a:ext cx="731520" cy="274320"/>
          </a:xfrm>
          <a:prstGeom prst="roundRect">
            <a:avLst>
              <a:gd name="adj" fmla="val 20000"/>
            </a:avLst>
          </a:prstGeom>
          <a:solidFill>
            <a:srgbClr val="FCF4E0"/>
          </a:solidFill>
          <a:ln/>
        </p:spPr>
      </p:sp>
      <p:sp>
        <p:nvSpPr>
          <p:cNvPr id="9" name="Text 6"/>
          <p:cNvSpPr/>
          <p:nvPr/>
        </p:nvSpPr>
        <p:spPr>
          <a:xfrm>
            <a:off x="10588752" y="1627632"/>
            <a:ext cx="731520" cy="274320"/>
          </a:xfrm>
          <a:prstGeom prst="rect">
            <a:avLst/>
          </a:prstGeom>
          <a:noFill/>
          <a:ln/>
        </p:spPr>
        <p:txBody>
          <a:bodyPr wrap="square" lIns="0" tIns="0" rIns="0" bIns="0" rtlCol="0" anchor="ctr"/>
          <a:lstStyle/>
          <a:p>
            <a:pPr marL="0" indent="0" algn="ctr">
              <a:buNone/>
            </a:pPr>
            <a:r>
              <a:rPr lang="en-US" sz="1150" b="1" dirty="0">
                <a:solidFill>
                  <a:srgbClr val="A6760C"/>
                </a:solidFill>
                <a:latin typeface="Calibri" pitchFamily="34" charset="0"/>
                <a:ea typeface="Calibri" pitchFamily="34" charset="-122"/>
                <a:cs typeface="Calibri" pitchFamily="34" charset="-120"/>
              </a:rPr>
              <a:t>20 pts</a:t>
            </a:r>
            <a:endParaRPr lang="en-US" sz="1150" dirty="0"/>
          </a:p>
        </p:txBody>
      </p:sp>
      <p:sp>
        <p:nvSpPr>
          <p:cNvPr id="10" name="Shape 7"/>
          <p:cNvSpPr/>
          <p:nvPr/>
        </p:nvSpPr>
        <p:spPr>
          <a:xfrm>
            <a:off x="548640" y="1975104"/>
            <a:ext cx="11091672" cy="420624"/>
          </a:xfrm>
          <a:prstGeom prst="rect">
            <a:avLst/>
          </a:prstGeom>
          <a:solidFill>
            <a:srgbClr val="F4F7F9"/>
          </a:solidFill>
          <a:ln w="12700">
            <a:solidFill>
              <a:srgbClr val="DCE5EB"/>
            </a:solidFill>
            <a:prstDash val="solid"/>
          </a:ln>
        </p:spPr>
      </p:sp>
      <p:sp>
        <p:nvSpPr>
          <p:cNvPr id="11" name="Text 8"/>
          <p:cNvSpPr/>
          <p:nvPr/>
        </p:nvSpPr>
        <p:spPr>
          <a:xfrm>
            <a:off x="777240" y="1975104"/>
            <a:ext cx="9537192" cy="420624"/>
          </a:xfrm>
          <a:prstGeom prst="rect">
            <a:avLst/>
          </a:prstGeom>
          <a:noFill/>
          <a:ln/>
        </p:spPr>
        <p:txBody>
          <a:bodyPr wrap="square" lIns="0" tIns="0" rIns="0" bIns="0" rtlCol="0" anchor="ctr"/>
          <a:lstStyle/>
          <a:p>
            <a:pPr marL="0" indent="0">
              <a:buNone/>
            </a:pPr>
            <a:r>
              <a:rPr lang="en-US" sz="1200" dirty="0">
                <a:solidFill>
                  <a:srgbClr val="2C3E50"/>
                </a:solidFill>
                <a:latin typeface="Calibri" pitchFamily="34" charset="0"/>
                <a:ea typeface="Calibri" pitchFamily="34" charset="-122"/>
                <a:cs typeface="Calibri" pitchFamily="34" charset="-120"/>
              </a:rPr>
              <a:t>useJobsStore: filteredJobs computed updates reactively</a:t>
            </a:r>
            <a:endParaRPr lang="en-US" sz="1200" dirty="0"/>
          </a:p>
        </p:txBody>
      </p:sp>
      <p:sp>
        <p:nvSpPr>
          <p:cNvPr id="12" name="Shape 9"/>
          <p:cNvSpPr/>
          <p:nvPr/>
        </p:nvSpPr>
        <p:spPr>
          <a:xfrm>
            <a:off x="10588752" y="2048256"/>
            <a:ext cx="731520" cy="274320"/>
          </a:xfrm>
          <a:prstGeom prst="roundRect">
            <a:avLst>
              <a:gd name="adj" fmla="val 20000"/>
            </a:avLst>
          </a:prstGeom>
          <a:solidFill>
            <a:srgbClr val="FCF4E0"/>
          </a:solidFill>
          <a:ln/>
        </p:spPr>
      </p:sp>
      <p:sp>
        <p:nvSpPr>
          <p:cNvPr id="13" name="Text 10"/>
          <p:cNvSpPr/>
          <p:nvPr/>
        </p:nvSpPr>
        <p:spPr>
          <a:xfrm>
            <a:off x="10588752" y="2048256"/>
            <a:ext cx="731520" cy="274320"/>
          </a:xfrm>
          <a:prstGeom prst="rect">
            <a:avLst/>
          </a:prstGeom>
          <a:noFill/>
          <a:ln/>
        </p:spPr>
        <p:txBody>
          <a:bodyPr wrap="square" lIns="0" tIns="0" rIns="0" bIns="0" rtlCol="0" anchor="ctr"/>
          <a:lstStyle/>
          <a:p>
            <a:pPr marL="0" indent="0" algn="ctr">
              <a:buNone/>
            </a:pPr>
            <a:r>
              <a:rPr lang="en-US" sz="1150" b="1" dirty="0">
                <a:solidFill>
                  <a:srgbClr val="A6760C"/>
                </a:solidFill>
                <a:latin typeface="Calibri" pitchFamily="34" charset="0"/>
                <a:ea typeface="Calibri" pitchFamily="34" charset="-122"/>
                <a:cs typeface="Calibri" pitchFamily="34" charset="-120"/>
              </a:rPr>
              <a:t>10 pts</a:t>
            </a:r>
            <a:endParaRPr lang="en-US" sz="1150" dirty="0"/>
          </a:p>
        </p:txBody>
      </p:sp>
      <p:sp>
        <p:nvSpPr>
          <p:cNvPr id="14" name="Shape 11"/>
          <p:cNvSpPr/>
          <p:nvPr/>
        </p:nvSpPr>
        <p:spPr>
          <a:xfrm>
            <a:off x="548640" y="2395728"/>
            <a:ext cx="11091672" cy="420624"/>
          </a:xfrm>
          <a:prstGeom prst="rect">
            <a:avLst/>
          </a:prstGeom>
          <a:solidFill>
            <a:srgbClr val="FFFFFF"/>
          </a:solidFill>
          <a:ln w="12700">
            <a:solidFill>
              <a:srgbClr val="DCE5EB"/>
            </a:solidFill>
            <a:prstDash val="solid"/>
          </a:ln>
        </p:spPr>
      </p:sp>
      <p:sp>
        <p:nvSpPr>
          <p:cNvPr id="15" name="Text 12"/>
          <p:cNvSpPr/>
          <p:nvPr/>
        </p:nvSpPr>
        <p:spPr>
          <a:xfrm>
            <a:off x="777240" y="2395728"/>
            <a:ext cx="9537192" cy="420624"/>
          </a:xfrm>
          <a:prstGeom prst="rect">
            <a:avLst/>
          </a:prstGeom>
          <a:noFill/>
          <a:ln/>
        </p:spPr>
        <p:txBody>
          <a:bodyPr wrap="square" lIns="0" tIns="0" rIns="0" bIns="0" rtlCol="0" anchor="ctr"/>
          <a:lstStyle/>
          <a:p>
            <a:pPr marL="0" indent="0">
              <a:buNone/>
            </a:pPr>
            <a:r>
              <a:rPr lang="en-US" sz="1200" dirty="0">
                <a:solidFill>
                  <a:srgbClr val="2C3E50"/>
                </a:solidFill>
                <a:latin typeface="Calibri" pitchFamily="34" charset="0"/>
                <a:ea typeface="Calibri" pitchFamily="34" charset="-122"/>
                <a:cs typeface="Calibri" pitchFamily="34" charset="-120"/>
              </a:rPr>
              <a:t>useApplicationStore: cross-store auth check + $onAction toast</a:t>
            </a:r>
            <a:endParaRPr lang="en-US" sz="1200" dirty="0"/>
          </a:p>
        </p:txBody>
      </p:sp>
      <p:sp>
        <p:nvSpPr>
          <p:cNvPr id="16" name="Shape 13"/>
          <p:cNvSpPr/>
          <p:nvPr/>
        </p:nvSpPr>
        <p:spPr>
          <a:xfrm>
            <a:off x="10588752" y="2468880"/>
            <a:ext cx="731520" cy="274320"/>
          </a:xfrm>
          <a:prstGeom prst="roundRect">
            <a:avLst>
              <a:gd name="adj" fmla="val 20000"/>
            </a:avLst>
          </a:prstGeom>
          <a:solidFill>
            <a:srgbClr val="FCF4E0"/>
          </a:solidFill>
          <a:ln/>
        </p:spPr>
      </p:sp>
      <p:sp>
        <p:nvSpPr>
          <p:cNvPr id="17" name="Text 14"/>
          <p:cNvSpPr/>
          <p:nvPr/>
        </p:nvSpPr>
        <p:spPr>
          <a:xfrm>
            <a:off x="10588752" y="2468880"/>
            <a:ext cx="731520" cy="274320"/>
          </a:xfrm>
          <a:prstGeom prst="rect">
            <a:avLst/>
          </a:prstGeom>
          <a:noFill/>
          <a:ln/>
        </p:spPr>
        <p:txBody>
          <a:bodyPr wrap="square" lIns="0" tIns="0" rIns="0" bIns="0" rtlCol="0" anchor="ctr"/>
          <a:lstStyle/>
          <a:p>
            <a:pPr marL="0" indent="0" algn="ctr">
              <a:buNone/>
            </a:pPr>
            <a:r>
              <a:rPr lang="en-US" sz="1150" b="1" dirty="0">
                <a:solidFill>
                  <a:srgbClr val="A6760C"/>
                </a:solidFill>
                <a:latin typeface="Calibri" pitchFamily="34" charset="0"/>
                <a:ea typeface="Calibri" pitchFamily="34" charset="-122"/>
                <a:cs typeface="Calibri" pitchFamily="34" charset="-120"/>
              </a:rPr>
              <a:t>10 pts</a:t>
            </a:r>
            <a:endParaRPr lang="en-US" sz="1150" dirty="0"/>
          </a:p>
        </p:txBody>
      </p:sp>
      <p:sp>
        <p:nvSpPr>
          <p:cNvPr id="18" name="Shape 15"/>
          <p:cNvSpPr/>
          <p:nvPr/>
        </p:nvSpPr>
        <p:spPr>
          <a:xfrm>
            <a:off x="548640" y="2816352"/>
            <a:ext cx="11091672" cy="420624"/>
          </a:xfrm>
          <a:prstGeom prst="rect">
            <a:avLst/>
          </a:prstGeom>
          <a:solidFill>
            <a:srgbClr val="F4F7F9"/>
          </a:solidFill>
          <a:ln w="12700">
            <a:solidFill>
              <a:srgbClr val="DCE5EB"/>
            </a:solidFill>
            <a:prstDash val="solid"/>
          </a:ln>
        </p:spPr>
      </p:sp>
      <p:sp>
        <p:nvSpPr>
          <p:cNvPr id="19" name="Text 16"/>
          <p:cNvSpPr/>
          <p:nvPr/>
        </p:nvSpPr>
        <p:spPr>
          <a:xfrm>
            <a:off x="777240" y="2816352"/>
            <a:ext cx="9537192" cy="420624"/>
          </a:xfrm>
          <a:prstGeom prst="rect">
            <a:avLst/>
          </a:prstGeom>
          <a:noFill/>
          <a:ln/>
        </p:spPr>
        <p:txBody>
          <a:bodyPr wrap="square" lIns="0" tIns="0" rIns="0" bIns="0" rtlCol="0" anchor="ctr"/>
          <a:lstStyle/>
          <a:p>
            <a:pPr marL="0" indent="0">
              <a:buNone/>
            </a:pPr>
            <a:r>
              <a:rPr lang="en-US" sz="1200" dirty="0">
                <a:solidFill>
                  <a:srgbClr val="2C3E50"/>
                </a:solidFill>
                <a:latin typeface="Calibri" pitchFamily="34" charset="0"/>
                <a:ea typeface="Calibri" pitchFamily="34" charset="-122"/>
                <a:cs typeface="Calibri" pitchFamily="34" charset="-120"/>
              </a:rPr>
              <a:t>Auth + Router: beforeEach uses store; fetchUser() on startup</a:t>
            </a:r>
            <a:endParaRPr lang="en-US" sz="1200" dirty="0"/>
          </a:p>
        </p:txBody>
      </p:sp>
      <p:sp>
        <p:nvSpPr>
          <p:cNvPr id="20" name="Shape 17"/>
          <p:cNvSpPr/>
          <p:nvPr/>
        </p:nvSpPr>
        <p:spPr>
          <a:xfrm>
            <a:off x="10588752" y="2889504"/>
            <a:ext cx="731520" cy="274320"/>
          </a:xfrm>
          <a:prstGeom prst="roundRect">
            <a:avLst>
              <a:gd name="adj" fmla="val 20000"/>
            </a:avLst>
          </a:prstGeom>
          <a:solidFill>
            <a:srgbClr val="FCF4E0"/>
          </a:solidFill>
          <a:ln/>
        </p:spPr>
      </p:sp>
      <p:sp>
        <p:nvSpPr>
          <p:cNvPr id="21" name="Text 18"/>
          <p:cNvSpPr/>
          <p:nvPr/>
        </p:nvSpPr>
        <p:spPr>
          <a:xfrm>
            <a:off x="10588752" y="2889504"/>
            <a:ext cx="731520" cy="274320"/>
          </a:xfrm>
          <a:prstGeom prst="rect">
            <a:avLst/>
          </a:prstGeom>
          <a:noFill/>
          <a:ln/>
        </p:spPr>
        <p:txBody>
          <a:bodyPr wrap="square" lIns="0" tIns="0" rIns="0" bIns="0" rtlCol="0" anchor="ctr"/>
          <a:lstStyle/>
          <a:p>
            <a:pPr marL="0" indent="0" algn="ctr">
              <a:buNone/>
            </a:pPr>
            <a:r>
              <a:rPr lang="en-US" sz="1150" b="1" dirty="0">
                <a:solidFill>
                  <a:srgbClr val="A6760C"/>
                </a:solidFill>
                <a:latin typeface="Calibri" pitchFamily="34" charset="0"/>
                <a:ea typeface="Calibri" pitchFamily="34" charset="-122"/>
                <a:cs typeface="Calibri" pitchFamily="34" charset="-120"/>
              </a:rPr>
              <a:t>15 pts</a:t>
            </a:r>
            <a:endParaRPr lang="en-US" sz="1150" dirty="0"/>
          </a:p>
        </p:txBody>
      </p:sp>
      <p:sp>
        <p:nvSpPr>
          <p:cNvPr id="22" name="Shape 19"/>
          <p:cNvSpPr/>
          <p:nvPr/>
        </p:nvSpPr>
        <p:spPr>
          <a:xfrm>
            <a:off x="548640" y="3236976"/>
            <a:ext cx="11091672" cy="420624"/>
          </a:xfrm>
          <a:prstGeom prst="rect">
            <a:avLst/>
          </a:prstGeom>
          <a:solidFill>
            <a:srgbClr val="FFFFFF"/>
          </a:solidFill>
          <a:ln w="12700">
            <a:solidFill>
              <a:srgbClr val="DCE5EB"/>
            </a:solidFill>
            <a:prstDash val="solid"/>
          </a:ln>
        </p:spPr>
      </p:sp>
      <p:sp>
        <p:nvSpPr>
          <p:cNvPr id="23" name="Text 20"/>
          <p:cNvSpPr/>
          <p:nvPr/>
        </p:nvSpPr>
        <p:spPr>
          <a:xfrm>
            <a:off x="777240" y="3236976"/>
            <a:ext cx="9537192" cy="420624"/>
          </a:xfrm>
          <a:prstGeom prst="rect">
            <a:avLst/>
          </a:prstGeom>
          <a:noFill/>
          <a:ln/>
        </p:spPr>
        <p:txBody>
          <a:bodyPr wrap="square" lIns="0" tIns="0" rIns="0" bIns="0" rtlCol="0" anchor="ctr"/>
          <a:lstStyle/>
          <a:p>
            <a:pPr marL="0" indent="0">
              <a:buNone/>
            </a:pPr>
            <a:r>
              <a:rPr lang="en-US" sz="1200" dirty="0">
                <a:solidFill>
                  <a:srgbClr val="2C3E50"/>
                </a:solidFill>
                <a:latin typeface="Calibri" pitchFamily="34" charset="0"/>
                <a:ea typeface="Calibri" pitchFamily="34" charset="-122"/>
                <a:cs typeface="Calibri" pitchFamily="34" charset="-120"/>
              </a:rPr>
              <a:t>Persistence: correct pick options on the right stores</a:t>
            </a:r>
            <a:endParaRPr lang="en-US" sz="1200" dirty="0"/>
          </a:p>
        </p:txBody>
      </p:sp>
      <p:sp>
        <p:nvSpPr>
          <p:cNvPr id="24" name="Shape 21"/>
          <p:cNvSpPr/>
          <p:nvPr/>
        </p:nvSpPr>
        <p:spPr>
          <a:xfrm>
            <a:off x="10588752" y="3310128"/>
            <a:ext cx="731520" cy="274320"/>
          </a:xfrm>
          <a:prstGeom prst="roundRect">
            <a:avLst>
              <a:gd name="adj" fmla="val 20000"/>
            </a:avLst>
          </a:prstGeom>
          <a:solidFill>
            <a:srgbClr val="FCF4E0"/>
          </a:solidFill>
          <a:ln/>
        </p:spPr>
      </p:sp>
      <p:sp>
        <p:nvSpPr>
          <p:cNvPr id="25" name="Text 22"/>
          <p:cNvSpPr/>
          <p:nvPr/>
        </p:nvSpPr>
        <p:spPr>
          <a:xfrm>
            <a:off x="10588752" y="3310128"/>
            <a:ext cx="731520" cy="274320"/>
          </a:xfrm>
          <a:prstGeom prst="rect">
            <a:avLst/>
          </a:prstGeom>
          <a:noFill/>
          <a:ln/>
        </p:spPr>
        <p:txBody>
          <a:bodyPr wrap="square" lIns="0" tIns="0" rIns="0" bIns="0" rtlCol="0" anchor="ctr"/>
          <a:lstStyle/>
          <a:p>
            <a:pPr marL="0" indent="0" algn="ctr">
              <a:buNone/>
            </a:pPr>
            <a:r>
              <a:rPr lang="en-US" sz="1150" b="1" dirty="0">
                <a:solidFill>
                  <a:srgbClr val="A6760C"/>
                </a:solidFill>
                <a:latin typeface="Calibri" pitchFamily="34" charset="0"/>
                <a:ea typeface="Calibri" pitchFamily="34" charset="-122"/>
                <a:cs typeface="Calibri" pitchFamily="34" charset="-120"/>
              </a:rPr>
              <a:t>10 pts</a:t>
            </a:r>
            <a:endParaRPr lang="en-US" sz="1150" dirty="0"/>
          </a:p>
        </p:txBody>
      </p:sp>
      <p:sp>
        <p:nvSpPr>
          <p:cNvPr id="26" name="Shape 23"/>
          <p:cNvSpPr/>
          <p:nvPr/>
        </p:nvSpPr>
        <p:spPr>
          <a:xfrm>
            <a:off x="548640" y="3657600"/>
            <a:ext cx="11091672" cy="420624"/>
          </a:xfrm>
          <a:prstGeom prst="rect">
            <a:avLst/>
          </a:prstGeom>
          <a:solidFill>
            <a:srgbClr val="F4F7F9"/>
          </a:solidFill>
          <a:ln w="12700">
            <a:solidFill>
              <a:srgbClr val="DCE5EB"/>
            </a:solidFill>
            <a:prstDash val="solid"/>
          </a:ln>
        </p:spPr>
      </p:sp>
      <p:sp>
        <p:nvSpPr>
          <p:cNvPr id="27" name="Text 24"/>
          <p:cNvSpPr/>
          <p:nvPr/>
        </p:nvSpPr>
        <p:spPr>
          <a:xfrm>
            <a:off x="777240" y="3657600"/>
            <a:ext cx="9537192" cy="420624"/>
          </a:xfrm>
          <a:prstGeom prst="rect">
            <a:avLst/>
          </a:prstGeom>
          <a:noFill/>
          <a:ln/>
        </p:spPr>
        <p:txBody>
          <a:bodyPr wrap="square" lIns="0" tIns="0" rIns="0" bIns="0" rtlCol="0" anchor="ctr"/>
          <a:lstStyle/>
          <a:p>
            <a:pPr marL="0" indent="0">
              <a:buNone/>
            </a:pPr>
            <a:r>
              <a:rPr lang="en-US" sz="1200" dirty="0">
                <a:solidFill>
                  <a:srgbClr val="2C3E50"/>
                </a:solidFill>
                <a:latin typeface="Calibri" pitchFamily="34" charset="0"/>
                <a:ea typeface="Calibri" pitchFamily="34" charset="-122"/>
                <a:cs typeface="Calibri" pitchFamily="34" charset="-120"/>
              </a:rPr>
              <a:t>storeToRefs for state/getters; actions destructured directly</a:t>
            </a:r>
            <a:endParaRPr lang="en-US" sz="1200" dirty="0"/>
          </a:p>
        </p:txBody>
      </p:sp>
      <p:sp>
        <p:nvSpPr>
          <p:cNvPr id="28" name="Shape 25"/>
          <p:cNvSpPr/>
          <p:nvPr/>
        </p:nvSpPr>
        <p:spPr>
          <a:xfrm>
            <a:off x="10588752" y="3730752"/>
            <a:ext cx="731520" cy="274320"/>
          </a:xfrm>
          <a:prstGeom prst="roundRect">
            <a:avLst>
              <a:gd name="adj" fmla="val 20000"/>
            </a:avLst>
          </a:prstGeom>
          <a:solidFill>
            <a:srgbClr val="FCF4E0"/>
          </a:solidFill>
          <a:ln/>
        </p:spPr>
      </p:sp>
      <p:sp>
        <p:nvSpPr>
          <p:cNvPr id="29" name="Text 26"/>
          <p:cNvSpPr/>
          <p:nvPr/>
        </p:nvSpPr>
        <p:spPr>
          <a:xfrm>
            <a:off x="10588752" y="3730752"/>
            <a:ext cx="731520" cy="274320"/>
          </a:xfrm>
          <a:prstGeom prst="rect">
            <a:avLst/>
          </a:prstGeom>
          <a:noFill/>
          <a:ln/>
        </p:spPr>
        <p:txBody>
          <a:bodyPr wrap="square" lIns="0" tIns="0" rIns="0" bIns="0" rtlCol="0" anchor="ctr"/>
          <a:lstStyle/>
          <a:p>
            <a:pPr marL="0" indent="0" algn="ctr">
              <a:buNone/>
            </a:pPr>
            <a:r>
              <a:rPr lang="en-US" sz="1150" b="1" dirty="0">
                <a:solidFill>
                  <a:srgbClr val="A6760C"/>
                </a:solidFill>
                <a:latin typeface="Calibri" pitchFamily="34" charset="0"/>
                <a:ea typeface="Calibri" pitchFamily="34" charset="-122"/>
                <a:cs typeface="Calibri" pitchFamily="34" charset="-120"/>
              </a:rPr>
              <a:t>10 pts</a:t>
            </a:r>
            <a:endParaRPr lang="en-US" sz="1150" dirty="0"/>
          </a:p>
        </p:txBody>
      </p:sp>
      <p:sp>
        <p:nvSpPr>
          <p:cNvPr id="30" name="Shape 27"/>
          <p:cNvSpPr/>
          <p:nvPr/>
        </p:nvSpPr>
        <p:spPr>
          <a:xfrm>
            <a:off x="548640" y="4078224"/>
            <a:ext cx="11091672" cy="420624"/>
          </a:xfrm>
          <a:prstGeom prst="rect">
            <a:avLst/>
          </a:prstGeom>
          <a:solidFill>
            <a:srgbClr val="FFFFFF"/>
          </a:solidFill>
          <a:ln w="12700">
            <a:solidFill>
              <a:srgbClr val="DCE5EB"/>
            </a:solidFill>
            <a:prstDash val="solid"/>
          </a:ln>
        </p:spPr>
      </p:sp>
      <p:sp>
        <p:nvSpPr>
          <p:cNvPr id="31" name="Text 28"/>
          <p:cNvSpPr/>
          <p:nvPr/>
        </p:nvSpPr>
        <p:spPr>
          <a:xfrm>
            <a:off x="777240" y="4078224"/>
            <a:ext cx="9537192" cy="420624"/>
          </a:xfrm>
          <a:prstGeom prst="rect">
            <a:avLst/>
          </a:prstGeom>
          <a:noFill/>
          <a:ln/>
        </p:spPr>
        <p:txBody>
          <a:bodyPr wrap="square" lIns="0" tIns="0" rIns="0" bIns="0" rtlCol="0" anchor="ctr"/>
          <a:lstStyle/>
          <a:p>
            <a:pPr marL="0" indent="0">
              <a:buNone/>
            </a:pPr>
            <a:r>
              <a:rPr lang="en-US" sz="1200" dirty="0">
                <a:solidFill>
                  <a:srgbClr val="2C3E50"/>
                </a:solidFill>
                <a:latin typeface="Calibri" pitchFamily="34" charset="0"/>
                <a:ea typeface="Calibri" pitchFamily="34" charset="-122"/>
                <a:cs typeface="Calibri" pitchFamily="34" charset="-120"/>
              </a:rPr>
              <a:t>useUIStore theme applies to document.body &amp; persists</a:t>
            </a:r>
            <a:endParaRPr lang="en-US" sz="1200" dirty="0"/>
          </a:p>
        </p:txBody>
      </p:sp>
      <p:sp>
        <p:nvSpPr>
          <p:cNvPr id="32" name="Shape 29"/>
          <p:cNvSpPr/>
          <p:nvPr/>
        </p:nvSpPr>
        <p:spPr>
          <a:xfrm>
            <a:off x="10588752" y="4151376"/>
            <a:ext cx="731520" cy="274320"/>
          </a:xfrm>
          <a:prstGeom prst="roundRect">
            <a:avLst>
              <a:gd name="adj" fmla="val 20000"/>
            </a:avLst>
          </a:prstGeom>
          <a:solidFill>
            <a:srgbClr val="FCF4E0"/>
          </a:solidFill>
          <a:ln/>
        </p:spPr>
      </p:sp>
      <p:sp>
        <p:nvSpPr>
          <p:cNvPr id="33" name="Text 30"/>
          <p:cNvSpPr/>
          <p:nvPr/>
        </p:nvSpPr>
        <p:spPr>
          <a:xfrm>
            <a:off x="10588752" y="4151376"/>
            <a:ext cx="731520" cy="274320"/>
          </a:xfrm>
          <a:prstGeom prst="rect">
            <a:avLst/>
          </a:prstGeom>
          <a:noFill/>
          <a:ln/>
        </p:spPr>
        <p:txBody>
          <a:bodyPr wrap="square" lIns="0" tIns="0" rIns="0" bIns="0" rtlCol="0" anchor="ctr"/>
          <a:lstStyle/>
          <a:p>
            <a:pPr marL="0" indent="0" algn="ctr">
              <a:buNone/>
            </a:pPr>
            <a:r>
              <a:rPr lang="en-US" sz="1150" b="1" dirty="0">
                <a:solidFill>
                  <a:srgbClr val="A6760C"/>
                </a:solidFill>
                <a:latin typeface="Calibri" pitchFamily="34" charset="0"/>
                <a:ea typeface="Calibri" pitchFamily="34" charset="-122"/>
                <a:cs typeface="Calibri" pitchFamily="34" charset="-120"/>
              </a:rPr>
              <a:t>10 pts</a:t>
            </a:r>
            <a:endParaRPr lang="en-US" sz="1150" dirty="0"/>
          </a:p>
        </p:txBody>
      </p:sp>
      <p:sp>
        <p:nvSpPr>
          <p:cNvPr id="34" name="Shape 31"/>
          <p:cNvSpPr/>
          <p:nvPr/>
        </p:nvSpPr>
        <p:spPr>
          <a:xfrm>
            <a:off x="548640" y="4498848"/>
            <a:ext cx="11091672" cy="420624"/>
          </a:xfrm>
          <a:prstGeom prst="rect">
            <a:avLst/>
          </a:prstGeom>
          <a:solidFill>
            <a:srgbClr val="F4F7F9"/>
          </a:solidFill>
          <a:ln w="12700">
            <a:solidFill>
              <a:srgbClr val="DCE5EB"/>
            </a:solidFill>
            <a:prstDash val="solid"/>
          </a:ln>
        </p:spPr>
      </p:sp>
      <p:sp>
        <p:nvSpPr>
          <p:cNvPr id="35" name="Text 32"/>
          <p:cNvSpPr/>
          <p:nvPr/>
        </p:nvSpPr>
        <p:spPr>
          <a:xfrm>
            <a:off x="777240" y="4498848"/>
            <a:ext cx="9537192" cy="420624"/>
          </a:xfrm>
          <a:prstGeom prst="rect">
            <a:avLst/>
          </a:prstGeom>
          <a:noFill/>
          <a:ln/>
        </p:spPr>
        <p:txBody>
          <a:bodyPr wrap="square" lIns="0" tIns="0" rIns="0" bIns="0" rtlCol="0" anchor="ctr"/>
          <a:lstStyle/>
          <a:p>
            <a:pPr marL="0" indent="0">
              <a:buNone/>
            </a:pPr>
            <a:r>
              <a:rPr lang="en-US" sz="1200" dirty="0">
                <a:solidFill>
                  <a:srgbClr val="2C3E50"/>
                </a:solidFill>
                <a:latin typeface="Calibri" pitchFamily="34" charset="0"/>
                <a:ea typeface="Calibri" pitchFamily="34" charset="-122"/>
                <a:cs typeface="Calibri" pitchFamily="34" charset="-120"/>
              </a:rPr>
              <a:t>No prop drilling — all shared state flows through stores</a:t>
            </a:r>
            <a:endParaRPr lang="en-US" sz="1200" dirty="0"/>
          </a:p>
        </p:txBody>
      </p:sp>
      <p:sp>
        <p:nvSpPr>
          <p:cNvPr id="36" name="Shape 33"/>
          <p:cNvSpPr/>
          <p:nvPr/>
        </p:nvSpPr>
        <p:spPr>
          <a:xfrm>
            <a:off x="10588752" y="4572000"/>
            <a:ext cx="731520" cy="274320"/>
          </a:xfrm>
          <a:prstGeom prst="roundRect">
            <a:avLst>
              <a:gd name="adj" fmla="val 20000"/>
            </a:avLst>
          </a:prstGeom>
          <a:solidFill>
            <a:srgbClr val="FCF4E0"/>
          </a:solidFill>
          <a:ln/>
        </p:spPr>
      </p:sp>
      <p:sp>
        <p:nvSpPr>
          <p:cNvPr id="37" name="Text 34"/>
          <p:cNvSpPr/>
          <p:nvPr/>
        </p:nvSpPr>
        <p:spPr>
          <a:xfrm>
            <a:off x="10588752" y="4572000"/>
            <a:ext cx="731520" cy="274320"/>
          </a:xfrm>
          <a:prstGeom prst="rect">
            <a:avLst/>
          </a:prstGeom>
          <a:noFill/>
          <a:ln/>
        </p:spPr>
        <p:txBody>
          <a:bodyPr wrap="square" lIns="0" tIns="0" rIns="0" bIns="0" rtlCol="0" anchor="ctr"/>
          <a:lstStyle/>
          <a:p>
            <a:pPr marL="0" indent="0" algn="ctr">
              <a:buNone/>
            </a:pPr>
            <a:r>
              <a:rPr lang="en-US" sz="1150" b="1" dirty="0">
                <a:solidFill>
                  <a:srgbClr val="A6760C"/>
                </a:solidFill>
                <a:latin typeface="Calibri" pitchFamily="34" charset="0"/>
                <a:ea typeface="Calibri" pitchFamily="34" charset="-122"/>
                <a:cs typeface="Calibri" pitchFamily="34" charset="-120"/>
              </a:rPr>
              <a:t>10 pts</a:t>
            </a:r>
            <a:endParaRPr lang="en-US" sz="1150" dirty="0"/>
          </a:p>
        </p:txBody>
      </p:sp>
      <p:sp>
        <p:nvSpPr>
          <p:cNvPr id="38" name="Shape 35"/>
          <p:cNvSpPr/>
          <p:nvPr/>
        </p:nvSpPr>
        <p:spPr>
          <a:xfrm>
            <a:off x="548640" y="4919472"/>
            <a:ext cx="11091672" cy="420624"/>
          </a:xfrm>
          <a:prstGeom prst="rect">
            <a:avLst/>
          </a:prstGeom>
          <a:solidFill>
            <a:srgbClr val="FFFFFF"/>
          </a:solidFill>
          <a:ln w="12700">
            <a:solidFill>
              <a:srgbClr val="DCE5EB"/>
            </a:solidFill>
            <a:prstDash val="solid"/>
          </a:ln>
        </p:spPr>
      </p:sp>
      <p:sp>
        <p:nvSpPr>
          <p:cNvPr id="39" name="Text 36"/>
          <p:cNvSpPr/>
          <p:nvPr/>
        </p:nvSpPr>
        <p:spPr>
          <a:xfrm>
            <a:off x="777240" y="4919472"/>
            <a:ext cx="9537192" cy="420624"/>
          </a:xfrm>
          <a:prstGeom prst="rect">
            <a:avLst/>
          </a:prstGeom>
          <a:noFill/>
          <a:ln/>
        </p:spPr>
        <p:txBody>
          <a:bodyPr wrap="square" lIns="0" tIns="0" rIns="0" bIns="0" rtlCol="0" anchor="ctr"/>
          <a:lstStyle/>
          <a:p>
            <a:pPr marL="0" indent="0">
              <a:buNone/>
            </a:pPr>
            <a:r>
              <a:rPr lang="en-US" sz="1200" dirty="0">
                <a:solidFill>
                  <a:srgbClr val="2C3E50"/>
                </a:solidFill>
                <a:latin typeface="Calibri" pitchFamily="34" charset="0"/>
                <a:ea typeface="Calibri" pitchFamily="34" charset="-122"/>
                <a:cs typeface="Calibri" pitchFamily="34" charset="-120"/>
              </a:rPr>
              <a:t>Code quality: src/stores/, clear naming, no circular imports</a:t>
            </a:r>
            <a:endParaRPr lang="en-US" sz="1200" dirty="0"/>
          </a:p>
        </p:txBody>
      </p:sp>
      <p:sp>
        <p:nvSpPr>
          <p:cNvPr id="40" name="Shape 37"/>
          <p:cNvSpPr/>
          <p:nvPr/>
        </p:nvSpPr>
        <p:spPr>
          <a:xfrm>
            <a:off x="10588752" y="4992624"/>
            <a:ext cx="731520" cy="274320"/>
          </a:xfrm>
          <a:prstGeom prst="roundRect">
            <a:avLst>
              <a:gd name="adj" fmla="val 20000"/>
            </a:avLst>
          </a:prstGeom>
          <a:solidFill>
            <a:srgbClr val="FCF4E0"/>
          </a:solidFill>
          <a:ln/>
        </p:spPr>
      </p:sp>
      <p:sp>
        <p:nvSpPr>
          <p:cNvPr id="41" name="Text 38"/>
          <p:cNvSpPr/>
          <p:nvPr/>
        </p:nvSpPr>
        <p:spPr>
          <a:xfrm>
            <a:off x="10588752" y="4992624"/>
            <a:ext cx="731520" cy="274320"/>
          </a:xfrm>
          <a:prstGeom prst="rect">
            <a:avLst/>
          </a:prstGeom>
          <a:noFill/>
          <a:ln/>
        </p:spPr>
        <p:txBody>
          <a:bodyPr wrap="square" lIns="0" tIns="0" rIns="0" bIns="0" rtlCol="0" anchor="ctr"/>
          <a:lstStyle/>
          <a:p>
            <a:pPr marL="0" indent="0" algn="ctr">
              <a:buNone/>
            </a:pPr>
            <a:r>
              <a:rPr lang="en-US" sz="1150" b="1" dirty="0">
                <a:solidFill>
                  <a:srgbClr val="A6760C"/>
                </a:solidFill>
                <a:latin typeface="Calibri" pitchFamily="34" charset="0"/>
                <a:ea typeface="Calibri" pitchFamily="34" charset="-122"/>
                <a:cs typeface="Calibri" pitchFamily="34" charset="-120"/>
              </a:rPr>
              <a:t>5 pts</a:t>
            </a:r>
            <a:endParaRPr lang="en-US" sz="1150" dirty="0"/>
          </a:p>
        </p:txBody>
      </p:sp>
      <p:sp>
        <p:nvSpPr>
          <p:cNvPr id="42" name="Shape 39"/>
          <p:cNvSpPr/>
          <p:nvPr/>
        </p:nvSpPr>
        <p:spPr>
          <a:xfrm>
            <a:off x="548640" y="5486400"/>
            <a:ext cx="11091672" cy="841248"/>
          </a:xfrm>
          <a:prstGeom prst="roundRect">
            <a:avLst>
              <a:gd name="adj" fmla="val 8696"/>
            </a:avLst>
          </a:prstGeom>
          <a:solidFill>
            <a:srgbClr val="1E2B38"/>
          </a:solidFill>
          <a:ln/>
        </p:spPr>
      </p:sp>
      <p:sp>
        <p:nvSpPr>
          <p:cNvPr id="43" name="Shape 40"/>
          <p:cNvSpPr/>
          <p:nvPr/>
        </p:nvSpPr>
        <p:spPr>
          <a:xfrm>
            <a:off x="777240" y="5687568"/>
            <a:ext cx="457200" cy="457200"/>
          </a:xfrm>
          <a:prstGeom prst="ellipse">
            <a:avLst/>
          </a:prstGeom>
          <a:solidFill>
            <a:srgbClr val="E0A21B"/>
          </a:solidFill>
          <a:ln/>
        </p:spPr>
      </p:sp>
      <p:pic>
        <p:nvPicPr>
          <p:cNvPr id="44" name="Image 1" descr="preencoded.png"/>
          <p:cNvPicPr>
            <a:picLocks noChangeAspect="1"/>
          </p:cNvPicPr>
          <p:nvPr/>
        </p:nvPicPr>
        <p:blipFill>
          <a:blip r:embed="rId4"/>
          <a:stretch>
            <a:fillRect/>
          </a:stretch>
        </p:blipFill>
        <p:spPr>
          <a:xfrm>
            <a:off x="896112" y="5806440"/>
            <a:ext cx="219456" cy="219456"/>
          </a:xfrm>
          <a:prstGeom prst="rect">
            <a:avLst/>
          </a:prstGeom>
        </p:spPr>
      </p:pic>
      <p:sp>
        <p:nvSpPr>
          <p:cNvPr id="45" name="Text 41"/>
          <p:cNvSpPr/>
          <p:nvPr/>
        </p:nvSpPr>
        <p:spPr>
          <a:xfrm>
            <a:off x="1371600" y="5486400"/>
            <a:ext cx="10058400" cy="841248"/>
          </a:xfrm>
          <a:prstGeom prst="rect">
            <a:avLst/>
          </a:prstGeom>
          <a:noFill/>
          <a:ln/>
        </p:spPr>
        <p:txBody>
          <a:bodyPr wrap="square" lIns="0" tIns="0" rIns="0" bIns="0" rtlCol="0" anchor="ctr"/>
          <a:lstStyle/>
          <a:p>
            <a:pPr marL="0" indent="0">
              <a:lnSpc>
                <a:spcPts val="1400"/>
              </a:lnSpc>
              <a:buNone/>
            </a:pPr>
            <a:r>
              <a:rPr lang="en-US" sz="1200" b="1" dirty="0">
                <a:solidFill>
                  <a:srgbClr val="E0A21B"/>
                </a:solidFill>
                <a:latin typeface="Calibri" pitchFamily="34" charset="0"/>
                <a:ea typeface="Calibri" pitchFamily="34" charset="-122"/>
                <a:cs typeface="Calibri" pitchFamily="34" charset="-120"/>
              </a:rPr>
              <a:t>Bonus (+10 each):  </a:t>
            </a:r>
            <a:r>
              <a:rPr lang="en-US" sz="1200" dirty="0">
                <a:solidFill>
                  <a:srgbClr val="E4EBF1"/>
                </a:solidFill>
                <a:latin typeface="Calibri" pitchFamily="34" charset="0"/>
                <a:ea typeface="Calibri" pitchFamily="34" charset="-122"/>
                <a:cs typeface="Calibri" pitchFamily="34" charset="-120"/>
              </a:rPr>
              <a:t>server-state hydration via $patch · Vitest tests for filteredJobs with @pinia/testing · undo/redo on the watchlist</a:t>
            </a:r>
            <a:endParaRPr lang="en-US" sz="1200" dirty="0"/>
          </a:p>
        </p:txBody>
      </p:sp>
      <p:sp>
        <p:nvSpPr>
          <p:cNvPr id="46" name="Text 42"/>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47" name="Text 43"/>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Homework</a:t>
            </a:r>
            <a:endParaRPr lang="en-US" sz="900" dirty="0"/>
          </a:p>
        </p:txBody>
      </p:sp>
      <p:sp>
        <p:nvSpPr>
          <p:cNvPr id="48" name="Text 44"/>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E2B38"/>
        </a:solidFill>
        <a:effectLst/>
      </p:bgPr>
    </p:bg>
    <p:spTree>
      <p:nvGrpSpPr>
        <p:cNvPr id="1" name=""/>
        <p:cNvGrpSpPr/>
        <p:nvPr/>
      </p:nvGrpSpPr>
      <p:grpSpPr>
        <a:xfrm>
          <a:off x="0" y="0"/>
          <a:ext cx="0" cy="0"/>
          <a:chOff x="0" y="0"/>
          <a:chExt cx="0" cy="0"/>
        </a:xfrm>
      </p:grpSpPr>
      <p:sp>
        <p:nvSpPr>
          <p:cNvPr id="2" name="Shape 0"/>
          <p:cNvSpPr/>
          <p:nvPr/>
        </p:nvSpPr>
        <p:spPr>
          <a:xfrm>
            <a:off x="9418320" y="-1463040"/>
            <a:ext cx="4206240" cy="4206240"/>
          </a:xfrm>
          <a:prstGeom prst="ellipse">
            <a:avLst/>
          </a:prstGeom>
          <a:solidFill>
            <a:srgbClr val="E0A21B">
              <a:alpha val="12000"/>
            </a:srgbClr>
          </a:solidFill>
          <a:ln/>
        </p:spPr>
      </p:sp>
      <p:sp>
        <p:nvSpPr>
          <p:cNvPr id="3" name="Shape 1"/>
          <p:cNvSpPr/>
          <p:nvPr/>
        </p:nvSpPr>
        <p:spPr>
          <a:xfrm>
            <a:off x="10424160" y="4480560"/>
            <a:ext cx="3291840" cy="3291840"/>
          </a:xfrm>
          <a:prstGeom prst="ellipse">
            <a:avLst/>
          </a:prstGeom>
          <a:solidFill>
            <a:srgbClr val="42B883">
              <a:alpha val="22000"/>
            </a:srgbClr>
          </a:solidFill>
          <a:ln/>
        </p:spPr>
      </p:sp>
      <p:sp>
        <p:nvSpPr>
          <p:cNvPr id="4" name="Shape 2"/>
          <p:cNvSpPr/>
          <p:nvPr/>
        </p:nvSpPr>
        <p:spPr>
          <a:xfrm>
            <a:off x="548640" y="457200"/>
            <a:ext cx="603504" cy="603504"/>
          </a:xfrm>
          <a:prstGeom prst="ellipse">
            <a:avLst/>
          </a:prstGeom>
          <a:solidFill>
            <a:srgbClr val="E0A21B"/>
          </a:solidFill>
          <a:ln/>
          <a:effectLst>
            <a:outerShdw blurRad="88900" dist="25400" dir="5400000" algn="bl" rotWithShape="0">
              <a:srgbClr val="35495E">
                <a:alpha val="13000"/>
              </a:srgbClr>
            </a:outerShdw>
          </a:effectLst>
        </p:spPr>
      </p:sp>
      <p:pic>
        <p:nvPicPr>
          <p:cNvPr id="5" name="Image 0" descr="preencoded.png"/>
          <p:cNvPicPr>
            <a:picLocks noChangeAspect="1"/>
          </p:cNvPicPr>
          <p:nvPr/>
        </p:nvPicPr>
        <p:blipFill>
          <a:blip r:embed="rId3"/>
          <a:stretch>
            <a:fillRect/>
          </a:stretch>
        </p:blipFill>
        <p:spPr>
          <a:xfrm>
            <a:off x="711586" y="620146"/>
            <a:ext cx="277612" cy="277612"/>
          </a:xfrm>
          <a:prstGeom prst="rect">
            <a:avLst/>
          </a:prstGeom>
        </p:spPr>
      </p:pic>
      <p:sp>
        <p:nvSpPr>
          <p:cNvPr id="6" name="Text 3"/>
          <p:cNvSpPr/>
          <p:nvPr/>
        </p:nvSpPr>
        <p:spPr>
          <a:xfrm>
            <a:off x="1325880" y="457200"/>
            <a:ext cx="6400800" cy="274320"/>
          </a:xfrm>
          <a:prstGeom prst="rect">
            <a:avLst/>
          </a:prstGeom>
          <a:noFill/>
          <a:ln/>
        </p:spPr>
        <p:txBody>
          <a:bodyPr wrap="square" lIns="0" tIns="0" rIns="0" bIns="0" rtlCol="0" anchor="ctr"/>
          <a:lstStyle/>
          <a:p>
            <a:pPr marL="0" indent="0" algn="l">
              <a:buNone/>
            </a:pPr>
            <a:r>
              <a:rPr lang="en-US" sz="1200" b="1" kern="0" spc="300" dirty="0">
                <a:solidFill>
                  <a:srgbClr val="F2C94C"/>
                </a:solidFill>
                <a:latin typeface="Calibri" pitchFamily="34" charset="0"/>
                <a:ea typeface="Calibri" pitchFamily="34" charset="-122"/>
                <a:cs typeface="Calibri" pitchFamily="34" charset="-120"/>
              </a:rPr>
              <a:t>SUMMARY</a:t>
            </a:r>
            <a:endParaRPr lang="en-US" sz="1200" dirty="0"/>
          </a:p>
        </p:txBody>
      </p:sp>
      <p:sp>
        <p:nvSpPr>
          <p:cNvPr id="7" name="Text 4"/>
          <p:cNvSpPr/>
          <p:nvPr/>
        </p:nvSpPr>
        <p:spPr>
          <a:xfrm>
            <a:off x="1298448" y="713232"/>
            <a:ext cx="10058400" cy="566928"/>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Key Takeaways</a:t>
            </a:r>
            <a:endParaRPr lang="en-US" sz="2800" dirty="0"/>
          </a:p>
        </p:txBody>
      </p:sp>
      <p:sp>
        <p:nvSpPr>
          <p:cNvPr id="8" name="Shape 5"/>
          <p:cNvSpPr/>
          <p:nvPr/>
        </p:nvSpPr>
        <p:spPr>
          <a:xfrm>
            <a:off x="548640" y="1554480"/>
            <a:ext cx="5486400" cy="1371600"/>
          </a:xfrm>
          <a:prstGeom prst="roundRect">
            <a:avLst>
              <a:gd name="adj" fmla="val 5333"/>
            </a:avLst>
          </a:prstGeom>
          <a:solidFill>
            <a:srgbClr val="243748"/>
          </a:solidFill>
          <a:ln w="12700">
            <a:solidFill>
              <a:srgbClr val="37506A"/>
            </a:solidFill>
            <a:prstDash val="solid"/>
          </a:ln>
        </p:spPr>
      </p:sp>
      <p:sp>
        <p:nvSpPr>
          <p:cNvPr id="9" name="Shape 6"/>
          <p:cNvSpPr/>
          <p:nvPr/>
        </p:nvSpPr>
        <p:spPr>
          <a:xfrm>
            <a:off x="786384" y="1792224"/>
            <a:ext cx="566928" cy="566928"/>
          </a:xfrm>
          <a:prstGeom prst="ellipse">
            <a:avLst/>
          </a:prstGeom>
          <a:solidFill>
            <a:srgbClr val="E0A21B"/>
          </a:solidFill>
          <a:ln/>
        </p:spPr>
      </p:sp>
      <p:pic>
        <p:nvPicPr>
          <p:cNvPr id="10" name="Image 1" descr="preencoded.png"/>
          <p:cNvPicPr>
            <a:picLocks noChangeAspect="1"/>
          </p:cNvPicPr>
          <p:nvPr/>
        </p:nvPicPr>
        <p:blipFill>
          <a:blip r:embed="rId4"/>
          <a:stretch>
            <a:fillRect/>
          </a:stretch>
        </p:blipFill>
        <p:spPr>
          <a:xfrm>
            <a:off x="941832" y="1947672"/>
            <a:ext cx="256032" cy="256032"/>
          </a:xfrm>
          <a:prstGeom prst="rect">
            <a:avLst/>
          </a:prstGeom>
        </p:spPr>
      </p:pic>
      <p:sp>
        <p:nvSpPr>
          <p:cNvPr id="11" name="Text 7"/>
          <p:cNvSpPr/>
          <p:nvPr/>
        </p:nvSpPr>
        <p:spPr>
          <a:xfrm>
            <a:off x="1508760" y="1737360"/>
            <a:ext cx="4297680"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Stores are global state</a:t>
            </a:r>
            <a:endParaRPr lang="en-US" sz="1450" dirty="0"/>
          </a:p>
        </p:txBody>
      </p:sp>
      <p:sp>
        <p:nvSpPr>
          <p:cNvPr id="12" name="Text 8"/>
          <p:cNvSpPr/>
          <p:nvPr/>
        </p:nvSpPr>
        <p:spPr>
          <a:xfrm>
            <a:off x="1508760" y="2194560"/>
            <a:ext cx="4297680" cy="621792"/>
          </a:xfrm>
          <a:prstGeom prst="rect">
            <a:avLst/>
          </a:prstGeom>
          <a:noFill/>
          <a:ln/>
        </p:spPr>
        <p:txBody>
          <a:bodyPr wrap="square" lIns="0" tIns="0" rIns="0" bIns="0" rtlCol="0" anchor="t"/>
          <a:lstStyle/>
          <a:p>
            <a:pPr marL="0" indent="0">
              <a:lnSpc>
                <a:spcPts val="1400"/>
              </a:lnSpc>
              <a:buNone/>
            </a:pPr>
            <a:r>
              <a:rPr lang="en-US" sz="1150" dirty="0">
                <a:solidFill>
                  <a:srgbClr val="B9C6D1"/>
                </a:solidFill>
                <a:latin typeface="Calibri" pitchFamily="34" charset="0"/>
                <a:ea typeface="Calibri" pitchFamily="34" charset="-122"/>
                <a:cs typeface="Calibri" pitchFamily="34" charset="-120"/>
              </a:rPr>
              <a:t>defineStore('id', setup). State = refs, getters = computed, actions = functions.</a:t>
            </a:r>
            <a:endParaRPr lang="en-US" sz="1150" dirty="0"/>
          </a:p>
        </p:txBody>
      </p:sp>
      <p:sp>
        <p:nvSpPr>
          <p:cNvPr id="13" name="Shape 9"/>
          <p:cNvSpPr/>
          <p:nvPr/>
        </p:nvSpPr>
        <p:spPr>
          <a:xfrm>
            <a:off x="6153912" y="1554480"/>
            <a:ext cx="5486400" cy="1371600"/>
          </a:xfrm>
          <a:prstGeom prst="roundRect">
            <a:avLst>
              <a:gd name="adj" fmla="val 5333"/>
            </a:avLst>
          </a:prstGeom>
          <a:solidFill>
            <a:srgbClr val="243748"/>
          </a:solidFill>
          <a:ln w="12700">
            <a:solidFill>
              <a:srgbClr val="37506A"/>
            </a:solidFill>
            <a:prstDash val="solid"/>
          </a:ln>
        </p:spPr>
      </p:sp>
      <p:sp>
        <p:nvSpPr>
          <p:cNvPr id="14" name="Shape 10"/>
          <p:cNvSpPr/>
          <p:nvPr/>
        </p:nvSpPr>
        <p:spPr>
          <a:xfrm>
            <a:off x="6391656" y="1792224"/>
            <a:ext cx="566928" cy="566928"/>
          </a:xfrm>
          <a:prstGeom prst="ellipse">
            <a:avLst/>
          </a:prstGeom>
          <a:solidFill>
            <a:srgbClr val="E0A21B"/>
          </a:solidFill>
          <a:ln/>
        </p:spPr>
      </p:sp>
      <p:pic>
        <p:nvPicPr>
          <p:cNvPr id="15" name="Image 2" descr="preencoded.png"/>
          <p:cNvPicPr>
            <a:picLocks noChangeAspect="1"/>
          </p:cNvPicPr>
          <p:nvPr/>
        </p:nvPicPr>
        <p:blipFill>
          <a:blip r:embed="rId5"/>
          <a:stretch>
            <a:fillRect/>
          </a:stretch>
        </p:blipFill>
        <p:spPr>
          <a:xfrm>
            <a:off x="6547104" y="1947672"/>
            <a:ext cx="256032" cy="256032"/>
          </a:xfrm>
          <a:prstGeom prst="rect">
            <a:avLst/>
          </a:prstGeom>
        </p:spPr>
      </p:pic>
      <p:sp>
        <p:nvSpPr>
          <p:cNvPr id="16" name="Text 11"/>
          <p:cNvSpPr/>
          <p:nvPr/>
        </p:nvSpPr>
        <p:spPr>
          <a:xfrm>
            <a:off x="7114032" y="1737360"/>
            <a:ext cx="4297680"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Consume anywhere</a:t>
            </a:r>
            <a:endParaRPr lang="en-US" sz="1450" dirty="0"/>
          </a:p>
        </p:txBody>
      </p:sp>
      <p:sp>
        <p:nvSpPr>
          <p:cNvPr id="17" name="Text 12"/>
          <p:cNvSpPr/>
          <p:nvPr/>
        </p:nvSpPr>
        <p:spPr>
          <a:xfrm>
            <a:off x="7114032" y="2194560"/>
            <a:ext cx="4297680" cy="621792"/>
          </a:xfrm>
          <a:prstGeom prst="rect">
            <a:avLst/>
          </a:prstGeom>
          <a:noFill/>
          <a:ln/>
        </p:spPr>
        <p:txBody>
          <a:bodyPr wrap="square" lIns="0" tIns="0" rIns="0" bIns="0" rtlCol="0" anchor="t"/>
          <a:lstStyle/>
          <a:p>
            <a:pPr marL="0" indent="0">
              <a:lnSpc>
                <a:spcPts val="1400"/>
              </a:lnSpc>
              <a:buNone/>
            </a:pPr>
            <a:r>
              <a:rPr lang="en-US" sz="1150" dirty="0">
                <a:solidFill>
                  <a:srgbClr val="B9C6D1"/>
                </a:solidFill>
                <a:latin typeface="Calibri" pitchFamily="34" charset="0"/>
                <a:ea typeface="Calibri" pitchFamily="34" charset="-122"/>
                <a:cs typeface="Calibri" pitchFamily="34" charset="-120"/>
              </a:rPr>
              <a:t>useXxxStore() in any component. storeToRefs for state/getters; destructure actions.</a:t>
            </a:r>
            <a:endParaRPr lang="en-US" sz="1150" dirty="0"/>
          </a:p>
        </p:txBody>
      </p:sp>
      <p:sp>
        <p:nvSpPr>
          <p:cNvPr id="18" name="Shape 13"/>
          <p:cNvSpPr/>
          <p:nvPr/>
        </p:nvSpPr>
        <p:spPr>
          <a:xfrm>
            <a:off x="548640" y="3072384"/>
            <a:ext cx="5486400" cy="1371600"/>
          </a:xfrm>
          <a:prstGeom prst="roundRect">
            <a:avLst>
              <a:gd name="adj" fmla="val 5333"/>
            </a:avLst>
          </a:prstGeom>
          <a:solidFill>
            <a:srgbClr val="243748"/>
          </a:solidFill>
          <a:ln w="12700">
            <a:solidFill>
              <a:srgbClr val="37506A"/>
            </a:solidFill>
            <a:prstDash val="solid"/>
          </a:ln>
        </p:spPr>
      </p:sp>
      <p:sp>
        <p:nvSpPr>
          <p:cNvPr id="19" name="Shape 14"/>
          <p:cNvSpPr/>
          <p:nvPr/>
        </p:nvSpPr>
        <p:spPr>
          <a:xfrm>
            <a:off x="786384" y="3310128"/>
            <a:ext cx="566928" cy="566928"/>
          </a:xfrm>
          <a:prstGeom prst="ellipse">
            <a:avLst/>
          </a:prstGeom>
          <a:solidFill>
            <a:srgbClr val="E0A21B"/>
          </a:solidFill>
          <a:ln/>
        </p:spPr>
      </p:sp>
      <p:pic>
        <p:nvPicPr>
          <p:cNvPr id="20" name="Image 3" descr="preencoded.png"/>
          <p:cNvPicPr>
            <a:picLocks noChangeAspect="1"/>
          </p:cNvPicPr>
          <p:nvPr/>
        </p:nvPicPr>
        <p:blipFill>
          <a:blip r:embed="rId6"/>
          <a:stretch>
            <a:fillRect/>
          </a:stretch>
        </p:blipFill>
        <p:spPr>
          <a:xfrm>
            <a:off x="941832" y="3465576"/>
            <a:ext cx="256032" cy="256032"/>
          </a:xfrm>
          <a:prstGeom prst="rect">
            <a:avLst/>
          </a:prstGeom>
        </p:spPr>
      </p:pic>
      <p:sp>
        <p:nvSpPr>
          <p:cNvPr id="21" name="Text 15"/>
          <p:cNvSpPr/>
          <p:nvPr/>
        </p:nvSpPr>
        <p:spPr>
          <a:xfrm>
            <a:off x="1508760" y="3255264"/>
            <a:ext cx="4297680"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Mutate cleanly</a:t>
            </a:r>
            <a:endParaRPr lang="en-US" sz="1450" dirty="0"/>
          </a:p>
        </p:txBody>
      </p:sp>
      <p:sp>
        <p:nvSpPr>
          <p:cNvPr id="22" name="Text 16"/>
          <p:cNvSpPr/>
          <p:nvPr/>
        </p:nvSpPr>
        <p:spPr>
          <a:xfrm>
            <a:off x="1508760" y="3712464"/>
            <a:ext cx="4297680" cy="621792"/>
          </a:xfrm>
          <a:prstGeom prst="rect">
            <a:avLst/>
          </a:prstGeom>
          <a:noFill/>
          <a:ln/>
        </p:spPr>
        <p:txBody>
          <a:bodyPr wrap="square" lIns="0" tIns="0" rIns="0" bIns="0" rtlCol="0" anchor="t"/>
          <a:lstStyle/>
          <a:p>
            <a:pPr marL="0" indent="0">
              <a:lnSpc>
                <a:spcPts val="1400"/>
              </a:lnSpc>
              <a:buNone/>
            </a:pPr>
            <a:r>
              <a:rPr lang="en-US" sz="1150" dirty="0">
                <a:solidFill>
                  <a:srgbClr val="B9C6D1"/>
                </a:solidFill>
                <a:latin typeface="Calibri" pitchFamily="34" charset="0"/>
                <a:ea typeface="Calibri" pitchFamily="34" charset="-122"/>
                <a:cs typeface="Calibri" pitchFamily="34" charset="-120"/>
              </a:rPr>
              <a:t>Actions for traceable changes; $patch for atomic multi-field updates.</a:t>
            </a:r>
            <a:endParaRPr lang="en-US" sz="1150" dirty="0"/>
          </a:p>
        </p:txBody>
      </p:sp>
      <p:sp>
        <p:nvSpPr>
          <p:cNvPr id="23" name="Shape 17"/>
          <p:cNvSpPr/>
          <p:nvPr/>
        </p:nvSpPr>
        <p:spPr>
          <a:xfrm>
            <a:off x="6153912" y="3072384"/>
            <a:ext cx="5486400" cy="1371600"/>
          </a:xfrm>
          <a:prstGeom prst="roundRect">
            <a:avLst>
              <a:gd name="adj" fmla="val 5333"/>
            </a:avLst>
          </a:prstGeom>
          <a:solidFill>
            <a:srgbClr val="243748"/>
          </a:solidFill>
          <a:ln w="12700">
            <a:solidFill>
              <a:srgbClr val="37506A"/>
            </a:solidFill>
            <a:prstDash val="solid"/>
          </a:ln>
        </p:spPr>
      </p:sp>
      <p:sp>
        <p:nvSpPr>
          <p:cNvPr id="24" name="Shape 18"/>
          <p:cNvSpPr/>
          <p:nvPr/>
        </p:nvSpPr>
        <p:spPr>
          <a:xfrm>
            <a:off x="6391656" y="3310128"/>
            <a:ext cx="566928" cy="566928"/>
          </a:xfrm>
          <a:prstGeom prst="ellipse">
            <a:avLst/>
          </a:prstGeom>
          <a:solidFill>
            <a:srgbClr val="42B883"/>
          </a:solidFill>
          <a:ln/>
        </p:spPr>
      </p:sp>
      <p:pic>
        <p:nvPicPr>
          <p:cNvPr id="25" name="Image 4" descr="preencoded.png"/>
          <p:cNvPicPr>
            <a:picLocks noChangeAspect="1"/>
          </p:cNvPicPr>
          <p:nvPr/>
        </p:nvPicPr>
        <p:blipFill>
          <a:blip r:embed="rId7"/>
          <a:stretch>
            <a:fillRect/>
          </a:stretch>
        </p:blipFill>
        <p:spPr>
          <a:xfrm>
            <a:off x="6547104" y="3465576"/>
            <a:ext cx="256032" cy="256032"/>
          </a:xfrm>
          <a:prstGeom prst="rect">
            <a:avLst/>
          </a:prstGeom>
        </p:spPr>
      </p:pic>
      <p:sp>
        <p:nvSpPr>
          <p:cNvPr id="26" name="Text 19"/>
          <p:cNvSpPr/>
          <p:nvPr/>
        </p:nvSpPr>
        <p:spPr>
          <a:xfrm>
            <a:off x="7114032" y="3255264"/>
            <a:ext cx="4297680"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Compose in layers</a:t>
            </a:r>
            <a:endParaRPr lang="en-US" sz="1450" dirty="0"/>
          </a:p>
        </p:txBody>
      </p:sp>
      <p:sp>
        <p:nvSpPr>
          <p:cNvPr id="27" name="Text 20"/>
          <p:cNvSpPr/>
          <p:nvPr/>
        </p:nvSpPr>
        <p:spPr>
          <a:xfrm>
            <a:off x="7114032" y="3712464"/>
            <a:ext cx="4297680" cy="621792"/>
          </a:xfrm>
          <a:prstGeom prst="rect">
            <a:avLst/>
          </a:prstGeom>
          <a:noFill/>
          <a:ln/>
        </p:spPr>
        <p:txBody>
          <a:bodyPr wrap="square" lIns="0" tIns="0" rIns="0" bIns="0" rtlCol="0" anchor="t"/>
          <a:lstStyle/>
          <a:p>
            <a:pPr marL="0" indent="0">
              <a:lnSpc>
                <a:spcPts val="1400"/>
              </a:lnSpc>
              <a:buNone/>
            </a:pPr>
            <a:r>
              <a:rPr lang="en-US" sz="1150" dirty="0">
                <a:solidFill>
                  <a:srgbClr val="B9C6D1"/>
                </a:solidFill>
                <a:latin typeface="Calibri" pitchFamily="34" charset="0"/>
                <a:ea typeface="Calibri" pitchFamily="34" charset="-122"/>
                <a:cs typeface="Calibri" pitchFamily="34" charset="-120"/>
              </a:rPr>
              <a:t>One store calls another inside actions. Keep dependencies one-way to avoid cycles.</a:t>
            </a:r>
            <a:endParaRPr lang="en-US" sz="1150" dirty="0"/>
          </a:p>
        </p:txBody>
      </p:sp>
      <p:sp>
        <p:nvSpPr>
          <p:cNvPr id="28" name="Shape 21"/>
          <p:cNvSpPr/>
          <p:nvPr/>
        </p:nvSpPr>
        <p:spPr>
          <a:xfrm>
            <a:off x="548640" y="4590288"/>
            <a:ext cx="5486400" cy="1371600"/>
          </a:xfrm>
          <a:prstGeom prst="roundRect">
            <a:avLst>
              <a:gd name="adj" fmla="val 5333"/>
            </a:avLst>
          </a:prstGeom>
          <a:solidFill>
            <a:srgbClr val="243748"/>
          </a:solidFill>
          <a:ln w="12700">
            <a:solidFill>
              <a:srgbClr val="37506A"/>
            </a:solidFill>
            <a:prstDash val="solid"/>
          </a:ln>
        </p:spPr>
      </p:sp>
      <p:sp>
        <p:nvSpPr>
          <p:cNvPr id="29" name="Shape 22"/>
          <p:cNvSpPr/>
          <p:nvPr/>
        </p:nvSpPr>
        <p:spPr>
          <a:xfrm>
            <a:off x="786384" y="4828032"/>
            <a:ext cx="566928" cy="566928"/>
          </a:xfrm>
          <a:prstGeom prst="ellipse">
            <a:avLst/>
          </a:prstGeom>
          <a:solidFill>
            <a:srgbClr val="42B883"/>
          </a:solidFill>
          <a:ln/>
        </p:spPr>
      </p:sp>
      <p:pic>
        <p:nvPicPr>
          <p:cNvPr id="30" name="Image 5" descr="preencoded.png"/>
          <p:cNvPicPr>
            <a:picLocks noChangeAspect="1"/>
          </p:cNvPicPr>
          <p:nvPr/>
        </p:nvPicPr>
        <p:blipFill>
          <a:blip r:embed="rId8"/>
          <a:stretch>
            <a:fillRect/>
          </a:stretch>
        </p:blipFill>
        <p:spPr>
          <a:xfrm>
            <a:off x="941832" y="4983480"/>
            <a:ext cx="256032" cy="256032"/>
          </a:xfrm>
          <a:prstGeom prst="rect">
            <a:avLst/>
          </a:prstGeom>
        </p:spPr>
      </p:pic>
      <p:sp>
        <p:nvSpPr>
          <p:cNvPr id="31" name="Text 23"/>
          <p:cNvSpPr/>
          <p:nvPr/>
        </p:nvSpPr>
        <p:spPr>
          <a:xfrm>
            <a:off x="1508760" y="4773168"/>
            <a:ext cx="4297680"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Stores power guards</a:t>
            </a:r>
            <a:endParaRPr lang="en-US" sz="1450" dirty="0"/>
          </a:p>
        </p:txBody>
      </p:sp>
      <p:sp>
        <p:nvSpPr>
          <p:cNvPr id="32" name="Text 24"/>
          <p:cNvSpPr/>
          <p:nvPr/>
        </p:nvSpPr>
        <p:spPr>
          <a:xfrm>
            <a:off x="1508760" y="5230368"/>
            <a:ext cx="4297680" cy="621792"/>
          </a:xfrm>
          <a:prstGeom prst="rect">
            <a:avLst/>
          </a:prstGeom>
          <a:noFill/>
          <a:ln/>
        </p:spPr>
        <p:txBody>
          <a:bodyPr wrap="square" lIns="0" tIns="0" rIns="0" bIns="0" rtlCol="0" anchor="t"/>
          <a:lstStyle/>
          <a:p>
            <a:pPr marL="0" indent="0">
              <a:lnSpc>
                <a:spcPts val="1400"/>
              </a:lnSpc>
              <a:buNone/>
            </a:pPr>
            <a:r>
              <a:rPr lang="en-US" sz="1150" dirty="0">
                <a:solidFill>
                  <a:srgbClr val="B9C6D1"/>
                </a:solidFill>
                <a:latin typeface="Calibri" pitchFamily="34" charset="0"/>
                <a:ea typeface="Calibri" pitchFamily="34" charset="-122"/>
                <a:cs typeface="Calibri" pitchFamily="34" charset="-120"/>
              </a:rPr>
              <a:t>Call useAuthStore() inside beforeEach. Register pinia before the router.</a:t>
            </a:r>
            <a:endParaRPr lang="en-US" sz="1150" dirty="0"/>
          </a:p>
        </p:txBody>
      </p:sp>
      <p:sp>
        <p:nvSpPr>
          <p:cNvPr id="33" name="Shape 25"/>
          <p:cNvSpPr/>
          <p:nvPr/>
        </p:nvSpPr>
        <p:spPr>
          <a:xfrm>
            <a:off x="6153912" y="4590288"/>
            <a:ext cx="5486400" cy="1371600"/>
          </a:xfrm>
          <a:prstGeom prst="roundRect">
            <a:avLst>
              <a:gd name="adj" fmla="val 5333"/>
            </a:avLst>
          </a:prstGeom>
          <a:solidFill>
            <a:srgbClr val="243748"/>
          </a:solidFill>
          <a:ln w="12700">
            <a:solidFill>
              <a:srgbClr val="37506A"/>
            </a:solidFill>
            <a:prstDash val="solid"/>
          </a:ln>
        </p:spPr>
      </p:sp>
      <p:sp>
        <p:nvSpPr>
          <p:cNvPr id="34" name="Shape 26"/>
          <p:cNvSpPr/>
          <p:nvPr/>
        </p:nvSpPr>
        <p:spPr>
          <a:xfrm>
            <a:off x="6391656" y="4828032"/>
            <a:ext cx="566928" cy="566928"/>
          </a:xfrm>
          <a:prstGeom prst="ellipse">
            <a:avLst/>
          </a:prstGeom>
          <a:solidFill>
            <a:srgbClr val="42B883"/>
          </a:solidFill>
          <a:ln/>
        </p:spPr>
      </p:sp>
      <p:pic>
        <p:nvPicPr>
          <p:cNvPr id="35" name="Image 6" descr="preencoded.png"/>
          <p:cNvPicPr>
            <a:picLocks noChangeAspect="1"/>
          </p:cNvPicPr>
          <p:nvPr/>
        </p:nvPicPr>
        <p:blipFill>
          <a:blip r:embed="rId9"/>
          <a:stretch>
            <a:fillRect/>
          </a:stretch>
        </p:blipFill>
        <p:spPr>
          <a:xfrm>
            <a:off x="6547104" y="4983480"/>
            <a:ext cx="256032" cy="256032"/>
          </a:xfrm>
          <a:prstGeom prst="rect">
            <a:avLst/>
          </a:prstGeom>
        </p:spPr>
      </p:pic>
      <p:sp>
        <p:nvSpPr>
          <p:cNvPr id="36" name="Text 27"/>
          <p:cNvSpPr/>
          <p:nvPr/>
        </p:nvSpPr>
        <p:spPr>
          <a:xfrm>
            <a:off x="7114032" y="4773168"/>
            <a:ext cx="4297680"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Persist deliberately</a:t>
            </a:r>
            <a:endParaRPr lang="en-US" sz="1450" dirty="0"/>
          </a:p>
        </p:txBody>
      </p:sp>
      <p:sp>
        <p:nvSpPr>
          <p:cNvPr id="37" name="Text 28"/>
          <p:cNvSpPr/>
          <p:nvPr/>
        </p:nvSpPr>
        <p:spPr>
          <a:xfrm>
            <a:off x="7114032" y="5230368"/>
            <a:ext cx="4297680" cy="621792"/>
          </a:xfrm>
          <a:prstGeom prst="rect">
            <a:avLst/>
          </a:prstGeom>
          <a:noFill/>
          <a:ln/>
        </p:spPr>
        <p:txBody>
          <a:bodyPr wrap="square" lIns="0" tIns="0" rIns="0" bIns="0" rtlCol="0" anchor="t"/>
          <a:lstStyle/>
          <a:p>
            <a:pPr marL="0" indent="0">
              <a:lnSpc>
                <a:spcPts val="1400"/>
              </a:lnSpc>
              <a:buNone/>
            </a:pPr>
            <a:r>
              <a:rPr lang="en-US" sz="1150" dirty="0">
                <a:solidFill>
                  <a:srgbClr val="B9C6D1"/>
                </a:solidFill>
                <a:latin typeface="Calibri" pitchFamily="34" charset="0"/>
                <a:ea typeface="Calibri" pitchFamily="34" charset="-122"/>
                <a:cs typeface="Calibri" pitchFamily="34" charset="-120"/>
              </a:rPr>
              <a:t>pinia-plugin-persistedstate with pick — store only what's safe to keep.</a:t>
            </a:r>
            <a:endParaRPr lang="en-US" sz="1150" dirty="0"/>
          </a:p>
        </p:txBody>
      </p:sp>
      <p:sp>
        <p:nvSpPr>
          <p:cNvPr id="38" name="Text 29"/>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39" name="Text 30"/>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Summary</a:t>
            </a:r>
            <a:endParaRPr lang="en-US" sz="900" dirty="0"/>
          </a:p>
        </p:txBody>
      </p:sp>
      <p:sp>
        <p:nvSpPr>
          <p:cNvPr id="40" name="Text 31"/>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E2B38"/>
        </a:solidFill>
        <a:effectLst/>
      </p:bgPr>
    </p:bg>
    <p:spTree>
      <p:nvGrpSpPr>
        <p:cNvPr id="1" name=""/>
        <p:cNvGrpSpPr/>
        <p:nvPr/>
      </p:nvGrpSpPr>
      <p:grpSpPr>
        <a:xfrm>
          <a:off x="0" y="0"/>
          <a:ext cx="0" cy="0"/>
          <a:chOff x="0" y="0"/>
          <a:chExt cx="0" cy="0"/>
        </a:xfrm>
      </p:grpSpPr>
      <p:sp>
        <p:nvSpPr>
          <p:cNvPr id="2" name="Shape 0"/>
          <p:cNvSpPr/>
          <p:nvPr/>
        </p:nvSpPr>
        <p:spPr>
          <a:xfrm>
            <a:off x="9418320" y="-1463040"/>
            <a:ext cx="4206240" cy="4206240"/>
          </a:xfrm>
          <a:prstGeom prst="ellipse">
            <a:avLst/>
          </a:prstGeom>
          <a:solidFill>
            <a:srgbClr val="E0A21B">
              <a:alpha val="12000"/>
            </a:srgbClr>
          </a:solidFill>
          <a:ln/>
        </p:spPr>
      </p:sp>
      <p:sp>
        <p:nvSpPr>
          <p:cNvPr id="3" name="Shape 1"/>
          <p:cNvSpPr/>
          <p:nvPr/>
        </p:nvSpPr>
        <p:spPr>
          <a:xfrm>
            <a:off x="10424160" y="4480560"/>
            <a:ext cx="3291840" cy="3291840"/>
          </a:xfrm>
          <a:prstGeom prst="ellipse">
            <a:avLst/>
          </a:prstGeom>
          <a:solidFill>
            <a:srgbClr val="42B883">
              <a:alpha val="22000"/>
            </a:srgbClr>
          </a:solidFill>
          <a:ln/>
        </p:spPr>
      </p:sp>
      <p:sp>
        <p:nvSpPr>
          <p:cNvPr id="4" name="Shape 2"/>
          <p:cNvSpPr/>
          <p:nvPr/>
        </p:nvSpPr>
        <p:spPr>
          <a:xfrm>
            <a:off x="777240" y="640080"/>
            <a:ext cx="1097280" cy="1097280"/>
          </a:xfrm>
          <a:prstGeom prst="ellipse">
            <a:avLst/>
          </a:prstGeom>
          <a:solidFill>
            <a:srgbClr val="E0A21B"/>
          </a:solidFill>
          <a:ln/>
          <a:effectLst>
            <a:outerShdw blurRad="114300" dist="38100" dir="5400000" algn="bl" rotWithShape="0">
              <a:srgbClr val="1E2B38">
                <a:alpha val="16000"/>
              </a:srgbClr>
            </a:outerShdw>
          </a:effectLst>
        </p:spPr>
      </p:sp>
      <p:pic>
        <p:nvPicPr>
          <p:cNvPr id="5" name="Image 0" descr="preencoded.png"/>
          <p:cNvPicPr>
            <a:picLocks noChangeAspect="1"/>
          </p:cNvPicPr>
          <p:nvPr/>
        </p:nvPicPr>
        <p:blipFill>
          <a:blip r:embed="rId3"/>
          <a:stretch>
            <a:fillRect/>
          </a:stretch>
        </p:blipFill>
        <p:spPr>
          <a:xfrm>
            <a:off x="1060704" y="923544"/>
            <a:ext cx="530352" cy="530352"/>
          </a:xfrm>
          <a:prstGeom prst="rect">
            <a:avLst/>
          </a:prstGeom>
        </p:spPr>
      </p:pic>
      <p:sp>
        <p:nvSpPr>
          <p:cNvPr id="6" name="Text 3"/>
          <p:cNvSpPr/>
          <p:nvPr/>
        </p:nvSpPr>
        <p:spPr>
          <a:xfrm>
            <a:off x="731520" y="1965960"/>
            <a:ext cx="1051560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Resources &amp; Further Reading</a:t>
            </a:r>
            <a:endParaRPr lang="en-US" sz="4000" dirty="0"/>
          </a:p>
        </p:txBody>
      </p:sp>
      <p:sp>
        <p:nvSpPr>
          <p:cNvPr id="7" name="Shape 4"/>
          <p:cNvSpPr/>
          <p:nvPr/>
        </p:nvSpPr>
        <p:spPr>
          <a:xfrm>
            <a:off x="548640" y="3108960"/>
            <a:ext cx="5468112" cy="713232"/>
          </a:xfrm>
          <a:prstGeom prst="roundRect">
            <a:avLst>
              <a:gd name="adj" fmla="val 10256"/>
            </a:avLst>
          </a:prstGeom>
          <a:solidFill>
            <a:srgbClr val="243748"/>
          </a:solidFill>
          <a:ln w="12700">
            <a:solidFill>
              <a:srgbClr val="37506A"/>
            </a:solidFill>
            <a:prstDash val="solid"/>
          </a:ln>
        </p:spPr>
      </p:sp>
      <p:sp>
        <p:nvSpPr>
          <p:cNvPr id="8" name="Shape 5"/>
          <p:cNvSpPr/>
          <p:nvPr/>
        </p:nvSpPr>
        <p:spPr>
          <a:xfrm>
            <a:off x="731520" y="3282696"/>
            <a:ext cx="365760" cy="365760"/>
          </a:xfrm>
          <a:prstGeom prst="ellipse">
            <a:avLst/>
          </a:prstGeom>
          <a:solidFill>
            <a:srgbClr val="E0A21B"/>
          </a:solidFill>
          <a:ln/>
        </p:spPr>
      </p:sp>
      <p:pic>
        <p:nvPicPr>
          <p:cNvPr id="9" name="Image 1" descr="preencoded.png"/>
          <p:cNvPicPr>
            <a:picLocks noChangeAspect="1"/>
          </p:cNvPicPr>
          <p:nvPr/>
        </p:nvPicPr>
        <p:blipFill>
          <a:blip r:embed="rId4"/>
          <a:stretch>
            <a:fillRect/>
          </a:stretch>
        </p:blipFill>
        <p:spPr>
          <a:xfrm>
            <a:off x="813816" y="3364992"/>
            <a:ext cx="201168" cy="201168"/>
          </a:xfrm>
          <a:prstGeom prst="rect">
            <a:avLst/>
          </a:prstGeom>
        </p:spPr>
      </p:pic>
      <p:sp>
        <p:nvSpPr>
          <p:cNvPr id="10" name="Text 6"/>
          <p:cNvSpPr/>
          <p:nvPr/>
        </p:nvSpPr>
        <p:spPr>
          <a:xfrm>
            <a:off x="1261872" y="3200400"/>
            <a:ext cx="4599432"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Pinia — Official Docs</a:t>
            </a:r>
            <a:endParaRPr lang="en-US" sz="1300" dirty="0"/>
          </a:p>
        </p:txBody>
      </p:sp>
      <p:sp>
        <p:nvSpPr>
          <p:cNvPr id="11" name="Text 7"/>
          <p:cNvSpPr/>
          <p:nvPr/>
        </p:nvSpPr>
        <p:spPr>
          <a:xfrm>
            <a:off x="1261872" y="3493008"/>
            <a:ext cx="4599432" cy="274320"/>
          </a:xfrm>
          <a:prstGeom prst="rect">
            <a:avLst/>
          </a:prstGeom>
          <a:noFill/>
          <a:ln/>
        </p:spPr>
        <p:txBody>
          <a:bodyPr wrap="square" lIns="0" tIns="0" rIns="0" bIns="0" rtlCol="0" anchor="ctr"/>
          <a:lstStyle/>
          <a:p>
            <a:pPr marL="0" indent="0">
              <a:buNone/>
            </a:pPr>
            <a:r>
              <a:rPr lang="en-US" sz="1050" dirty="0">
                <a:solidFill>
                  <a:srgbClr val="F2C94C"/>
                </a:solidFill>
                <a:latin typeface="Courier New" pitchFamily="34" charset="0"/>
                <a:ea typeface="Courier New" pitchFamily="34" charset="-122"/>
                <a:cs typeface="Courier New" pitchFamily="34" charset="-120"/>
              </a:rPr>
              <a:t>pinia.vuejs.org</a:t>
            </a:r>
            <a:endParaRPr lang="en-US" sz="1050" dirty="0"/>
          </a:p>
        </p:txBody>
      </p:sp>
      <p:sp>
        <p:nvSpPr>
          <p:cNvPr id="12" name="Shape 8"/>
          <p:cNvSpPr/>
          <p:nvPr/>
        </p:nvSpPr>
        <p:spPr>
          <a:xfrm>
            <a:off x="6172200" y="3108960"/>
            <a:ext cx="5468112" cy="713232"/>
          </a:xfrm>
          <a:prstGeom prst="roundRect">
            <a:avLst>
              <a:gd name="adj" fmla="val 10256"/>
            </a:avLst>
          </a:prstGeom>
          <a:solidFill>
            <a:srgbClr val="243748"/>
          </a:solidFill>
          <a:ln w="12700">
            <a:solidFill>
              <a:srgbClr val="37506A"/>
            </a:solidFill>
            <a:prstDash val="solid"/>
          </a:ln>
        </p:spPr>
      </p:sp>
      <p:sp>
        <p:nvSpPr>
          <p:cNvPr id="13" name="Shape 9"/>
          <p:cNvSpPr/>
          <p:nvPr/>
        </p:nvSpPr>
        <p:spPr>
          <a:xfrm>
            <a:off x="6355080" y="3282696"/>
            <a:ext cx="365760" cy="365760"/>
          </a:xfrm>
          <a:prstGeom prst="ellipse">
            <a:avLst/>
          </a:prstGeom>
          <a:solidFill>
            <a:srgbClr val="E0A21B"/>
          </a:solidFill>
          <a:ln/>
        </p:spPr>
      </p:sp>
      <p:pic>
        <p:nvPicPr>
          <p:cNvPr id="14" name="Image 2" descr="preencoded.png"/>
          <p:cNvPicPr>
            <a:picLocks noChangeAspect="1"/>
          </p:cNvPicPr>
          <p:nvPr/>
        </p:nvPicPr>
        <p:blipFill>
          <a:blip r:embed="rId4"/>
          <a:stretch>
            <a:fillRect/>
          </a:stretch>
        </p:blipFill>
        <p:spPr>
          <a:xfrm>
            <a:off x="6437376" y="3364992"/>
            <a:ext cx="201168" cy="201168"/>
          </a:xfrm>
          <a:prstGeom prst="rect">
            <a:avLst/>
          </a:prstGeom>
        </p:spPr>
      </p:pic>
      <p:sp>
        <p:nvSpPr>
          <p:cNvPr id="15" name="Text 10"/>
          <p:cNvSpPr/>
          <p:nvPr/>
        </p:nvSpPr>
        <p:spPr>
          <a:xfrm>
            <a:off x="6885432" y="3200400"/>
            <a:ext cx="4599432"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Core Concepts — Defining a Store</a:t>
            </a:r>
            <a:endParaRPr lang="en-US" sz="1300" dirty="0"/>
          </a:p>
        </p:txBody>
      </p:sp>
      <p:sp>
        <p:nvSpPr>
          <p:cNvPr id="16" name="Text 11"/>
          <p:cNvSpPr/>
          <p:nvPr/>
        </p:nvSpPr>
        <p:spPr>
          <a:xfrm>
            <a:off x="6885432" y="3493008"/>
            <a:ext cx="4599432" cy="274320"/>
          </a:xfrm>
          <a:prstGeom prst="rect">
            <a:avLst/>
          </a:prstGeom>
          <a:noFill/>
          <a:ln/>
        </p:spPr>
        <p:txBody>
          <a:bodyPr wrap="square" lIns="0" tIns="0" rIns="0" bIns="0" rtlCol="0" anchor="ctr"/>
          <a:lstStyle/>
          <a:p>
            <a:pPr marL="0" indent="0">
              <a:buNone/>
            </a:pPr>
            <a:r>
              <a:rPr lang="en-US" sz="1050" dirty="0">
                <a:solidFill>
                  <a:srgbClr val="F2C94C"/>
                </a:solidFill>
                <a:latin typeface="Courier New" pitchFamily="34" charset="0"/>
                <a:ea typeface="Courier New" pitchFamily="34" charset="-122"/>
                <a:cs typeface="Courier New" pitchFamily="34" charset="-120"/>
              </a:rPr>
              <a:t>pinia.vuejs.org/core-concepts</a:t>
            </a:r>
            <a:endParaRPr lang="en-US" sz="1050" dirty="0"/>
          </a:p>
        </p:txBody>
      </p:sp>
      <p:sp>
        <p:nvSpPr>
          <p:cNvPr id="17" name="Shape 12"/>
          <p:cNvSpPr/>
          <p:nvPr/>
        </p:nvSpPr>
        <p:spPr>
          <a:xfrm>
            <a:off x="548640" y="3931920"/>
            <a:ext cx="5468112" cy="713232"/>
          </a:xfrm>
          <a:prstGeom prst="roundRect">
            <a:avLst>
              <a:gd name="adj" fmla="val 10256"/>
            </a:avLst>
          </a:prstGeom>
          <a:solidFill>
            <a:srgbClr val="243748"/>
          </a:solidFill>
          <a:ln w="12700">
            <a:solidFill>
              <a:srgbClr val="37506A"/>
            </a:solidFill>
            <a:prstDash val="solid"/>
          </a:ln>
        </p:spPr>
      </p:sp>
      <p:sp>
        <p:nvSpPr>
          <p:cNvPr id="18" name="Shape 13"/>
          <p:cNvSpPr/>
          <p:nvPr/>
        </p:nvSpPr>
        <p:spPr>
          <a:xfrm>
            <a:off x="731520" y="4105656"/>
            <a:ext cx="365760" cy="365760"/>
          </a:xfrm>
          <a:prstGeom prst="ellipse">
            <a:avLst/>
          </a:prstGeom>
          <a:solidFill>
            <a:srgbClr val="E0A21B"/>
          </a:solidFill>
          <a:ln/>
        </p:spPr>
      </p:sp>
      <p:pic>
        <p:nvPicPr>
          <p:cNvPr id="19" name="Image 3" descr="preencoded.png"/>
          <p:cNvPicPr>
            <a:picLocks noChangeAspect="1"/>
          </p:cNvPicPr>
          <p:nvPr/>
        </p:nvPicPr>
        <p:blipFill>
          <a:blip r:embed="rId4"/>
          <a:stretch>
            <a:fillRect/>
          </a:stretch>
        </p:blipFill>
        <p:spPr>
          <a:xfrm>
            <a:off x="813816" y="4187952"/>
            <a:ext cx="201168" cy="201168"/>
          </a:xfrm>
          <a:prstGeom prst="rect">
            <a:avLst/>
          </a:prstGeom>
        </p:spPr>
      </p:pic>
      <p:sp>
        <p:nvSpPr>
          <p:cNvPr id="20" name="Text 14"/>
          <p:cNvSpPr/>
          <p:nvPr/>
        </p:nvSpPr>
        <p:spPr>
          <a:xfrm>
            <a:off x="1261872" y="4023360"/>
            <a:ext cx="4599432"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Plugins</a:t>
            </a:r>
            <a:endParaRPr lang="en-US" sz="1300" dirty="0"/>
          </a:p>
        </p:txBody>
      </p:sp>
      <p:sp>
        <p:nvSpPr>
          <p:cNvPr id="21" name="Text 15"/>
          <p:cNvSpPr/>
          <p:nvPr/>
        </p:nvSpPr>
        <p:spPr>
          <a:xfrm>
            <a:off x="1261872" y="4315968"/>
            <a:ext cx="4599432" cy="274320"/>
          </a:xfrm>
          <a:prstGeom prst="rect">
            <a:avLst/>
          </a:prstGeom>
          <a:noFill/>
          <a:ln/>
        </p:spPr>
        <p:txBody>
          <a:bodyPr wrap="square" lIns="0" tIns="0" rIns="0" bIns="0" rtlCol="0" anchor="ctr"/>
          <a:lstStyle/>
          <a:p>
            <a:pPr marL="0" indent="0">
              <a:buNone/>
            </a:pPr>
            <a:r>
              <a:rPr lang="en-US" sz="1050" dirty="0">
                <a:solidFill>
                  <a:srgbClr val="F2C94C"/>
                </a:solidFill>
                <a:latin typeface="Courier New" pitchFamily="34" charset="0"/>
                <a:ea typeface="Courier New" pitchFamily="34" charset="-122"/>
                <a:cs typeface="Courier New" pitchFamily="34" charset="-120"/>
              </a:rPr>
              <a:t>pinia.vuejs.org/core-concepts/plugins.html</a:t>
            </a:r>
            <a:endParaRPr lang="en-US" sz="1050" dirty="0"/>
          </a:p>
        </p:txBody>
      </p:sp>
      <p:sp>
        <p:nvSpPr>
          <p:cNvPr id="22" name="Shape 16"/>
          <p:cNvSpPr/>
          <p:nvPr/>
        </p:nvSpPr>
        <p:spPr>
          <a:xfrm>
            <a:off x="6172200" y="3931920"/>
            <a:ext cx="5468112" cy="713232"/>
          </a:xfrm>
          <a:prstGeom prst="roundRect">
            <a:avLst>
              <a:gd name="adj" fmla="val 10256"/>
            </a:avLst>
          </a:prstGeom>
          <a:solidFill>
            <a:srgbClr val="243748"/>
          </a:solidFill>
          <a:ln w="12700">
            <a:solidFill>
              <a:srgbClr val="37506A"/>
            </a:solidFill>
            <a:prstDash val="solid"/>
          </a:ln>
        </p:spPr>
      </p:sp>
      <p:sp>
        <p:nvSpPr>
          <p:cNvPr id="23" name="Shape 17"/>
          <p:cNvSpPr/>
          <p:nvPr/>
        </p:nvSpPr>
        <p:spPr>
          <a:xfrm>
            <a:off x="6355080" y="4105656"/>
            <a:ext cx="365760" cy="365760"/>
          </a:xfrm>
          <a:prstGeom prst="ellipse">
            <a:avLst/>
          </a:prstGeom>
          <a:solidFill>
            <a:srgbClr val="E0A21B"/>
          </a:solidFill>
          <a:ln/>
        </p:spPr>
      </p:sp>
      <p:pic>
        <p:nvPicPr>
          <p:cNvPr id="24" name="Image 4" descr="preencoded.png"/>
          <p:cNvPicPr>
            <a:picLocks noChangeAspect="1"/>
          </p:cNvPicPr>
          <p:nvPr/>
        </p:nvPicPr>
        <p:blipFill>
          <a:blip r:embed="rId4"/>
          <a:stretch>
            <a:fillRect/>
          </a:stretch>
        </p:blipFill>
        <p:spPr>
          <a:xfrm>
            <a:off x="6437376" y="4187952"/>
            <a:ext cx="201168" cy="201168"/>
          </a:xfrm>
          <a:prstGeom prst="rect">
            <a:avLst/>
          </a:prstGeom>
        </p:spPr>
      </p:pic>
      <p:sp>
        <p:nvSpPr>
          <p:cNvPr id="25" name="Text 18"/>
          <p:cNvSpPr/>
          <p:nvPr/>
        </p:nvSpPr>
        <p:spPr>
          <a:xfrm>
            <a:off x="6885432" y="4023360"/>
            <a:ext cx="4599432"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pinia-plugin-persistedstate</a:t>
            </a:r>
            <a:endParaRPr lang="en-US" sz="1300" dirty="0"/>
          </a:p>
        </p:txBody>
      </p:sp>
      <p:sp>
        <p:nvSpPr>
          <p:cNvPr id="26" name="Text 19"/>
          <p:cNvSpPr/>
          <p:nvPr/>
        </p:nvSpPr>
        <p:spPr>
          <a:xfrm>
            <a:off x="6885432" y="4315968"/>
            <a:ext cx="4599432" cy="274320"/>
          </a:xfrm>
          <a:prstGeom prst="rect">
            <a:avLst/>
          </a:prstGeom>
          <a:noFill/>
          <a:ln/>
        </p:spPr>
        <p:txBody>
          <a:bodyPr wrap="square" lIns="0" tIns="0" rIns="0" bIns="0" rtlCol="0" anchor="ctr"/>
          <a:lstStyle/>
          <a:p>
            <a:pPr marL="0" indent="0">
              <a:buNone/>
            </a:pPr>
            <a:r>
              <a:rPr lang="en-US" sz="1050" dirty="0">
                <a:solidFill>
                  <a:srgbClr val="F2C94C"/>
                </a:solidFill>
                <a:latin typeface="Courier New" pitchFamily="34" charset="0"/>
                <a:ea typeface="Courier New" pitchFamily="34" charset="-122"/>
                <a:cs typeface="Courier New" pitchFamily="34" charset="-120"/>
              </a:rPr>
              <a:t>prazdevs.github.io/pinia-plugin-persistedstate</a:t>
            </a:r>
            <a:endParaRPr lang="en-US" sz="1050" dirty="0"/>
          </a:p>
        </p:txBody>
      </p:sp>
      <p:sp>
        <p:nvSpPr>
          <p:cNvPr id="27" name="Shape 20"/>
          <p:cNvSpPr/>
          <p:nvPr/>
        </p:nvSpPr>
        <p:spPr>
          <a:xfrm>
            <a:off x="548640" y="4754880"/>
            <a:ext cx="5468112" cy="713232"/>
          </a:xfrm>
          <a:prstGeom prst="roundRect">
            <a:avLst>
              <a:gd name="adj" fmla="val 10256"/>
            </a:avLst>
          </a:prstGeom>
          <a:solidFill>
            <a:srgbClr val="243748"/>
          </a:solidFill>
          <a:ln w="12700">
            <a:solidFill>
              <a:srgbClr val="37506A"/>
            </a:solidFill>
            <a:prstDash val="solid"/>
          </a:ln>
        </p:spPr>
      </p:sp>
      <p:sp>
        <p:nvSpPr>
          <p:cNvPr id="28" name="Shape 21"/>
          <p:cNvSpPr/>
          <p:nvPr/>
        </p:nvSpPr>
        <p:spPr>
          <a:xfrm>
            <a:off x="731520" y="4928616"/>
            <a:ext cx="365760" cy="365760"/>
          </a:xfrm>
          <a:prstGeom prst="ellipse">
            <a:avLst/>
          </a:prstGeom>
          <a:solidFill>
            <a:srgbClr val="E0A21B"/>
          </a:solidFill>
          <a:ln/>
        </p:spPr>
      </p:sp>
      <p:pic>
        <p:nvPicPr>
          <p:cNvPr id="29" name="Image 5" descr="preencoded.png"/>
          <p:cNvPicPr>
            <a:picLocks noChangeAspect="1"/>
          </p:cNvPicPr>
          <p:nvPr/>
        </p:nvPicPr>
        <p:blipFill>
          <a:blip r:embed="rId4"/>
          <a:stretch>
            <a:fillRect/>
          </a:stretch>
        </p:blipFill>
        <p:spPr>
          <a:xfrm>
            <a:off x="813816" y="5010912"/>
            <a:ext cx="201168" cy="201168"/>
          </a:xfrm>
          <a:prstGeom prst="rect">
            <a:avLst/>
          </a:prstGeom>
        </p:spPr>
      </p:pic>
      <p:sp>
        <p:nvSpPr>
          <p:cNvPr id="30" name="Text 22"/>
          <p:cNvSpPr/>
          <p:nvPr/>
        </p:nvSpPr>
        <p:spPr>
          <a:xfrm>
            <a:off x="1261872" y="4846320"/>
            <a:ext cx="4599432"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Testing Stores</a:t>
            </a:r>
            <a:endParaRPr lang="en-US" sz="1300" dirty="0"/>
          </a:p>
        </p:txBody>
      </p:sp>
      <p:sp>
        <p:nvSpPr>
          <p:cNvPr id="31" name="Text 23"/>
          <p:cNvSpPr/>
          <p:nvPr/>
        </p:nvSpPr>
        <p:spPr>
          <a:xfrm>
            <a:off x="1261872" y="5138928"/>
            <a:ext cx="4599432" cy="274320"/>
          </a:xfrm>
          <a:prstGeom prst="rect">
            <a:avLst/>
          </a:prstGeom>
          <a:noFill/>
          <a:ln/>
        </p:spPr>
        <p:txBody>
          <a:bodyPr wrap="square" lIns="0" tIns="0" rIns="0" bIns="0" rtlCol="0" anchor="ctr"/>
          <a:lstStyle/>
          <a:p>
            <a:pPr marL="0" indent="0">
              <a:buNone/>
            </a:pPr>
            <a:r>
              <a:rPr lang="en-US" sz="1050" dirty="0">
                <a:solidFill>
                  <a:srgbClr val="F2C94C"/>
                </a:solidFill>
                <a:latin typeface="Courier New" pitchFamily="34" charset="0"/>
                <a:ea typeface="Courier New" pitchFamily="34" charset="-122"/>
                <a:cs typeface="Courier New" pitchFamily="34" charset="-120"/>
              </a:rPr>
              <a:t>pinia.vuejs.org/cookbook/testing.html</a:t>
            </a:r>
            <a:endParaRPr lang="en-US" sz="1050" dirty="0"/>
          </a:p>
        </p:txBody>
      </p:sp>
      <p:sp>
        <p:nvSpPr>
          <p:cNvPr id="32" name="Shape 24"/>
          <p:cNvSpPr/>
          <p:nvPr/>
        </p:nvSpPr>
        <p:spPr>
          <a:xfrm>
            <a:off x="6172200" y="4754880"/>
            <a:ext cx="5468112" cy="713232"/>
          </a:xfrm>
          <a:prstGeom prst="roundRect">
            <a:avLst>
              <a:gd name="adj" fmla="val 10256"/>
            </a:avLst>
          </a:prstGeom>
          <a:solidFill>
            <a:srgbClr val="243748"/>
          </a:solidFill>
          <a:ln w="12700">
            <a:solidFill>
              <a:srgbClr val="37506A"/>
            </a:solidFill>
            <a:prstDash val="solid"/>
          </a:ln>
        </p:spPr>
      </p:sp>
      <p:sp>
        <p:nvSpPr>
          <p:cNvPr id="33" name="Shape 25"/>
          <p:cNvSpPr/>
          <p:nvPr/>
        </p:nvSpPr>
        <p:spPr>
          <a:xfrm>
            <a:off x="6355080" y="4928616"/>
            <a:ext cx="365760" cy="365760"/>
          </a:xfrm>
          <a:prstGeom prst="ellipse">
            <a:avLst/>
          </a:prstGeom>
          <a:solidFill>
            <a:srgbClr val="E0A21B"/>
          </a:solidFill>
          <a:ln/>
        </p:spPr>
      </p:sp>
      <p:pic>
        <p:nvPicPr>
          <p:cNvPr id="34" name="Image 6" descr="preencoded.png"/>
          <p:cNvPicPr>
            <a:picLocks noChangeAspect="1"/>
          </p:cNvPicPr>
          <p:nvPr/>
        </p:nvPicPr>
        <p:blipFill>
          <a:blip r:embed="rId4"/>
          <a:stretch>
            <a:fillRect/>
          </a:stretch>
        </p:blipFill>
        <p:spPr>
          <a:xfrm>
            <a:off x="6437376" y="5010912"/>
            <a:ext cx="201168" cy="201168"/>
          </a:xfrm>
          <a:prstGeom prst="rect">
            <a:avLst/>
          </a:prstGeom>
        </p:spPr>
      </p:pic>
      <p:sp>
        <p:nvSpPr>
          <p:cNvPr id="35" name="Text 26"/>
          <p:cNvSpPr/>
          <p:nvPr/>
        </p:nvSpPr>
        <p:spPr>
          <a:xfrm>
            <a:off x="6885432" y="4846320"/>
            <a:ext cx="4599432"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Pinia on GitHub</a:t>
            </a:r>
            <a:endParaRPr lang="en-US" sz="1300" dirty="0"/>
          </a:p>
        </p:txBody>
      </p:sp>
      <p:sp>
        <p:nvSpPr>
          <p:cNvPr id="36" name="Text 27"/>
          <p:cNvSpPr/>
          <p:nvPr/>
        </p:nvSpPr>
        <p:spPr>
          <a:xfrm>
            <a:off x="6885432" y="5138928"/>
            <a:ext cx="4599432" cy="274320"/>
          </a:xfrm>
          <a:prstGeom prst="rect">
            <a:avLst/>
          </a:prstGeom>
          <a:noFill/>
          <a:ln/>
        </p:spPr>
        <p:txBody>
          <a:bodyPr wrap="square" lIns="0" tIns="0" rIns="0" bIns="0" rtlCol="0" anchor="ctr"/>
          <a:lstStyle/>
          <a:p>
            <a:pPr marL="0" indent="0">
              <a:buNone/>
            </a:pPr>
            <a:r>
              <a:rPr lang="en-US" sz="1050" dirty="0">
                <a:solidFill>
                  <a:srgbClr val="F2C94C"/>
                </a:solidFill>
                <a:latin typeface="Courier New" pitchFamily="34" charset="0"/>
                <a:ea typeface="Courier New" pitchFamily="34" charset="-122"/>
                <a:cs typeface="Courier New" pitchFamily="34" charset="-120"/>
              </a:rPr>
              <a:t>github.com/vuejs/pinia</a:t>
            </a:r>
            <a:endParaRPr lang="en-US" sz="1050" dirty="0"/>
          </a:p>
        </p:txBody>
      </p:sp>
      <p:sp>
        <p:nvSpPr>
          <p:cNvPr id="37" name="Text 28"/>
          <p:cNvSpPr/>
          <p:nvPr/>
        </p:nvSpPr>
        <p:spPr>
          <a:xfrm>
            <a:off x="548640" y="5806440"/>
            <a:ext cx="10972800" cy="457200"/>
          </a:xfrm>
          <a:prstGeom prst="rect">
            <a:avLst/>
          </a:prstGeom>
          <a:noFill/>
          <a:ln/>
        </p:spPr>
        <p:txBody>
          <a:bodyPr wrap="square" lIns="0" tIns="0" rIns="0" bIns="0" rtlCol="0" anchor="ctr"/>
          <a:lstStyle/>
          <a:p>
            <a:pPr marL="0" indent="0">
              <a:buNone/>
            </a:pPr>
            <a:r>
              <a:rPr lang="en-US" sz="1700" i="1" dirty="0">
                <a:solidFill>
                  <a:srgbClr val="C7D4DE"/>
                </a:solidFill>
                <a:latin typeface="Cambria" pitchFamily="34" charset="0"/>
                <a:ea typeface="Cambria" pitchFamily="34" charset="-122"/>
                <a:cs typeface="Cambria" pitchFamily="34" charset="-120"/>
              </a:rPr>
              <a:t>Thank you — now go build apps where any component just asks the store.</a:t>
            </a:r>
            <a:endParaRPr lang="en-US" sz="1700" dirty="0"/>
          </a:p>
        </p:txBody>
      </p:sp>
      <p:sp>
        <p:nvSpPr>
          <p:cNvPr id="38" name="Text 29"/>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9AAAB6"/>
                </a:solidFill>
                <a:latin typeface="Calibri" pitchFamily="34" charset="0"/>
                <a:ea typeface="Calibri" pitchFamily="34" charset="-122"/>
                <a:cs typeface="Calibri" pitchFamily="34" charset="-120"/>
              </a:rPr>
              <a:t>Pinia State Management  ·  Sessions 10 &amp; 11</a:t>
            </a:r>
            <a:endParaRPr lang="en-US" sz="900" dirty="0"/>
          </a:p>
        </p:txBody>
      </p:sp>
      <p:sp>
        <p:nvSpPr>
          <p:cNvPr id="39" name="Text 30"/>
          <p:cNvSpPr/>
          <p:nvPr/>
        </p:nvSpPr>
        <p:spPr>
          <a:xfrm>
            <a:off x="7985455" y="6473952"/>
            <a:ext cx="2743200" cy="274320"/>
          </a:xfrm>
          <a:prstGeom prst="rect">
            <a:avLst/>
          </a:prstGeom>
          <a:noFill/>
          <a:ln/>
        </p:spPr>
        <p:txBody>
          <a:bodyPr wrap="square" lIns="0" tIns="0" rIns="0" bIns="0" rtlCol="0" anchor="ctr"/>
          <a:lstStyle/>
          <a:p>
            <a:pPr marL="0" indent="0" algn="r">
              <a:buNone/>
            </a:pPr>
            <a:r>
              <a:rPr lang="en-US" sz="900" dirty="0">
                <a:solidFill>
                  <a:srgbClr val="9AAAB6"/>
                </a:solidFill>
                <a:latin typeface="Calibri" pitchFamily="34" charset="0"/>
                <a:ea typeface="Calibri" pitchFamily="34" charset="-122"/>
                <a:cs typeface="Calibri" pitchFamily="34" charset="-120"/>
              </a:rPr>
              <a:t>Resources</a:t>
            </a:r>
            <a:endParaRPr lang="en-US" sz="900" dirty="0"/>
          </a:p>
        </p:txBody>
      </p:sp>
      <p:sp>
        <p:nvSpPr>
          <p:cNvPr id="40" name="Text 31"/>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b="1" dirty="0">
                <a:solidFill>
                  <a:srgbClr val="A6760C"/>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7992</Words>
  <Application>Microsoft Office PowerPoint</Application>
  <PresentationFormat>Widescreen</PresentationFormat>
  <Paragraphs>877</Paragraphs>
  <Slides>37</Slides>
  <Notes>37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Pinia State Management</dc:title>
  <dc:subject>PptxGenJS Presentation</dc:subject>
  <dc:creator>Vue.js Bootcamp</dc:creator>
  <cp:lastModifiedBy>Him.HEY</cp:lastModifiedBy>
  <cp:revision>2</cp:revision>
  <dcterms:created xsi:type="dcterms:W3CDTF">2026-06-22T01:11:15Z</dcterms:created>
  <dcterms:modified xsi:type="dcterms:W3CDTF">2026-06-22T01:16:11Z</dcterms:modified>
</cp:coreProperties>
</file>